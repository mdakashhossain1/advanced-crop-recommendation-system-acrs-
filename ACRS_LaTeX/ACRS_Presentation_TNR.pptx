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2CE8FC-4C65-4CF0-8C00-3506023D8D57}"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0F8AD8-6F7C-46E8-ABA3-C5E415C8FF3B}" type="slidenum">
              <a:rPr lang="en-US" smtClean="0"/>
              <a:t>‹#›</a:t>
            </a:fld>
            <a:endParaRPr lang="en-US"/>
          </a:p>
        </p:txBody>
      </p:sp>
    </p:spTree>
    <p:extLst>
      <p:ext uri="{BB962C8B-B14F-4D97-AF65-F5344CB8AC3E}">
        <p14:creationId xmlns:p14="http://schemas.microsoft.com/office/powerpoint/2010/main" val="4275377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0F8AD8-6F7C-46E8-ABA3-C5E415C8FF3B}" type="slidenum">
              <a:rPr lang="en-US" smtClean="0"/>
              <a:t>1</a:t>
            </a:fld>
            <a:endParaRPr lang="en-US"/>
          </a:p>
        </p:txBody>
      </p:sp>
    </p:spTree>
    <p:extLst>
      <p:ext uri="{BB962C8B-B14F-4D97-AF65-F5344CB8AC3E}">
        <p14:creationId xmlns:p14="http://schemas.microsoft.com/office/powerpoint/2010/main" val="2390674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228600"/>
            <a:ext cx="11247120" cy="523220"/>
          </a:xfrm>
          <a:prstGeom prst="rect">
            <a:avLst/>
          </a:prstGeom>
          <a:noFill/>
        </p:spPr>
        <p:txBody>
          <a:bodyPr wrap="square">
            <a:spAutoFit/>
          </a:bodyPr>
          <a:lstStyle/>
          <a:p>
            <a:pPr algn="ctr"/>
            <a:r>
              <a:rPr sz="2800" b="1" i="0" dirty="0">
                <a:latin typeface="Times New Roman" panose="02020603050405020304" pitchFamily="18" charset="0"/>
                <a:cs typeface="Times New Roman" panose="02020603050405020304" pitchFamily="18" charset="0"/>
              </a:rPr>
              <a:t>TRIPURA INSTITUTE OF TECHNOLOGY, AGARTALA</a:t>
            </a:r>
          </a:p>
        </p:txBody>
      </p:sp>
      <p:sp>
        <p:nvSpPr>
          <p:cNvPr id="6" name="TextBox 5"/>
          <p:cNvSpPr txBox="1"/>
          <p:nvPr/>
        </p:nvSpPr>
        <p:spPr>
          <a:xfrm>
            <a:off x="457200" y="731520"/>
            <a:ext cx="11247120" cy="411480"/>
          </a:xfrm>
          <a:prstGeom prst="rect">
            <a:avLst/>
          </a:prstGeom>
          <a:noFill/>
        </p:spPr>
        <p:txBody>
          <a:bodyPr wrap="square">
            <a:spAutoFit/>
          </a:bodyPr>
          <a:lstStyle/>
          <a:p>
            <a:pPr algn="ctr"/>
            <a:r>
              <a:rPr sz="1300" b="0" i="0" dirty="0">
                <a:solidFill>
                  <a:srgbClr val="FFFFFF"/>
                </a:solidFill>
                <a:latin typeface="Times New Roman"/>
              </a:rPr>
              <a:t>Department of Computer Science &amp; Engineering</a:t>
            </a:r>
          </a:p>
        </p:txBody>
      </p:sp>
      <p:sp>
        <p:nvSpPr>
          <p:cNvPr id="9" name="TextBox 8"/>
          <p:cNvSpPr txBox="1"/>
          <p:nvPr/>
        </p:nvSpPr>
        <p:spPr>
          <a:xfrm>
            <a:off x="543280" y="2250399"/>
            <a:ext cx="11247120" cy="646331"/>
          </a:xfrm>
          <a:prstGeom prst="rect">
            <a:avLst/>
          </a:prstGeom>
          <a:noFill/>
        </p:spPr>
        <p:txBody>
          <a:bodyPr wrap="square">
            <a:spAutoFit/>
          </a:bodyPr>
          <a:lstStyle/>
          <a:p>
            <a:pPr algn="ctr"/>
            <a:r>
              <a:rPr sz="3600" b="1" i="0" dirty="0">
                <a:latin typeface="Times New Roman" panose="02020603050405020304" pitchFamily="18" charset="0"/>
                <a:cs typeface="Times New Roman" panose="02020603050405020304" pitchFamily="18" charset="0"/>
              </a:rPr>
              <a:t>ADVANCED CROP RECOMMENDATION SYSTEM</a:t>
            </a:r>
          </a:p>
        </p:txBody>
      </p:sp>
      <p:sp>
        <p:nvSpPr>
          <p:cNvPr id="11" name="TextBox 10"/>
          <p:cNvSpPr txBox="1"/>
          <p:nvPr/>
        </p:nvSpPr>
        <p:spPr>
          <a:xfrm>
            <a:off x="470852" y="2859550"/>
            <a:ext cx="11247120" cy="276999"/>
          </a:xfrm>
          <a:prstGeom prst="rect">
            <a:avLst/>
          </a:prstGeom>
          <a:noFill/>
        </p:spPr>
        <p:txBody>
          <a:bodyPr wrap="square">
            <a:spAutoFit/>
          </a:bodyPr>
          <a:lstStyle/>
          <a:p>
            <a:pPr algn="ctr"/>
            <a:r>
              <a:rPr sz="1200" b="0" i="1" u="sng" dirty="0">
                <a:latin typeface="Times New Roman" panose="02020603050405020304" pitchFamily="18" charset="0"/>
                <a:cs typeface="Times New Roman" panose="02020603050405020304" pitchFamily="18" charset="0"/>
              </a:rPr>
              <a:t>A Hybrid ML-DL Ensemble with Explainable AI for Intelligent Crop Selection</a:t>
            </a:r>
          </a:p>
        </p:txBody>
      </p:sp>
      <p:sp>
        <p:nvSpPr>
          <p:cNvPr id="17" name="TextBox 16"/>
          <p:cNvSpPr txBox="1"/>
          <p:nvPr/>
        </p:nvSpPr>
        <p:spPr>
          <a:xfrm>
            <a:off x="6583680" y="5173586"/>
            <a:ext cx="4389120" cy="384048"/>
          </a:xfrm>
          <a:prstGeom prst="rect">
            <a:avLst/>
          </a:prstGeom>
          <a:noFill/>
        </p:spPr>
        <p:txBody>
          <a:bodyPr wrap="square">
            <a:spAutoFit/>
          </a:bodyPr>
          <a:lstStyle/>
          <a:p>
            <a:pPr algn="ctr"/>
            <a:r>
              <a:rPr sz="1300" b="1" i="0">
                <a:solidFill>
                  <a:srgbClr val="FFFFFF"/>
                </a:solidFill>
                <a:latin typeface="Times New Roman"/>
              </a:rPr>
              <a:t>Dr. Ankur Biswas  |  HOD, CSE</a:t>
            </a:r>
          </a:p>
        </p:txBody>
      </p:sp>
      <p:pic>
        <p:nvPicPr>
          <p:cNvPr id="19" name="Picture 18">
            <a:extLst>
              <a:ext uri="{FF2B5EF4-FFF2-40B4-BE49-F238E27FC236}">
                <a16:creationId xmlns:a16="http://schemas.microsoft.com/office/drawing/2014/main" id="{D4FC734E-5366-5E7B-4125-B44BAD5CE4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91781" y="909150"/>
            <a:ext cx="1275715" cy="1266805"/>
          </a:xfrm>
          <a:prstGeom prst="rect">
            <a:avLst/>
          </a:prstGeom>
          <a:noFill/>
          <a:ln>
            <a:noFill/>
          </a:ln>
        </p:spPr>
      </p:pic>
      <p:sp>
        <p:nvSpPr>
          <p:cNvPr id="21" name="TextBox 20">
            <a:extLst>
              <a:ext uri="{FF2B5EF4-FFF2-40B4-BE49-F238E27FC236}">
                <a16:creationId xmlns:a16="http://schemas.microsoft.com/office/drawing/2014/main" id="{468563A1-383B-341B-DA7B-3920C7C228F2}"/>
              </a:ext>
            </a:extLst>
          </p:cNvPr>
          <p:cNvSpPr txBox="1"/>
          <p:nvPr/>
        </p:nvSpPr>
        <p:spPr>
          <a:xfrm>
            <a:off x="0" y="3397746"/>
            <a:ext cx="12321765" cy="2893100"/>
          </a:xfrm>
          <a:prstGeom prst="rect">
            <a:avLst/>
          </a:prstGeom>
          <a:noFill/>
        </p:spPr>
        <p:txBody>
          <a:bodyPr wrap="square">
            <a:spAutoFit/>
          </a:bodyPr>
          <a:lstStyle/>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Under the supervision of</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Dr. Ankur Biswas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Associate Professor, HOD of CSE Department, </a:t>
            </a:r>
          </a:p>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TIT Agartala, Tripura, India</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Submitted By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Prathista Biswas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sz="14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nd</a:t>
            </a:r>
            <a:r>
              <a:rPr lang="en-IN"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Semester</a:t>
            </a:r>
          </a:p>
          <a:p>
            <a:pPr algn="ctr"/>
            <a:r>
              <a:rPr lang="en-IN" sz="1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Subject: </a:t>
            </a:r>
            <a:r>
              <a:rPr lang="en-IN"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Project prestation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Registration No:</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256702004 of 2025 - 26</a:t>
            </a:r>
          </a:p>
          <a:p>
            <a:pPr marL="0" marR="0" algn="ctr">
              <a:buNone/>
            </a:pPr>
            <a:r>
              <a:rPr lang="en-IN"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Roll No:</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256702004</a:t>
            </a:r>
          </a:p>
          <a:p>
            <a:pPr algn="ct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Department: </a:t>
            </a:r>
            <a:r>
              <a:rPr lang="en-IN" sz="1400" i="1" dirty="0">
                <a:latin typeface="Times New Roman" panose="02020603050405020304" pitchFamily="18" charset="0"/>
                <a:cs typeface="Times New Roman" panose="02020603050405020304" pitchFamily="18" charset="0"/>
              </a:rPr>
              <a:t>Computer Science and Engineering </a:t>
            </a:r>
            <a:endParaRPr lang="en-US" sz="1400" dirty="0">
              <a:latin typeface="Times New Roman" panose="02020603050405020304" pitchFamily="18" charset="0"/>
              <a:cs typeface="Times New Roman" panose="02020603050405020304" pitchFamily="18" charset="0"/>
            </a:endParaRPr>
          </a:p>
          <a:p>
            <a:pPr algn="ctr"/>
            <a:r>
              <a:rPr lang="en-IN" sz="1400" i="1" dirty="0">
                <a:latin typeface="Times New Roman" panose="02020603050405020304" pitchFamily="18" charset="0"/>
                <a:cs typeface="Times New Roman" panose="02020603050405020304" pitchFamily="18" charset="0"/>
              </a:rPr>
              <a:t>Specialization in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dirty="0">
                <a:solidFill>
                  <a:srgbClr val="FFFFFF"/>
                </a:solidFill>
                <a:latin typeface="Times New Roman"/>
              </a:rPr>
              <a:t>Table of Contents</a:t>
            </a:r>
          </a:p>
        </p:txBody>
      </p:sp>
      <p:sp>
        <p:nvSpPr>
          <p:cNvPr id="5" name="Rectangle 4"/>
          <p:cNvSpPr/>
          <p:nvPr/>
        </p:nvSpPr>
        <p:spPr>
          <a:xfrm>
            <a:off x="320040" y="1143000"/>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161288"/>
            <a:ext cx="457200" cy="411480"/>
          </a:xfrm>
          <a:prstGeom prst="rect">
            <a:avLst/>
          </a:prstGeom>
          <a:noFill/>
        </p:spPr>
        <p:txBody>
          <a:bodyPr wrap="square">
            <a:spAutoFit/>
          </a:bodyPr>
          <a:lstStyle/>
          <a:p>
            <a:pPr algn="ctr"/>
            <a:r>
              <a:rPr sz="1300" b="1" i="0">
                <a:solidFill>
                  <a:srgbClr val="FFFFFF"/>
                </a:solidFill>
                <a:latin typeface="Times New Roman"/>
              </a:rPr>
              <a:t>1</a:t>
            </a:r>
          </a:p>
        </p:txBody>
      </p:sp>
      <p:sp>
        <p:nvSpPr>
          <p:cNvPr id="7" name="TextBox 6"/>
          <p:cNvSpPr txBox="1"/>
          <p:nvPr/>
        </p:nvSpPr>
        <p:spPr>
          <a:xfrm>
            <a:off x="868680" y="1161288"/>
            <a:ext cx="5120640" cy="292388"/>
          </a:xfrm>
          <a:prstGeom prst="rect">
            <a:avLst/>
          </a:prstGeom>
          <a:noFill/>
        </p:spPr>
        <p:txBody>
          <a:bodyPr wrap="square">
            <a:spAutoFit/>
          </a:bodyPr>
          <a:lstStyle/>
          <a:p>
            <a:pPr algn="l"/>
            <a:r>
              <a:rPr sz="1300" b="0" i="0" dirty="0">
                <a:solidFill>
                  <a:srgbClr val="1A1A2E"/>
                </a:solidFill>
                <a:latin typeface="Times New Roman" panose="02020603050405020304" pitchFamily="18" charset="0"/>
                <a:cs typeface="Times New Roman" panose="02020603050405020304" pitchFamily="18" charset="0"/>
              </a:rPr>
              <a:t>Introduction &amp; Problem Statement</a:t>
            </a:r>
          </a:p>
        </p:txBody>
      </p:sp>
      <p:sp>
        <p:nvSpPr>
          <p:cNvPr id="8" name="Rectangle 7"/>
          <p:cNvSpPr/>
          <p:nvPr/>
        </p:nvSpPr>
        <p:spPr>
          <a:xfrm>
            <a:off x="320040" y="1655064"/>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673352"/>
            <a:ext cx="457200" cy="411480"/>
          </a:xfrm>
          <a:prstGeom prst="rect">
            <a:avLst/>
          </a:prstGeom>
          <a:noFill/>
        </p:spPr>
        <p:txBody>
          <a:bodyPr wrap="square">
            <a:spAutoFit/>
          </a:bodyPr>
          <a:lstStyle/>
          <a:p>
            <a:pPr algn="ctr"/>
            <a:r>
              <a:rPr sz="1300" b="1" i="0">
                <a:solidFill>
                  <a:srgbClr val="FFFFFF"/>
                </a:solidFill>
                <a:latin typeface="Times New Roman"/>
              </a:rPr>
              <a:t>2</a:t>
            </a:r>
          </a:p>
        </p:txBody>
      </p:sp>
      <p:sp>
        <p:nvSpPr>
          <p:cNvPr id="10" name="TextBox 9"/>
          <p:cNvSpPr txBox="1"/>
          <p:nvPr/>
        </p:nvSpPr>
        <p:spPr>
          <a:xfrm>
            <a:off x="868680" y="1673352"/>
            <a:ext cx="5120640" cy="411480"/>
          </a:xfrm>
          <a:prstGeom prst="rect">
            <a:avLst/>
          </a:prstGeom>
          <a:noFill/>
        </p:spPr>
        <p:txBody>
          <a:bodyPr wrap="square">
            <a:spAutoFit/>
          </a:bodyPr>
          <a:lstStyle/>
          <a:p>
            <a:pPr algn="l"/>
            <a:r>
              <a:rPr sz="1300" b="0" i="0" dirty="0">
                <a:solidFill>
                  <a:srgbClr val="1A1A2E"/>
                </a:solidFill>
                <a:latin typeface="Times New Roman"/>
              </a:rPr>
              <a:t>Objectives &amp; Scope of the Work</a:t>
            </a:r>
          </a:p>
        </p:txBody>
      </p:sp>
      <p:sp>
        <p:nvSpPr>
          <p:cNvPr id="11" name="Rectangle 10"/>
          <p:cNvSpPr/>
          <p:nvPr/>
        </p:nvSpPr>
        <p:spPr>
          <a:xfrm>
            <a:off x="320040" y="2167128"/>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185416"/>
            <a:ext cx="457200" cy="411480"/>
          </a:xfrm>
          <a:prstGeom prst="rect">
            <a:avLst/>
          </a:prstGeom>
          <a:noFill/>
        </p:spPr>
        <p:txBody>
          <a:bodyPr wrap="square">
            <a:spAutoFit/>
          </a:bodyPr>
          <a:lstStyle/>
          <a:p>
            <a:pPr algn="ctr"/>
            <a:r>
              <a:rPr sz="1300" b="1" i="0">
                <a:solidFill>
                  <a:srgbClr val="FFFFFF"/>
                </a:solidFill>
                <a:latin typeface="Times New Roman"/>
              </a:rPr>
              <a:t>3</a:t>
            </a:r>
          </a:p>
        </p:txBody>
      </p:sp>
      <p:sp>
        <p:nvSpPr>
          <p:cNvPr id="13" name="TextBox 12"/>
          <p:cNvSpPr txBox="1"/>
          <p:nvPr/>
        </p:nvSpPr>
        <p:spPr>
          <a:xfrm>
            <a:off x="868680" y="2185416"/>
            <a:ext cx="5120640" cy="411480"/>
          </a:xfrm>
          <a:prstGeom prst="rect">
            <a:avLst/>
          </a:prstGeom>
          <a:noFill/>
        </p:spPr>
        <p:txBody>
          <a:bodyPr wrap="square">
            <a:spAutoFit/>
          </a:bodyPr>
          <a:lstStyle/>
          <a:p>
            <a:pPr algn="l"/>
            <a:r>
              <a:rPr sz="1300" b="0" i="0">
                <a:solidFill>
                  <a:srgbClr val="1A1A2E"/>
                </a:solidFill>
                <a:latin typeface="Times New Roman"/>
              </a:rPr>
              <a:t>Literature Review</a:t>
            </a:r>
          </a:p>
        </p:txBody>
      </p:sp>
      <p:sp>
        <p:nvSpPr>
          <p:cNvPr id="14" name="Rectangle 13"/>
          <p:cNvSpPr/>
          <p:nvPr/>
        </p:nvSpPr>
        <p:spPr>
          <a:xfrm>
            <a:off x="320040" y="2679192"/>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2697480"/>
            <a:ext cx="457200" cy="411480"/>
          </a:xfrm>
          <a:prstGeom prst="rect">
            <a:avLst/>
          </a:prstGeom>
          <a:noFill/>
        </p:spPr>
        <p:txBody>
          <a:bodyPr wrap="square">
            <a:spAutoFit/>
          </a:bodyPr>
          <a:lstStyle/>
          <a:p>
            <a:pPr algn="ctr"/>
            <a:r>
              <a:rPr sz="1300" b="1" i="0">
                <a:solidFill>
                  <a:srgbClr val="FFFFFF"/>
                </a:solidFill>
                <a:latin typeface="Times New Roman"/>
              </a:rPr>
              <a:t>4</a:t>
            </a:r>
          </a:p>
        </p:txBody>
      </p:sp>
      <p:sp>
        <p:nvSpPr>
          <p:cNvPr id="16" name="TextBox 15"/>
          <p:cNvSpPr txBox="1"/>
          <p:nvPr/>
        </p:nvSpPr>
        <p:spPr>
          <a:xfrm>
            <a:off x="868680" y="2697480"/>
            <a:ext cx="5120640" cy="411480"/>
          </a:xfrm>
          <a:prstGeom prst="rect">
            <a:avLst/>
          </a:prstGeom>
          <a:noFill/>
        </p:spPr>
        <p:txBody>
          <a:bodyPr wrap="square">
            <a:spAutoFit/>
          </a:bodyPr>
          <a:lstStyle/>
          <a:p>
            <a:pPr algn="l"/>
            <a:r>
              <a:rPr sz="1300" b="0" i="0">
                <a:solidFill>
                  <a:srgbClr val="1A1A2E"/>
                </a:solidFill>
                <a:latin typeface="Times New Roman"/>
              </a:rPr>
              <a:t>Tools &amp; Technologies Used</a:t>
            </a:r>
          </a:p>
        </p:txBody>
      </p:sp>
      <p:sp>
        <p:nvSpPr>
          <p:cNvPr id="17" name="Rectangle 16"/>
          <p:cNvSpPr/>
          <p:nvPr/>
        </p:nvSpPr>
        <p:spPr>
          <a:xfrm>
            <a:off x="320040" y="3191256"/>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209544"/>
            <a:ext cx="457200" cy="411480"/>
          </a:xfrm>
          <a:prstGeom prst="rect">
            <a:avLst/>
          </a:prstGeom>
          <a:noFill/>
        </p:spPr>
        <p:txBody>
          <a:bodyPr wrap="square">
            <a:spAutoFit/>
          </a:bodyPr>
          <a:lstStyle/>
          <a:p>
            <a:pPr algn="ctr"/>
            <a:r>
              <a:rPr sz="1300" b="1" i="0">
                <a:solidFill>
                  <a:srgbClr val="FFFFFF"/>
                </a:solidFill>
                <a:latin typeface="Times New Roman"/>
              </a:rPr>
              <a:t>5</a:t>
            </a:r>
          </a:p>
        </p:txBody>
      </p:sp>
      <p:sp>
        <p:nvSpPr>
          <p:cNvPr id="19" name="TextBox 18"/>
          <p:cNvSpPr txBox="1"/>
          <p:nvPr/>
        </p:nvSpPr>
        <p:spPr>
          <a:xfrm>
            <a:off x="868680" y="3209544"/>
            <a:ext cx="5120640" cy="411480"/>
          </a:xfrm>
          <a:prstGeom prst="rect">
            <a:avLst/>
          </a:prstGeom>
          <a:noFill/>
        </p:spPr>
        <p:txBody>
          <a:bodyPr wrap="square">
            <a:spAutoFit/>
          </a:bodyPr>
          <a:lstStyle/>
          <a:p>
            <a:pPr algn="l"/>
            <a:r>
              <a:rPr sz="1300" b="0" i="0">
                <a:solidFill>
                  <a:srgbClr val="1A1A2E"/>
                </a:solidFill>
                <a:latin typeface="Times New Roman"/>
              </a:rPr>
              <a:t>System Architecture Overview</a:t>
            </a:r>
          </a:p>
        </p:txBody>
      </p:sp>
      <p:sp>
        <p:nvSpPr>
          <p:cNvPr id="20" name="Rectangle 19"/>
          <p:cNvSpPr/>
          <p:nvPr/>
        </p:nvSpPr>
        <p:spPr>
          <a:xfrm>
            <a:off x="320040" y="3703320"/>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3721608"/>
            <a:ext cx="457200" cy="411480"/>
          </a:xfrm>
          <a:prstGeom prst="rect">
            <a:avLst/>
          </a:prstGeom>
          <a:noFill/>
        </p:spPr>
        <p:txBody>
          <a:bodyPr wrap="square">
            <a:spAutoFit/>
          </a:bodyPr>
          <a:lstStyle/>
          <a:p>
            <a:pPr algn="ctr"/>
            <a:r>
              <a:rPr sz="1300" b="1" i="0">
                <a:solidFill>
                  <a:srgbClr val="FFFFFF"/>
                </a:solidFill>
                <a:latin typeface="Times New Roman"/>
              </a:rPr>
              <a:t>6</a:t>
            </a:r>
          </a:p>
        </p:txBody>
      </p:sp>
      <p:sp>
        <p:nvSpPr>
          <p:cNvPr id="22" name="TextBox 21"/>
          <p:cNvSpPr txBox="1"/>
          <p:nvPr/>
        </p:nvSpPr>
        <p:spPr>
          <a:xfrm>
            <a:off x="868680" y="3721608"/>
            <a:ext cx="5120640" cy="411480"/>
          </a:xfrm>
          <a:prstGeom prst="rect">
            <a:avLst/>
          </a:prstGeom>
          <a:noFill/>
        </p:spPr>
        <p:txBody>
          <a:bodyPr wrap="square">
            <a:spAutoFit/>
          </a:bodyPr>
          <a:lstStyle/>
          <a:p>
            <a:pPr algn="l"/>
            <a:r>
              <a:rPr sz="1300" b="0" i="0">
                <a:solidFill>
                  <a:srgbClr val="1A1A2E"/>
                </a:solidFill>
                <a:latin typeface="Times New Roman"/>
              </a:rPr>
              <a:t>Tier 1 — Feature Engineering (12-Feature Schema)</a:t>
            </a:r>
          </a:p>
        </p:txBody>
      </p:sp>
      <p:sp>
        <p:nvSpPr>
          <p:cNvPr id="23" name="Rectangle 22"/>
          <p:cNvSpPr/>
          <p:nvPr/>
        </p:nvSpPr>
        <p:spPr>
          <a:xfrm>
            <a:off x="320040" y="4215384"/>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4233672"/>
            <a:ext cx="457200" cy="411480"/>
          </a:xfrm>
          <a:prstGeom prst="rect">
            <a:avLst/>
          </a:prstGeom>
          <a:noFill/>
        </p:spPr>
        <p:txBody>
          <a:bodyPr wrap="square">
            <a:spAutoFit/>
          </a:bodyPr>
          <a:lstStyle/>
          <a:p>
            <a:pPr algn="ctr"/>
            <a:r>
              <a:rPr sz="1300" b="1" i="0">
                <a:solidFill>
                  <a:srgbClr val="FFFFFF"/>
                </a:solidFill>
                <a:latin typeface="Times New Roman"/>
              </a:rPr>
              <a:t>7</a:t>
            </a:r>
          </a:p>
        </p:txBody>
      </p:sp>
      <p:sp>
        <p:nvSpPr>
          <p:cNvPr id="25" name="TextBox 24"/>
          <p:cNvSpPr txBox="1"/>
          <p:nvPr/>
        </p:nvSpPr>
        <p:spPr>
          <a:xfrm>
            <a:off x="868680" y="4233672"/>
            <a:ext cx="5120640" cy="411480"/>
          </a:xfrm>
          <a:prstGeom prst="rect">
            <a:avLst/>
          </a:prstGeom>
          <a:noFill/>
        </p:spPr>
        <p:txBody>
          <a:bodyPr wrap="square">
            <a:spAutoFit/>
          </a:bodyPr>
          <a:lstStyle/>
          <a:p>
            <a:pPr algn="l"/>
            <a:r>
              <a:rPr sz="1300" b="0" i="0">
                <a:solidFill>
                  <a:srgbClr val="1A1A2E"/>
                </a:solidFill>
                <a:latin typeface="Times New Roman"/>
              </a:rPr>
              <a:t>Tier 2 — Two-Tier Stacked Hybrid Ensemble</a:t>
            </a:r>
          </a:p>
        </p:txBody>
      </p:sp>
      <p:sp>
        <p:nvSpPr>
          <p:cNvPr id="26" name="Rectangle 25"/>
          <p:cNvSpPr/>
          <p:nvPr/>
        </p:nvSpPr>
        <p:spPr>
          <a:xfrm>
            <a:off x="320040" y="4727448"/>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4745736"/>
            <a:ext cx="457200" cy="411480"/>
          </a:xfrm>
          <a:prstGeom prst="rect">
            <a:avLst/>
          </a:prstGeom>
          <a:noFill/>
        </p:spPr>
        <p:txBody>
          <a:bodyPr wrap="square">
            <a:spAutoFit/>
          </a:bodyPr>
          <a:lstStyle/>
          <a:p>
            <a:pPr algn="ctr"/>
            <a:r>
              <a:rPr sz="1300" b="1" i="0">
                <a:solidFill>
                  <a:srgbClr val="FFFFFF"/>
                </a:solidFill>
                <a:latin typeface="Times New Roman"/>
              </a:rPr>
              <a:t>8</a:t>
            </a:r>
          </a:p>
        </p:txBody>
      </p:sp>
      <p:sp>
        <p:nvSpPr>
          <p:cNvPr id="28" name="TextBox 27"/>
          <p:cNvSpPr txBox="1"/>
          <p:nvPr/>
        </p:nvSpPr>
        <p:spPr>
          <a:xfrm>
            <a:off x="868680" y="4745736"/>
            <a:ext cx="5120640" cy="411480"/>
          </a:xfrm>
          <a:prstGeom prst="rect">
            <a:avLst/>
          </a:prstGeom>
          <a:noFill/>
        </p:spPr>
        <p:txBody>
          <a:bodyPr wrap="square">
            <a:spAutoFit/>
          </a:bodyPr>
          <a:lstStyle/>
          <a:p>
            <a:pPr algn="l"/>
            <a:r>
              <a:rPr sz="1300" b="0" i="0">
                <a:solidFill>
                  <a:srgbClr val="1A1A2E"/>
                </a:solidFill>
                <a:latin typeface="Times New Roman"/>
              </a:rPr>
              <a:t>Tier 3 — Triple-Layer Explainable AI (XAI)</a:t>
            </a:r>
          </a:p>
        </p:txBody>
      </p:sp>
      <p:sp>
        <p:nvSpPr>
          <p:cNvPr id="29" name="Rectangle 28"/>
          <p:cNvSpPr/>
          <p:nvPr/>
        </p:nvSpPr>
        <p:spPr>
          <a:xfrm>
            <a:off x="320040" y="5239512"/>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5257800"/>
            <a:ext cx="457200" cy="411480"/>
          </a:xfrm>
          <a:prstGeom prst="rect">
            <a:avLst/>
          </a:prstGeom>
          <a:noFill/>
        </p:spPr>
        <p:txBody>
          <a:bodyPr wrap="square">
            <a:spAutoFit/>
          </a:bodyPr>
          <a:lstStyle/>
          <a:p>
            <a:pPr algn="ctr"/>
            <a:r>
              <a:rPr sz="1300" b="1" i="0">
                <a:solidFill>
                  <a:srgbClr val="FFFFFF"/>
                </a:solidFill>
                <a:latin typeface="Times New Roman"/>
              </a:rPr>
              <a:t>9</a:t>
            </a:r>
          </a:p>
        </p:txBody>
      </p:sp>
      <p:sp>
        <p:nvSpPr>
          <p:cNvPr id="31" name="TextBox 30"/>
          <p:cNvSpPr txBox="1"/>
          <p:nvPr/>
        </p:nvSpPr>
        <p:spPr>
          <a:xfrm>
            <a:off x="868680" y="5257800"/>
            <a:ext cx="5120640" cy="411480"/>
          </a:xfrm>
          <a:prstGeom prst="rect">
            <a:avLst/>
          </a:prstGeom>
          <a:noFill/>
        </p:spPr>
        <p:txBody>
          <a:bodyPr wrap="square">
            <a:spAutoFit/>
          </a:bodyPr>
          <a:lstStyle/>
          <a:p>
            <a:pPr algn="l"/>
            <a:r>
              <a:rPr sz="1300" b="0" i="0">
                <a:solidFill>
                  <a:srgbClr val="1A1A2E"/>
                </a:solidFill>
                <a:latin typeface="Times New Roman"/>
              </a:rPr>
              <a:t>Dataset &amp; Preprocessing</a:t>
            </a:r>
          </a:p>
        </p:txBody>
      </p:sp>
      <p:sp>
        <p:nvSpPr>
          <p:cNvPr id="32" name="Rectangle 31"/>
          <p:cNvSpPr/>
          <p:nvPr/>
        </p:nvSpPr>
        <p:spPr>
          <a:xfrm>
            <a:off x="320040" y="5751576"/>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5769864"/>
            <a:ext cx="457200" cy="411480"/>
          </a:xfrm>
          <a:prstGeom prst="rect">
            <a:avLst/>
          </a:prstGeom>
          <a:noFill/>
        </p:spPr>
        <p:txBody>
          <a:bodyPr wrap="square">
            <a:spAutoFit/>
          </a:bodyPr>
          <a:lstStyle/>
          <a:p>
            <a:pPr algn="ctr"/>
            <a:r>
              <a:rPr sz="1300" b="1" i="0">
                <a:solidFill>
                  <a:srgbClr val="FFFFFF"/>
                </a:solidFill>
                <a:latin typeface="Times New Roman"/>
              </a:rPr>
              <a:t>10</a:t>
            </a:r>
          </a:p>
        </p:txBody>
      </p:sp>
      <p:sp>
        <p:nvSpPr>
          <p:cNvPr id="34" name="TextBox 33"/>
          <p:cNvSpPr txBox="1"/>
          <p:nvPr/>
        </p:nvSpPr>
        <p:spPr>
          <a:xfrm>
            <a:off x="868680" y="5769864"/>
            <a:ext cx="5120640" cy="411480"/>
          </a:xfrm>
          <a:prstGeom prst="rect">
            <a:avLst/>
          </a:prstGeom>
          <a:noFill/>
        </p:spPr>
        <p:txBody>
          <a:bodyPr wrap="square">
            <a:spAutoFit/>
          </a:bodyPr>
          <a:lstStyle/>
          <a:p>
            <a:pPr algn="l"/>
            <a:r>
              <a:rPr sz="1300" b="0" i="0">
                <a:solidFill>
                  <a:srgbClr val="1A1A2E"/>
                </a:solidFill>
                <a:latin typeface="Times New Roman"/>
              </a:rPr>
              <a:t>Model Performance Comparison</a:t>
            </a:r>
          </a:p>
        </p:txBody>
      </p:sp>
      <p:sp>
        <p:nvSpPr>
          <p:cNvPr id="35" name="Rectangle 34"/>
          <p:cNvSpPr/>
          <p:nvPr/>
        </p:nvSpPr>
        <p:spPr>
          <a:xfrm>
            <a:off x="6355080" y="1143000"/>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5080" y="1161288"/>
            <a:ext cx="457200" cy="411480"/>
          </a:xfrm>
          <a:prstGeom prst="rect">
            <a:avLst/>
          </a:prstGeom>
          <a:noFill/>
        </p:spPr>
        <p:txBody>
          <a:bodyPr wrap="square">
            <a:spAutoFit/>
          </a:bodyPr>
          <a:lstStyle/>
          <a:p>
            <a:pPr algn="ctr"/>
            <a:r>
              <a:rPr sz="1300" b="1" i="0">
                <a:solidFill>
                  <a:srgbClr val="FFFFFF"/>
                </a:solidFill>
                <a:latin typeface="Times New Roman"/>
              </a:rPr>
              <a:t>11</a:t>
            </a:r>
          </a:p>
        </p:txBody>
      </p:sp>
      <p:sp>
        <p:nvSpPr>
          <p:cNvPr id="37" name="TextBox 36"/>
          <p:cNvSpPr txBox="1"/>
          <p:nvPr/>
        </p:nvSpPr>
        <p:spPr>
          <a:xfrm>
            <a:off x="6903720" y="1161288"/>
            <a:ext cx="5029200" cy="411480"/>
          </a:xfrm>
          <a:prstGeom prst="rect">
            <a:avLst/>
          </a:prstGeom>
          <a:noFill/>
        </p:spPr>
        <p:txBody>
          <a:bodyPr wrap="square">
            <a:spAutoFit/>
          </a:bodyPr>
          <a:lstStyle/>
          <a:p>
            <a:pPr algn="l"/>
            <a:r>
              <a:rPr sz="1300" b="0" i="0">
                <a:solidFill>
                  <a:srgbClr val="1A1A2E"/>
                </a:solidFill>
                <a:latin typeface="Times New Roman"/>
              </a:rPr>
              <a:t>Stacked Ensemble Results</a:t>
            </a:r>
          </a:p>
        </p:txBody>
      </p:sp>
      <p:sp>
        <p:nvSpPr>
          <p:cNvPr id="38" name="Rectangle 37"/>
          <p:cNvSpPr/>
          <p:nvPr/>
        </p:nvSpPr>
        <p:spPr>
          <a:xfrm>
            <a:off x="6355080" y="1655064"/>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1673352"/>
            <a:ext cx="457200" cy="411480"/>
          </a:xfrm>
          <a:prstGeom prst="rect">
            <a:avLst/>
          </a:prstGeom>
          <a:noFill/>
        </p:spPr>
        <p:txBody>
          <a:bodyPr wrap="square">
            <a:spAutoFit/>
          </a:bodyPr>
          <a:lstStyle/>
          <a:p>
            <a:pPr algn="ctr"/>
            <a:r>
              <a:rPr sz="1300" b="1" i="0">
                <a:solidFill>
                  <a:srgbClr val="FFFFFF"/>
                </a:solidFill>
                <a:latin typeface="Times New Roman"/>
              </a:rPr>
              <a:t>12</a:t>
            </a:r>
          </a:p>
        </p:txBody>
      </p:sp>
      <p:sp>
        <p:nvSpPr>
          <p:cNvPr id="40" name="TextBox 39"/>
          <p:cNvSpPr txBox="1"/>
          <p:nvPr/>
        </p:nvSpPr>
        <p:spPr>
          <a:xfrm>
            <a:off x="6903720" y="1673352"/>
            <a:ext cx="5029200" cy="411480"/>
          </a:xfrm>
          <a:prstGeom prst="rect">
            <a:avLst/>
          </a:prstGeom>
          <a:noFill/>
        </p:spPr>
        <p:txBody>
          <a:bodyPr wrap="square">
            <a:spAutoFit/>
          </a:bodyPr>
          <a:lstStyle/>
          <a:p>
            <a:pPr algn="l"/>
            <a:r>
              <a:rPr sz="1300" b="0" i="0">
                <a:solidFill>
                  <a:srgbClr val="1A1A2E"/>
                </a:solidFill>
                <a:latin typeface="Times New Roman"/>
              </a:rPr>
              <a:t>XAI Results — SHAP Analysis</a:t>
            </a:r>
          </a:p>
        </p:txBody>
      </p:sp>
      <p:sp>
        <p:nvSpPr>
          <p:cNvPr id="41" name="Rectangle 40"/>
          <p:cNvSpPr/>
          <p:nvPr/>
        </p:nvSpPr>
        <p:spPr>
          <a:xfrm>
            <a:off x="6355080" y="2167128"/>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55080" y="2185416"/>
            <a:ext cx="457200" cy="411480"/>
          </a:xfrm>
          <a:prstGeom prst="rect">
            <a:avLst/>
          </a:prstGeom>
          <a:noFill/>
        </p:spPr>
        <p:txBody>
          <a:bodyPr wrap="square">
            <a:spAutoFit/>
          </a:bodyPr>
          <a:lstStyle/>
          <a:p>
            <a:pPr algn="ctr"/>
            <a:r>
              <a:rPr sz="1300" b="1" i="0">
                <a:solidFill>
                  <a:srgbClr val="FFFFFF"/>
                </a:solidFill>
                <a:latin typeface="Times New Roman"/>
              </a:rPr>
              <a:t>13</a:t>
            </a:r>
          </a:p>
        </p:txBody>
      </p:sp>
      <p:sp>
        <p:nvSpPr>
          <p:cNvPr id="43" name="TextBox 42"/>
          <p:cNvSpPr txBox="1"/>
          <p:nvPr/>
        </p:nvSpPr>
        <p:spPr>
          <a:xfrm>
            <a:off x="6903720" y="2185416"/>
            <a:ext cx="5029200" cy="411480"/>
          </a:xfrm>
          <a:prstGeom prst="rect">
            <a:avLst/>
          </a:prstGeom>
          <a:noFill/>
        </p:spPr>
        <p:txBody>
          <a:bodyPr wrap="square">
            <a:spAutoFit/>
          </a:bodyPr>
          <a:lstStyle/>
          <a:p>
            <a:pPr algn="l"/>
            <a:r>
              <a:rPr sz="1300" b="0" i="0">
                <a:solidFill>
                  <a:srgbClr val="1A1A2E"/>
                </a:solidFill>
                <a:latin typeface="Times New Roman"/>
              </a:rPr>
              <a:t>XAI Results — LIME Analysis</a:t>
            </a:r>
          </a:p>
        </p:txBody>
      </p:sp>
      <p:sp>
        <p:nvSpPr>
          <p:cNvPr id="44" name="Rectangle 43"/>
          <p:cNvSpPr/>
          <p:nvPr/>
        </p:nvSpPr>
        <p:spPr>
          <a:xfrm>
            <a:off x="6355080" y="2679192"/>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55080" y="2697480"/>
            <a:ext cx="457200" cy="411480"/>
          </a:xfrm>
          <a:prstGeom prst="rect">
            <a:avLst/>
          </a:prstGeom>
          <a:noFill/>
        </p:spPr>
        <p:txBody>
          <a:bodyPr wrap="square">
            <a:spAutoFit/>
          </a:bodyPr>
          <a:lstStyle/>
          <a:p>
            <a:pPr algn="ctr"/>
            <a:r>
              <a:rPr sz="1300" b="1" i="0">
                <a:solidFill>
                  <a:srgbClr val="FFFFFF"/>
                </a:solidFill>
                <a:latin typeface="Times New Roman"/>
              </a:rPr>
              <a:t>14</a:t>
            </a:r>
          </a:p>
        </p:txBody>
      </p:sp>
      <p:sp>
        <p:nvSpPr>
          <p:cNvPr id="46" name="TextBox 45"/>
          <p:cNvSpPr txBox="1"/>
          <p:nvPr/>
        </p:nvSpPr>
        <p:spPr>
          <a:xfrm>
            <a:off x="6903720" y="2697480"/>
            <a:ext cx="5029200" cy="411480"/>
          </a:xfrm>
          <a:prstGeom prst="rect">
            <a:avLst/>
          </a:prstGeom>
          <a:noFill/>
        </p:spPr>
        <p:txBody>
          <a:bodyPr wrap="square">
            <a:spAutoFit/>
          </a:bodyPr>
          <a:lstStyle/>
          <a:p>
            <a:pPr algn="l"/>
            <a:r>
              <a:rPr sz="1300" b="0" i="0">
                <a:solidFill>
                  <a:srgbClr val="1A1A2E"/>
                </a:solidFill>
                <a:latin typeface="Times New Roman"/>
              </a:rPr>
              <a:t>Evaluation Metrics &amp; Mathematical Framework</a:t>
            </a:r>
          </a:p>
        </p:txBody>
      </p:sp>
      <p:sp>
        <p:nvSpPr>
          <p:cNvPr id="47" name="Rectangle 46"/>
          <p:cNvSpPr/>
          <p:nvPr/>
        </p:nvSpPr>
        <p:spPr>
          <a:xfrm>
            <a:off x="6355080" y="3191256"/>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55080" y="3209544"/>
            <a:ext cx="457200" cy="411480"/>
          </a:xfrm>
          <a:prstGeom prst="rect">
            <a:avLst/>
          </a:prstGeom>
          <a:noFill/>
        </p:spPr>
        <p:txBody>
          <a:bodyPr wrap="square">
            <a:spAutoFit/>
          </a:bodyPr>
          <a:lstStyle/>
          <a:p>
            <a:pPr algn="ctr"/>
            <a:r>
              <a:rPr sz="1300" b="1" i="0">
                <a:solidFill>
                  <a:srgbClr val="FFFFFF"/>
                </a:solidFill>
                <a:latin typeface="Times New Roman"/>
              </a:rPr>
              <a:t>15</a:t>
            </a:r>
          </a:p>
        </p:txBody>
      </p:sp>
      <p:sp>
        <p:nvSpPr>
          <p:cNvPr id="49" name="TextBox 48"/>
          <p:cNvSpPr txBox="1"/>
          <p:nvPr/>
        </p:nvSpPr>
        <p:spPr>
          <a:xfrm>
            <a:off x="6903720" y="3209544"/>
            <a:ext cx="5029200" cy="411480"/>
          </a:xfrm>
          <a:prstGeom prst="rect">
            <a:avLst/>
          </a:prstGeom>
          <a:noFill/>
        </p:spPr>
        <p:txBody>
          <a:bodyPr wrap="square">
            <a:spAutoFit/>
          </a:bodyPr>
          <a:lstStyle/>
          <a:p>
            <a:pPr algn="l"/>
            <a:r>
              <a:rPr sz="1300" b="0" i="0">
                <a:solidFill>
                  <a:srgbClr val="1A1A2E"/>
                </a:solidFill>
                <a:latin typeface="Times New Roman"/>
              </a:rPr>
              <a:t>System Design — Spiral Model</a:t>
            </a:r>
          </a:p>
        </p:txBody>
      </p:sp>
      <p:sp>
        <p:nvSpPr>
          <p:cNvPr id="50" name="Rectangle 49"/>
          <p:cNvSpPr/>
          <p:nvPr/>
        </p:nvSpPr>
        <p:spPr>
          <a:xfrm>
            <a:off x="6355080" y="3703320"/>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55080" y="3721608"/>
            <a:ext cx="457200" cy="411480"/>
          </a:xfrm>
          <a:prstGeom prst="rect">
            <a:avLst/>
          </a:prstGeom>
          <a:noFill/>
        </p:spPr>
        <p:txBody>
          <a:bodyPr wrap="square">
            <a:spAutoFit/>
          </a:bodyPr>
          <a:lstStyle/>
          <a:p>
            <a:pPr algn="ctr"/>
            <a:r>
              <a:rPr sz="1300" b="1" i="0">
                <a:solidFill>
                  <a:srgbClr val="FFFFFF"/>
                </a:solidFill>
                <a:latin typeface="Times New Roman"/>
              </a:rPr>
              <a:t>16</a:t>
            </a:r>
          </a:p>
        </p:txBody>
      </p:sp>
      <p:sp>
        <p:nvSpPr>
          <p:cNvPr id="52" name="TextBox 51"/>
          <p:cNvSpPr txBox="1"/>
          <p:nvPr/>
        </p:nvSpPr>
        <p:spPr>
          <a:xfrm>
            <a:off x="6903720" y="3721608"/>
            <a:ext cx="5029200" cy="411480"/>
          </a:xfrm>
          <a:prstGeom prst="rect">
            <a:avLst/>
          </a:prstGeom>
          <a:noFill/>
        </p:spPr>
        <p:txBody>
          <a:bodyPr wrap="square">
            <a:spAutoFit/>
          </a:bodyPr>
          <a:lstStyle/>
          <a:p>
            <a:pPr algn="l"/>
            <a:r>
              <a:rPr sz="1300" b="0" i="0">
                <a:solidFill>
                  <a:srgbClr val="1A1A2E"/>
                </a:solidFill>
                <a:latin typeface="Times New Roman"/>
              </a:rPr>
              <a:t>System Requirements &amp; Cost Estimation</a:t>
            </a:r>
          </a:p>
        </p:txBody>
      </p:sp>
      <p:sp>
        <p:nvSpPr>
          <p:cNvPr id="53" name="Rectangle 52"/>
          <p:cNvSpPr/>
          <p:nvPr/>
        </p:nvSpPr>
        <p:spPr>
          <a:xfrm>
            <a:off x="6355080" y="4215384"/>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55080" y="4233672"/>
            <a:ext cx="457200" cy="411480"/>
          </a:xfrm>
          <a:prstGeom prst="rect">
            <a:avLst/>
          </a:prstGeom>
          <a:noFill/>
        </p:spPr>
        <p:txBody>
          <a:bodyPr wrap="square">
            <a:spAutoFit/>
          </a:bodyPr>
          <a:lstStyle/>
          <a:p>
            <a:pPr algn="ctr"/>
            <a:r>
              <a:rPr sz="1300" b="1" i="0">
                <a:solidFill>
                  <a:srgbClr val="FFFFFF"/>
                </a:solidFill>
                <a:latin typeface="Times New Roman"/>
              </a:rPr>
              <a:t>17</a:t>
            </a:r>
          </a:p>
        </p:txBody>
      </p:sp>
      <p:sp>
        <p:nvSpPr>
          <p:cNvPr id="55" name="TextBox 54"/>
          <p:cNvSpPr txBox="1"/>
          <p:nvPr/>
        </p:nvSpPr>
        <p:spPr>
          <a:xfrm>
            <a:off x="6903720" y="4233672"/>
            <a:ext cx="5029200" cy="411480"/>
          </a:xfrm>
          <a:prstGeom prst="rect">
            <a:avLst/>
          </a:prstGeom>
          <a:noFill/>
        </p:spPr>
        <p:txBody>
          <a:bodyPr wrap="square">
            <a:spAutoFit/>
          </a:bodyPr>
          <a:lstStyle/>
          <a:p>
            <a:pPr algn="l"/>
            <a:r>
              <a:rPr sz="1300" b="0" i="0">
                <a:solidFill>
                  <a:srgbClr val="1A1A2E"/>
                </a:solidFill>
                <a:latin typeface="Times New Roman"/>
              </a:rPr>
              <a:t>Testing &amp; Validation</a:t>
            </a:r>
          </a:p>
        </p:txBody>
      </p:sp>
      <p:sp>
        <p:nvSpPr>
          <p:cNvPr id="56" name="Rectangle 55"/>
          <p:cNvSpPr/>
          <p:nvPr/>
        </p:nvSpPr>
        <p:spPr>
          <a:xfrm>
            <a:off x="6355080" y="4727448"/>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355080" y="4745736"/>
            <a:ext cx="457200" cy="411480"/>
          </a:xfrm>
          <a:prstGeom prst="rect">
            <a:avLst/>
          </a:prstGeom>
          <a:noFill/>
        </p:spPr>
        <p:txBody>
          <a:bodyPr wrap="square">
            <a:spAutoFit/>
          </a:bodyPr>
          <a:lstStyle/>
          <a:p>
            <a:pPr algn="ctr"/>
            <a:r>
              <a:rPr sz="1300" b="1" i="0">
                <a:solidFill>
                  <a:srgbClr val="FFFFFF"/>
                </a:solidFill>
                <a:latin typeface="Times New Roman"/>
              </a:rPr>
              <a:t>18</a:t>
            </a:r>
          </a:p>
        </p:txBody>
      </p:sp>
      <p:sp>
        <p:nvSpPr>
          <p:cNvPr id="58" name="TextBox 57"/>
          <p:cNvSpPr txBox="1"/>
          <p:nvPr/>
        </p:nvSpPr>
        <p:spPr>
          <a:xfrm>
            <a:off x="6903720" y="4745736"/>
            <a:ext cx="5029200" cy="411480"/>
          </a:xfrm>
          <a:prstGeom prst="rect">
            <a:avLst/>
          </a:prstGeom>
          <a:noFill/>
        </p:spPr>
        <p:txBody>
          <a:bodyPr wrap="square">
            <a:spAutoFit/>
          </a:bodyPr>
          <a:lstStyle/>
          <a:p>
            <a:pPr algn="l"/>
            <a:r>
              <a:rPr sz="1300" b="0" i="0">
                <a:solidFill>
                  <a:srgbClr val="1A1A2E"/>
                </a:solidFill>
                <a:latin typeface="Times New Roman"/>
              </a:rPr>
              <a:t>Future Scope &amp; Research Directions</a:t>
            </a:r>
          </a:p>
        </p:txBody>
      </p:sp>
      <p:sp>
        <p:nvSpPr>
          <p:cNvPr id="59" name="Rectangle 58"/>
          <p:cNvSpPr/>
          <p:nvPr/>
        </p:nvSpPr>
        <p:spPr>
          <a:xfrm>
            <a:off x="6355080" y="5239512"/>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55080" y="5257800"/>
            <a:ext cx="457200" cy="411480"/>
          </a:xfrm>
          <a:prstGeom prst="rect">
            <a:avLst/>
          </a:prstGeom>
          <a:noFill/>
        </p:spPr>
        <p:txBody>
          <a:bodyPr wrap="square">
            <a:spAutoFit/>
          </a:bodyPr>
          <a:lstStyle/>
          <a:p>
            <a:pPr algn="ctr"/>
            <a:r>
              <a:rPr sz="1300" b="1" i="0">
                <a:solidFill>
                  <a:srgbClr val="FFFFFF"/>
                </a:solidFill>
                <a:latin typeface="Times New Roman"/>
              </a:rPr>
              <a:t>19</a:t>
            </a:r>
          </a:p>
        </p:txBody>
      </p:sp>
      <p:sp>
        <p:nvSpPr>
          <p:cNvPr id="61" name="TextBox 60"/>
          <p:cNvSpPr txBox="1"/>
          <p:nvPr/>
        </p:nvSpPr>
        <p:spPr>
          <a:xfrm>
            <a:off x="6903720" y="5257800"/>
            <a:ext cx="5029200" cy="411480"/>
          </a:xfrm>
          <a:prstGeom prst="rect">
            <a:avLst/>
          </a:prstGeom>
          <a:noFill/>
        </p:spPr>
        <p:txBody>
          <a:bodyPr wrap="square">
            <a:spAutoFit/>
          </a:bodyPr>
          <a:lstStyle/>
          <a:p>
            <a:pPr algn="l"/>
            <a:r>
              <a:rPr sz="1300" b="0" i="0">
                <a:solidFill>
                  <a:srgbClr val="1A1A2E"/>
                </a:solidFill>
                <a:latin typeface="Times New Roman"/>
              </a:rPr>
              <a:t>Conclusion</a:t>
            </a:r>
          </a:p>
        </p:txBody>
      </p:sp>
      <p:sp>
        <p:nvSpPr>
          <p:cNvPr id="62" name="Rectangle 61"/>
          <p:cNvSpPr/>
          <p:nvPr/>
        </p:nvSpPr>
        <p:spPr>
          <a:xfrm>
            <a:off x="6355080" y="5751576"/>
            <a:ext cx="4572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55080" y="5769864"/>
            <a:ext cx="457200" cy="411480"/>
          </a:xfrm>
          <a:prstGeom prst="rect">
            <a:avLst/>
          </a:prstGeom>
          <a:noFill/>
        </p:spPr>
        <p:txBody>
          <a:bodyPr wrap="square">
            <a:spAutoFit/>
          </a:bodyPr>
          <a:lstStyle/>
          <a:p>
            <a:pPr algn="ctr"/>
            <a:r>
              <a:rPr sz="1300" b="1" i="0">
                <a:solidFill>
                  <a:srgbClr val="FFFFFF"/>
                </a:solidFill>
                <a:latin typeface="Times New Roman"/>
              </a:rPr>
              <a:t>20</a:t>
            </a:r>
          </a:p>
        </p:txBody>
      </p:sp>
      <p:sp>
        <p:nvSpPr>
          <p:cNvPr id="64" name="TextBox 63"/>
          <p:cNvSpPr txBox="1"/>
          <p:nvPr/>
        </p:nvSpPr>
        <p:spPr>
          <a:xfrm>
            <a:off x="6903720" y="5769864"/>
            <a:ext cx="5029200" cy="411480"/>
          </a:xfrm>
          <a:prstGeom prst="rect">
            <a:avLst/>
          </a:prstGeom>
          <a:noFill/>
        </p:spPr>
        <p:txBody>
          <a:bodyPr wrap="square">
            <a:spAutoFit/>
          </a:bodyPr>
          <a:lstStyle/>
          <a:p>
            <a:pPr algn="l"/>
            <a:r>
              <a:rPr sz="1300" b="0" i="0">
                <a:solidFill>
                  <a:srgbClr val="1A1A2E"/>
                </a:solidFill>
                <a:latin typeface="Times New Roman"/>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523220"/>
          </a:xfrm>
          <a:prstGeom prst="rect">
            <a:avLst/>
          </a:prstGeom>
          <a:noFill/>
        </p:spPr>
        <p:txBody>
          <a:bodyPr wrap="square">
            <a:spAutoFit/>
          </a:bodyPr>
          <a:lstStyle/>
          <a:p>
            <a:pPr algn="l"/>
            <a:r>
              <a:rPr sz="2800" b="1" i="0" dirty="0">
                <a:solidFill>
                  <a:srgbClr val="FFFFFF"/>
                </a:solidFill>
                <a:latin typeface="Times New Roman" panose="02020603050405020304" pitchFamily="18" charset="0"/>
                <a:cs typeface="Times New Roman" panose="02020603050405020304" pitchFamily="18" charset="0"/>
              </a:rPr>
              <a:t>Abstract</a:t>
            </a:r>
          </a:p>
        </p:txBody>
      </p:sp>
      <p:sp>
        <p:nvSpPr>
          <p:cNvPr id="5" name="Rectangle 4"/>
          <p:cNvSpPr/>
          <p:nvPr/>
        </p:nvSpPr>
        <p:spPr>
          <a:xfrm>
            <a:off x="365760" y="1143000"/>
            <a:ext cx="11457432"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80160"/>
            <a:ext cx="10972800" cy="3323987"/>
          </a:xfrm>
          <a:prstGeom prst="rect">
            <a:avLst/>
          </a:prstGeom>
          <a:noFill/>
        </p:spPr>
        <p:txBody>
          <a:bodyPr wrap="square">
            <a:spAutoFit/>
          </a:bodyPr>
          <a:lstStyle/>
          <a:p>
            <a:pPr algn="l"/>
            <a:r>
              <a:rPr sz="1400" b="0" i="0" dirty="0">
                <a:solidFill>
                  <a:srgbClr val="1A1A2E"/>
                </a:solidFill>
                <a:latin typeface="Times New Roman" panose="02020603050405020304" pitchFamily="18" charset="0"/>
                <a:cs typeface="Times New Roman" panose="02020603050405020304" pitchFamily="18" charset="0"/>
              </a:rPr>
              <a:t>The Advanced Crop Recommendation System (ACRS) helps farmers select the most suitable crop based on environmental and soil conditions. This system analyzes parameters such as soil nutrients (N, P, K), pH, temperature, humidity, and rainfall to predict the best crop for cultivation.
The ACRS proposes a Hybrid Crop Recommendation System using Machine Learning (ML), Deep Learning (DL), and Ensemble Learning techniques. The system integrates agricultural, climatic, geographical, and market-related information to improve prediction accuracy through a Two-Tier Stacked Ensemble (ML + CNN-</a:t>
            </a:r>
            <a:r>
              <a:rPr sz="1400" b="0" i="0" dirty="0" err="1">
                <a:solidFill>
                  <a:srgbClr val="1A1A2E"/>
                </a:solidFill>
                <a:latin typeface="Times New Roman" panose="02020603050405020304" pitchFamily="18" charset="0"/>
                <a:cs typeface="Times New Roman" panose="02020603050405020304" pitchFamily="18" charset="0"/>
              </a:rPr>
              <a:t>BiLSTM</a:t>
            </a:r>
            <a:r>
              <a:rPr sz="1400" b="0" i="0" dirty="0">
                <a:solidFill>
                  <a:srgbClr val="1A1A2E"/>
                </a:solidFill>
                <a:latin typeface="Times New Roman" panose="02020603050405020304" pitchFamily="18" charset="0"/>
                <a:cs typeface="Times New Roman" panose="02020603050405020304" pitchFamily="18" charset="0"/>
              </a:rPr>
              <a:t>) with an MLP Meta-Learner.
The system's novel contributions include:
  •  Extended 12-Feature Schema (vs. conventional 7 features)
  •  SMOTE-Tomek class balancing for dataset resampling
  •  Monte Carlo Dropout for uncertainty-aware Top-3 recommendations
  •  Triple-Layer XAI (SHAP + LIME + </a:t>
            </a:r>
            <a:r>
              <a:rPr sz="1400" b="0" i="0" dirty="0" err="1">
                <a:solidFill>
                  <a:srgbClr val="1A1A2E"/>
                </a:solidFill>
                <a:latin typeface="Times New Roman" panose="02020603050405020304" pitchFamily="18" charset="0"/>
                <a:cs typeface="Times New Roman" panose="02020603050405020304" pitchFamily="18" charset="0"/>
              </a:rPr>
              <a:t>DiCE</a:t>
            </a:r>
            <a:r>
              <a:rPr sz="1400" b="0" i="0" dirty="0">
                <a:solidFill>
                  <a:srgbClr val="1A1A2E"/>
                </a:solidFill>
                <a:latin typeface="Times New Roman" panose="02020603050405020304" pitchFamily="18" charset="0"/>
                <a:cs typeface="Times New Roman" panose="02020603050405020304" pitchFamily="18" charset="0"/>
              </a:rPr>
              <a:t>) for full model interpretability
Achieved 80.35% ensemble accuracy on the CRD dataset (10,000 samples, 10 crop classes) with MCC = 0.74 and F1-weighted = 77.25%, suitable for real-world precision agriculture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Chapter 1 — Introduction</a:t>
            </a:r>
          </a:p>
        </p:txBody>
      </p:sp>
      <p:sp>
        <p:nvSpPr>
          <p:cNvPr id="5" name="TextBox 4"/>
          <p:cNvSpPr txBox="1"/>
          <p:nvPr/>
        </p:nvSpPr>
        <p:spPr>
          <a:xfrm>
            <a:off x="365760" y="1143000"/>
            <a:ext cx="11430000" cy="411480"/>
          </a:xfrm>
          <a:prstGeom prst="rect">
            <a:avLst/>
          </a:prstGeom>
          <a:noFill/>
        </p:spPr>
        <p:txBody>
          <a:bodyPr wrap="square">
            <a:spAutoFit/>
          </a:bodyPr>
          <a:lstStyle/>
          <a:p>
            <a:pPr algn="l"/>
            <a:r>
              <a:rPr sz="1700" b="1" i="0">
                <a:solidFill>
                  <a:srgbClr val="277A3A"/>
                </a:solidFill>
                <a:latin typeface="Times New Roman"/>
              </a:rPr>
              <a:t>1.1  Background &amp; Problem Statement</a:t>
            </a:r>
          </a:p>
        </p:txBody>
      </p:sp>
      <p:sp>
        <p:nvSpPr>
          <p:cNvPr id="6" name="TextBox 5"/>
          <p:cNvSpPr txBox="1"/>
          <p:nvPr/>
        </p:nvSpPr>
        <p:spPr>
          <a:xfrm>
            <a:off x="457200" y="1600200"/>
            <a:ext cx="11247120" cy="3108960"/>
          </a:xfrm>
          <a:prstGeom prst="rect">
            <a:avLst/>
          </a:prstGeom>
          <a:noFill/>
        </p:spPr>
        <p:txBody>
          <a:bodyPr wrap="square">
            <a:spAutoFit/>
          </a:bodyPr>
          <a:lstStyle/>
          <a:p>
            <a:r>
              <a:rPr sz="1400">
                <a:solidFill>
                  <a:srgbClr val="1A1A2E"/>
                </a:solidFill>
                <a:latin typeface="Times New Roman"/>
              </a:rPr>
              <a:t>  •  Agriculture is the backbone of the economy — crop failure leads to food insecurity and economic loss.</a:t>
            </a:r>
          </a:p>
          <a:p>
            <a:r>
              <a:rPr sz="1400">
                <a:solidFill>
                  <a:srgbClr val="1A1A2E"/>
                </a:solidFill>
                <a:latin typeface="Times New Roman"/>
              </a:rPr>
              <a:t>  •  Selecting the most suitable crop depends on soil nutrients, climate, geography, and market demand.</a:t>
            </a:r>
          </a:p>
          <a:p>
            <a:r>
              <a:rPr sz="1400">
                <a:solidFill>
                  <a:srgbClr val="1A1A2E"/>
                </a:solidFill>
                <a:latin typeface="Times New Roman"/>
              </a:rPr>
              <a:t>  •  Existing systems rely on single classifiers (RF, SVM) — limited accuracy and no explainability.</a:t>
            </a:r>
          </a:p>
          <a:p>
            <a:r>
              <a:rPr sz="1400">
                <a:solidFill>
                  <a:srgbClr val="1A1A2E"/>
                </a:solidFill>
                <a:latin typeface="Times New Roman"/>
              </a:rPr>
              <a:t>  •  Standard benchmark uses only 7 features (N, P, K, pH, Temperature, Humidity, Rainfall) — insufficient.</a:t>
            </a:r>
          </a:p>
          <a:p>
            <a:r>
              <a:rPr sz="1400">
                <a:solidFill>
                  <a:srgbClr val="1A1A2E"/>
                </a:solidFill>
                <a:latin typeface="Times New Roman"/>
              </a:rPr>
              <a:t>  •  Farmers lack trust in AI black-box predictions without explanations.</a:t>
            </a:r>
          </a:p>
          <a:p>
            <a:r>
              <a:rPr sz="1400">
                <a:solidFill>
                  <a:srgbClr val="1A1A2E"/>
                </a:solidFill>
                <a:latin typeface="Times New Roman"/>
              </a:rPr>
              <a:t>  •  No uncertainty quantification — predictions treated as absolute certainties despite noisy sensors.</a:t>
            </a:r>
          </a:p>
        </p:txBody>
      </p:sp>
      <p:sp>
        <p:nvSpPr>
          <p:cNvPr id="7" name="TextBox 6"/>
          <p:cNvSpPr txBox="1"/>
          <p:nvPr/>
        </p:nvSpPr>
        <p:spPr>
          <a:xfrm>
            <a:off x="365760" y="4709160"/>
            <a:ext cx="11430000" cy="365760"/>
          </a:xfrm>
          <a:prstGeom prst="rect">
            <a:avLst/>
          </a:prstGeom>
          <a:noFill/>
        </p:spPr>
        <p:txBody>
          <a:bodyPr wrap="square">
            <a:spAutoFit/>
          </a:bodyPr>
          <a:lstStyle/>
          <a:p>
            <a:pPr algn="l"/>
            <a:r>
              <a:rPr sz="1700" b="1" i="0">
                <a:solidFill>
                  <a:srgbClr val="277A3A"/>
                </a:solidFill>
                <a:latin typeface="Times New Roman"/>
              </a:rPr>
              <a:t>1.2  The ACRS Solution</a:t>
            </a:r>
          </a:p>
        </p:txBody>
      </p:sp>
      <p:sp>
        <p:nvSpPr>
          <p:cNvPr id="8" name="TextBox 7"/>
          <p:cNvSpPr txBox="1"/>
          <p:nvPr/>
        </p:nvSpPr>
        <p:spPr>
          <a:xfrm>
            <a:off x="457200" y="5074920"/>
            <a:ext cx="11247120" cy="731520"/>
          </a:xfrm>
          <a:prstGeom prst="rect">
            <a:avLst/>
          </a:prstGeom>
          <a:noFill/>
        </p:spPr>
        <p:txBody>
          <a:bodyPr wrap="square">
            <a:spAutoFit/>
          </a:bodyPr>
          <a:lstStyle/>
          <a:p>
            <a:pPr algn="l"/>
            <a:r>
              <a:rPr sz="1400" b="0" i="0">
                <a:solidFill>
                  <a:srgbClr val="1A1A2E"/>
                </a:solidFill>
                <a:latin typeface="Times New Roman"/>
              </a:rPr>
              <a:t>ACRS resolves these issues by introducing a modular, reproducible pipeline: 12-Feature Schema → Two-Tier Stacked Ensemble (ML + CNN-BiLSTM) → MC-Dropout Uncertainty → Triple-Layer XAI (SHAP + LIME + DiCE).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Objectives &amp; Scope of the Work</a:t>
            </a:r>
          </a:p>
        </p:txBody>
      </p:sp>
      <p:sp>
        <p:nvSpPr>
          <p:cNvPr id="5" name="TextBox 4"/>
          <p:cNvSpPr txBox="1"/>
          <p:nvPr/>
        </p:nvSpPr>
        <p:spPr>
          <a:xfrm>
            <a:off x="365760" y="1097280"/>
            <a:ext cx="5486400" cy="365760"/>
          </a:xfrm>
          <a:prstGeom prst="rect">
            <a:avLst/>
          </a:prstGeom>
          <a:noFill/>
        </p:spPr>
        <p:txBody>
          <a:bodyPr wrap="square">
            <a:spAutoFit/>
          </a:bodyPr>
          <a:lstStyle/>
          <a:p>
            <a:pPr algn="l"/>
            <a:r>
              <a:rPr sz="1700" b="1" i="0">
                <a:solidFill>
                  <a:srgbClr val="277A3A"/>
                </a:solidFill>
                <a:latin typeface="Times New Roman"/>
              </a:rPr>
              <a:t>Objectives</a:t>
            </a:r>
          </a:p>
        </p:txBody>
      </p:sp>
      <p:sp>
        <p:nvSpPr>
          <p:cNvPr id="6" name="TextBox 5"/>
          <p:cNvSpPr txBox="1"/>
          <p:nvPr/>
        </p:nvSpPr>
        <p:spPr>
          <a:xfrm>
            <a:off x="457200" y="1508760"/>
            <a:ext cx="5669280" cy="4663440"/>
          </a:xfrm>
          <a:prstGeom prst="rect">
            <a:avLst/>
          </a:prstGeom>
          <a:noFill/>
        </p:spPr>
        <p:txBody>
          <a:bodyPr wrap="square">
            <a:spAutoFit/>
          </a:bodyPr>
          <a:lstStyle/>
          <a:p>
            <a:r>
              <a:rPr sz="1300">
                <a:solidFill>
                  <a:srgbClr val="1A1A2E"/>
                </a:solidFill>
                <a:latin typeface="Times New Roman"/>
              </a:rPr>
              <a:t>  •  Develop an intelligent system using ML, DL, and Ensemble Learning</a:t>
            </a:r>
          </a:p>
          <a:p>
            <a:r>
              <a:rPr sz="1300">
                <a:solidFill>
                  <a:srgbClr val="1A1A2E"/>
                </a:solidFill>
                <a:latin typeface="Times New Roman"/>
              </a:rPr>
              <a:t>  •  Integrate soil, climate, GPS, and market data for 12-feature prediction</a:t>
            </a:r>
          </a:p>
          <a:p>
            <a:r>
              <a:rPr sz="1300">
                <a:solidFill>
                  <a:srgbClr val="1A1A2E"/>
                </a:solidFill>
                <a:latin typeface="Times New Roman"/>
              </a:rPr>
              <a:t>  •  Apply SMOTE-Tomek balancing and StandardScaler preprocessing</a:t>
            </a:r>
          </a:p>
          <a:p>
            <a:r>
              <a:rPr sz="1300">
                <a:solidFill>
                  <a:srgbClr val="1A1A2E"/>
                </a:solidFill>
                <a:latin typeface="Times New Roman"/>
              </a:rPr>
              <a:t>  •  Train RF, XGBoost, LightGBM, SVM, KNN, NB, DT + CNN-BiLSTM base learners</a:t>
            </a:r>
          </a:p>
          <a:p>
            <a:r>
              <a:rPr sz="1300">
                <a:solidFill>
                  <a:srgbClr val="1A1A2E"/>
                </a:solidFill>
                <a:latin typeface="Times New Roman"/>
              </a:rPr>
              <a:t>  •  Use MLP meta-learner to combine predictions (stacking)</a:t>
            </a:r>
          </a:p>
          <a:p>
            <a:r>
              <a:rPr sz="1300">
                <a:solidFill>
                  <a:srgbClr val="1A1A2E"/>
                </a:solidFill>
                <a:latin typeface="Times New Roman"/>
              </a:rPr>
              <a:t>  •  Estimate confidence with MC-Dropout (50 forward passes)</a:t>
            </a:r>
          </a:p>
          <a:p>
            <a:r>
              <a:rPr sz="1300">
                <a:solidFill>
                  <a:srgbClr val="1A1A2E"/>
                </a:solidFill>
                <a:latin typeface="Times New Roman"/>
              </a:rPr>
              <a:t>  •  Generate explainable recommendations via SHAP, LIME, and DiCE</a:t>
            </a:r>
          </a:p>
          <a:p>
            <a:r>
              <a:rPr sz="1300">
                <a:solidFill>
                  <a:srgbClr val="1A1A2E"/>
                </a:solidFill>
                <a:latin typeface="Times New Roman"/>
              </a:rPr>
              <a:t>  •  Evaluate using Accuracy, F1-score, MCC, ECE, and ROC-AUC</a:t>
            </a:r>
          </a:p>
          <a:p>
            <a:r>
              <a:rPr sz="1300">
                <a:solidFill>
                  <a:srgbClr val="1A1A2E"/>
                </a:solidFill>
                <a:latin typeface="Times New Roman"/>
              </a:rPr>
              <a:t>  •  Support farmers with data-driven, trustworthy crop decisions</a:t>
            </a:r>
          </a:p>
        </p:txBody>
      </p:sp>
      <p:sp>
        <p:nvSpPr>
          <p:cNvPr id="7" name="TextBox 6"/>
          <p:cNvSpPr txBox="1"/>
          <p:nvPr/>
        </p:nvSpPr>
        <p:spPr>
          <a:xfrm>
            <a:off x="6400800" y="1097280"/>
            <a:ext cx="5486400" cy="365760"/>
          </a:xfrm>
          <a:prstGeom prst="rect">
            <a:avLst/>
          </a:prstGeom>
          <a:noFill/>
        </p:spPr>
        <p:txBody>
          <a:bodyPr wrap="square">
            <a:spAutoFit/>
          </a:bodyPr>
          <a:lstStyle/>
          <a:p>
            <a:pPr algn="l"/>
            <a:r>
              <a:rPr sz="1700" b="1" i="0">
                <a:solidFill>
                  <a:srgbClr val="277A3A"/>
                </a:solidFill>
                <a:latin typeface="Times New Roman"/>
              </a:rPr>
              <a:t>Scope</a:t>
            </a:r>
          </a:p>
        </p:txBody>
      </p:sp>
      <p:sp>
        <p:nvSpPr>
          <p:cNvPr id="8" name="TextBox 7"/>
          <p:cNvSpPr txBox="1"/>
          <p:nvPr/>
        </p:nvSpPr>
        <p:spPr>
          <a:xfrm>
            <a:off x="6492240" y="1508760"/>
            <a:ext cx="5394960" cy="4114800"/>
          </a:xfrm>
          <a:prstGeom prst="rect">
            <a:avLst/>
          </a:prstGeom>
          <a:noFill/>
        </p:spPr>
        <p:txBody>
          <a:bodyPr wrap="square">
            <a:spAutoFit/>
          </a:bodyPr>
          <a:lstStyle/>
          <a:p>
            <a:r>
              <a:rPr sz="1300">
                <a:solidFill>
                  <a:srgbClr val="1A1A2E"/>
                </a:solidFill>
                <a:latin typeface="Times New Roman"/>
              </a:rPr>
              <a:t>  •  Predicts suitable crops from agricultural &amp; environmental data</a:t>
            </a:r>
          </a:p>
          <a:p>
            <a:r>
              <a:rPr sz="1300">
                <a:solidFill>
                  <a:srgbClr val="1A1A2E"/>
                </a:solidFill>
                <a:latin typeface="Times New Roman"/>
              </a:rPr>
              <a:t>  •  Covers 10 crop classes: Rice, Wheat, Millet, Sugarcane, Barley, Potato, Cotton, Pulses, Tomato, Maize</a:t>
            </a:r>
          </a:p>
          <a:p>
            <a:r>
              <a:rPr sz="1300">
                <a:solidFill>
                  <a:srgbClr val="1A1A2E"/>
                </a:solidFill>
                <a:latin typeface="Times New Roman"/>
              </a:rPr>
              <a:t>  •  Modular pipeline: Feature Engineering → Preprocessing → Training → Evaluation → XAI</a:t>
            </a:r>
          </a:p>
          <a:p>
            <a:r>
              <a:rPr sz="1300">
                <a:solidFill>
                  <a:srgbClr val="1A1A2E"/>
                </a:solidFill>
                <a:latin typeface="Times New Roman"/>
              </a:rPr>
              <a:t>  •  CLI-based execution — no deployment infrastructure needed</a:t>
            </a:r>
          </a:p>
          <a:p>
            <a:r>
              <a:rPr sz="1300">
                <a:solidFill>
                  <a:srgbClr val="1A1A2E"/>
                </a:solidFill>
                <a:latin typeface="Times New Roman"/>
              </a:rPr>
              <a:t>  •  Extendable with IoT sensors, satellite imagery, and web APIs</a:t>
            </a:r>
          </a:p>
          <a:p>
            <a:r>
              <a:rPr sz="1300">
                <a:solidFill>
                  <a:srgbClr val="1A1A2E"/>
                </a:solidFill>
                <a:latin typeface="Times New Roman"/>
              </a:rPr>
              <a:t>  •  Publishable to Q1 journals (Elsevier, IEEE, Nature)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Chapter 2 — Literature Review</a:t>
            </a:r>
          </a:p>
        </p:txBody>
      </p:sp>
      <p:sp>
        <p:nvSpPr>
          <p:cNvPr id="5" name="Rectangle 4"/>
          <p:cNvSpPr/>
          <p:nvPr/>
        </p:nvSpPr>
        <p:spPr>
          <a:xfrm>
            <a:off x="365760" y="1188720"/>
            <a:ext cx="1371600" cy="10972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508760"/>
            <a:ext cx="1371600" cy="457200"/>
          </a:xfrm>
          <a:prstGeom prst="rect">
            <a:avLst/>
          </a:prstGeom>
          <a:noFill/>
        </p:spPr>
        <p:txBody>
          <a:bodyPr wrap="square">
            <a:spAutoFit/>
          </a:bodyPr>
          <a:lstStyle/>
          <a:p>
            <a:pPr algn="ctr"/>
            <a:r>
              <a:rPr sz="1300" b="1" i="0">
                <a:solidFill>
                  <a:srgbClr val="D4AF37"/>
                </a:solidFill>
                <a:latin typeface="Times New Roman"/>
              </a:rPr>
              <a:t>2010–2015</a:t>
            </a:r>
          </a:p>
        </p:txBody>
      </p:sp>
      <p:sp>
        <p:nvSpPr>
          <p:cNvPr id="7" name="Rectangle 6"/>
          <p:cNvSpPr/>
          <p:nvPr/>
        </p:nvSpPr>
        <p:spPr>
          <a:xfrm>
            <a:off x="1828800" y="1188720"/>
            <a:ext cx="9966960" cy="1097280"/>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1325880"/>
            <a:ext cx="9692640" cy="868680"/>
          </a:xfrm>
          <a:prstGeom prst="rect">
            <a:avLst/>
          </a:prstGeom>
          <a:noFill/>
        </p:spPr>
        <p:txBody>
          <a:bodyPr wrap="square">
            <a:spAutoFit/>
          </a:bodyPr>
          <a:lstStyle/>
          <a:p>
            <a:pPr algn="l"/>
            <a:r>
              <a:rPr sz="1300" b="0" i="0">
                <a:solidFill>
                  <a:srgbClr val="1A1A2E"/>
                </a:solidFill>
                <a:latin typeface="Times New Roman"/>
              </a:rPr>
              <a:t>Rule-based expert systems, Decision Trees &amp; traditional data mining. Limited accuracy, rigid logic, no uncertainty or explainability.</a:t>
            </a:r>
          </a:p>
        </p:txBody>
      </p:sp>
      <p:sp>
        <p:nvSpPr>
          <p:cNvPr id="9" name="Rectangle 8"/>
          <p:cNvSpPr/>
          <p:nvPr/>
        </p:nvSpPr>
        <p:spPr>
          <a:xfrm>
            <a:off x="365760" y="2468880"/>
            <a:ext cx="1371600" cy="10972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788920"/>
            <a:ext cx="1371600" cy="457200"/>
          </a:xfrm>
          <a:prstGeom prst="rect">
            <a:avLst/>
          </a:prstGeom>
          <a:noFill/>
        </p:spPr>
        <p:txBody>
          <a:bodyPr wrap="square">
            <a:spAutoFit/>
          </a:bodyPr>
          <a:lstStyle/>
          <a:p>
            <a:pPr algn="ctr"/>
            <a:r>
              <a:rPr sz="1300" b="1" i="0">
                <a:solidFill>
                  <a:srgbClr val="D4AF37"/>
                </a:solidFill>
                <a:latin typeface="Times New Roman"/>
              </a:rPr>
              <a:t>2016–2020</a:t>
            </a:r>
          </a:p>
        </p:txBody>
      </p:sp>
      <p:sp>
        <p:nvSpPr>
          <p:cNvPr id="11" name="Rectangle 10"/>
          <p:cNvSpPr/>
          <p:nvPr/>
        </p:nvSpPr>
        <p:spPr>
          <a:xfrm>
            <a:off x="1828800" y="2468880"/>
            <a:ext cx="9966960" cy="10972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65960" y="2606040"/>
            <a:ext cx="9692640" cy="868680"/>
          </a:xfrm>
          <a:prstGeom prst="rect">
            <a:avLst/>
          </a:prstGeom>
          <a:noFill/>
        </p:spPr>
        <p:txBody>
          <a:bodyPr wrap="square">
            <a:spAutoFit/>
          </a:bodyPr>
          <a:lstStyle/>
          <a:p>
            <a:pPr algn="l"/>
            <a:r>
              <a:rPr sz="1300" b="0" i="0">
                <a:solidFill>
                  <a:srgbClr val="1A1A2E"/>
                </a:solidFill>
                <a:latin typeface="Times New Roman"/>
              </a:rPr>
              <a:t>Ensemble learning (RF, KNN, Gradient Boosting) and precision agriculture. Multi-feature datasets, cross-validation, improved F1-scores.</a:t>
            </a:r>
          </a:p>
        </p:txBody>
      </p:sp>
      <p:sp>
        <p:nvSpPr>
          <p:cNvPr id="13" name="Rectangle 12"/>
          <p:cNvSpPr/>
          <p:nvPr/>
        </p:nvSpPr>
        <p:spPr>
          <a:xfrm>
            <a:off x="365760" y="3749039"/>
            <a:ext cx="1371600" cy="10972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4069079"/>
            <a:ext cx="1371600" cy="457200"/>
          </a:xfrm>
          <a:prstGeom prst="rect">
            <a:avLst/>
          </a:prstGeom>
          <a:noFill/>
        </p:spPr>
        <p:txBody>
          <a:bodyPr wrap="square">
            <a:spAutoFit/>
          </a:bodyPr>
          <a:lstStyle/>
          <a:p>
            <a:pPr algn="ctr"/>
            <a:r>
              <a:rPr sz="1300" b="1" i="0">
                <a:solidFill>
                  <a:srgbClr val="D4AF37"/>
                </a:solidFill>
                <a:latin typeface="Times New Roman"/>
              </a:rPr>
              <a:t>2021–2024</a:t>
            </a:r>
          </a:p>
        </p:txBody>
      </p:sp>
      <p:sp>
        <p:nvSpPr>
          <p:cNvPr id="15" name="Rectangle 14"/>
          <p:cNvSpPr/>
          <p:nvPr/>
        </p:nvSpPr>
        <p:spPr>
          <a:xfrm>
            <a:off x="1828800" y="3749039"/>
            <a:ext cx="9966960" cy="1097280"/>
          </a:xfrm>
          <a:prstGeom prst="rect">
            <a:avLst/>
          </a:prstGeom>
          <a:solidFill>
            <a:srgbClr val="A5D6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65960" y="3886200"/>
            <a:ext cx="9692640" cy="868680"/>
          </a:xfrm>
          <a:prstGeom prst="rect">
            <a:avLst/>
          </a:prstGeom>
          <a:noFill/>
        </p:spPr>
        <p:txBody>
          <a:bodyPr wrap="square">
            <a:spAutoFit/>
          </a:bodyPr>
          <a:lstStyle/>
          <a:p>
            <a:pPr algn="l"/>
            <a:r>
              <a:rPr sz="1300" b="0" i="0">
                <a:solidFill>
                  <a:srgbClr val="1A1A2E"/>
                </a:solidFill>
                <a:latin typeface="Times New Roman"/>
              </a:rPr>
              <a:t>Hybrid AI (ML + DL + XAI + Cloud). CNN, LSTM architectures. SHAP and LIME for interpretability. Federated learning for data privacy.</a:t>
            </a:r>
          </a:p>
        </p:txBody>
      </p:sp>
      <p:sp>
        <p:nvSpPr>
          <p:cNvPr id="17" name="Rectangle 16"/>
          <p:cNvSpPr/>
          <p:nvPr/>
        </p:nvSpPr>
        <p:spPr>
          <a:xfrm>
            <a:off x="365760" y="5029199"/>
            <a:ext cx="1371600" cy="10972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5349239"/>
            <a:ext cx="1371600" cy="457200"/>
          </a:xfrm>
          <a:prstGeom prst="rect">
            <a:avLst/>
          </a:prstGeom>
          <a:noFill/>
        </p:spPr>
        <p:txBody>
          <a:bodyPr wrap="square">
            <a:spAutoFit/>
          </a:bodyPr>
          <a:lstStyle/>
          <a:p>
            <a:pPr algn="ctr"/>
            <a:r>
              <a:rPr sz="1300" b="1" i="0">
                <a:solidFill>
                  <a:srgbClr val="D4AF37"/>
                </a:solidFill>
                <a:latin typeface="Times New Roman"/>
              </a:rPr>
              <a:t>2025–2026</a:t>
            </a:r>
          </a:p>
        </p:txBody>
      </p:sp>
      <p:sp>
        <p:nvSpPr>
          <p:cNvPr id="19" name="Rectangle 18"/>
          <p:cNvSpPr/>
          <p:nvPr/>
        </p:nvSpPr>
        <p:spPr>
          <a:xfrm>
            <a:off x="1828800" y="5029199"/>
            <a:ext cx="9966960" cy="1097280"/>
          </a:xfrm>
          <a:prstGeom prst="rect">
            <a:avLst/>
          </a:prstGeom>
          <a:solidFill>
            <a:srgbClr val="6CB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65960" y="5166359"/>
            <a:ext cx="9692640" cy="868680"/>
          </a:xfrm>
          <a:prstGeom prst="rect">
            <a:avLst/>
          </a:prstGeom>
          <a:noFill/>
        </p:spPr>
        <p:txBody>
          <a:bodyPr wrap="square">
            <a:spAutoFit/>
          </a:bodyPr>
          <a:lstStyle/>
          <a:p>
            <a:pPr algn="l"/>
            <a:r>
              <a:rPr sz="1300" b="0" i="0">
                <a:solidFill>
                  <a:srgbClr val="FFFFFF"/>
                </a:solidFill>
                <a:latin typeface="Times New Roman"/>
              </a:rPr>
              <a:t>State-of-the-art: GNNs, Retrieval-Augmented Generation (RAG), Transformer-based architectures, DiCE counterfactuals, spatio-temporal forecasting. ACRS positions itself in this frontier.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Literature Review — Related Work Summary</a:t>
            </a:r>
          </a:p>
        </p:txBody>
      </p:sp>
      <p:graphicFrame>
        <p:nvGraphicFramePr>
          <p:cNvPr id="5" name="Table 4"/>
          <p:cNvGraphicFramePr>
            <a:graphicFrameLocks noGrp="1"/>
          </p:cNvGraphicFramePr>
          <p:nvPr/>
        </p:nvGraphicFramePr>
        <p:xfrm>
          <a:off x="274320" y="1097280"/>
          <a:ext cx="11640312" cy="5394960"/>
        </p:xfrm>
        <a:graphic>
          <a:graphicData uri="http://schemas.openxmlformats.org/drawingml/2006/table">
            <a:tbl>
              <a:tblPr firstRow="1" bandRow="1">
                <a:tableStyleId>{5C22544A-7EE6-4342-B048-85BDC9FD1C3A}</a:tableStyleId>
              </a:tblPr>
              <a:tblGrid>
                <a:gridCol w="2910078">
                  <a:extLst>
                    <a:ext uri="{9D8B030D-6E8A-4147-A177-3AD203B41FA5}">
                      <a16:colId xmlns:a16="http://schemas.microsoft.com/office/drawing/2014/main" val="20000"/>
                    </a:ext>
                  </a:extLst>
                </a:gridCol>
                <a:gridCol w="2910078">
                  <a:extLst>
                    <a:ext uri="{9D8B030D-6E8A-4147-A177-3AD203B41FA5}">
                      <a16:colId xmlns:a16="http://schemas.microsoft.com/office/drawing/2014/main" val="20001"/>
                    </a:ext>
                  </a:extLst>
                </a:gridCol>
                <a:gridCol w="2910078">
                  <a:extLst>
                    <a:ext uri="{9D8B030D-6E8A-4147-A177-3AD203B41FA5}">
                      <a16:colId xmlns:a16="http://schemas.microsoft.com/office/drawing/2014/main" val="20002"/>
                    </a:ext>
                  </a:extLst>
                </a:gridCol>
                <a:gridCol w="2910078">
                  <a:extLst>
                    <a:ext uri="{9D8B030D-6E8A-4147-A177-3AD203B41FA5}">
                      <a16:colId xmlns:a16="http://schemas.microsoft.com/office/drawing/2014/main" val="20003"/>
                    </a:ext>
                  </a:extLst>
                </a:gridCol>
              </a:tblGrid>
              <a:tr h="599440">
                <a:tc>
                  <a:txBody>
                    <a:bodyPr/>
                    <a:lstStyle/>
                    <a:p>
                      <a:pPr algn="ctr"/>
                      <a:r>
                        <a:rPr sz="1100" b="1">
                          <a:solidFill>
                            <a:srgbClr val="FFFFFF"/>
                          </a:solidFill>
                          <a:latin typeface="Times New Roman"/>
                        </a:rPr>
                        <a:t>Year</a:t>
                      </a:r>
                    </a:p>
                  </a:txBody>
                  <a:tcPr>
                    <a:solidFill>
                      <a:srgbClr val="1B5026"/>
                    </a:solidFill>
                  </a:tcPr>
                </a:tc>
                <a:tc>
                  <a:txBody>
                    <a:bodyPr/>
                    <a:lstStyle/>
                    <a:p>
                      <a:pPr algn="ctr"/>
                      <a:r>
                        <a:rPr sz="1100" b="1">
                          <a:solidFill>
                            <a:srgbClr val="FFFFFF"/>
                          </a:solidFill>
                          <a:latin typeface="Times New Roman"/>
                        </a:rPr>
                        <a:t>Authors / Work</a:t>
                      </a:r>
                    </a:p>
                  </a:txBody>
                  <a:tcPr>
                    <a:solidFill>
                      <a:srgbClr val="1B5026"/>
                    </a:solidFill>
                  </a:tcPr>
                </a:tc>
                <a:tc>
                  <a:txBody>
                    <a:bodyPr/>
                    <a:lstStyle/>
                    <a:p>
                      <a:pPr algn="ctr"/>
                      <a:r>
                        <a:rPr sz="1100" b="1">
                          <a:solidFill>
                            <a:srgbClr val="FFFFFF"/>
                          </a:solidFill>
                          <a:latin typeface="Times New Roman"/>
                        </a:rPr>
                        <a:t>Method Used</a:t>
                      </a:r>
                    </a:p>
                  </a:txBody>
                  <a:tcPr>
                    <a:solidFill>
                      <a:srgbClr val="1B5026"/>
                    </a:solidFill>
                  </a:tcPr>
                </a:tc>
                <a:tc>
                  <a:txBody>
                    <a:bodyPr/>
                    <a:lstStyle/>
                    <a:p>
                      <a:pPr algn="ctr"/>
                      <a:r>
                        <a:rPr sz="1100" b="1">
                          <a:solidFill>
                            <a:srgbClr val="FFFFFF"/>
                          </a:solidFill>
                          <a:latin typeface="Times New Roman"/>
                        </a:rPr>
                        <a:t>Key Finding / Limitation</a:t>
                      </a:r>
                    </a:p>
                  </a:txBody>
                  <a:tcPr>
                    <a:solidFill>
                      <a:srgbClr val="1B5026"/>
                    </a:solidFill>
                  </a:tcPr>
                </a:tc>
                <a:extLst>
                  <a:ext uri="{0D108BD9-81ED-4DB2-BD59-A6C34878D82A}">
                    <a16:rowId xmlns:a16="http://schemas.microsoft.com/office/drawing/2014/main" val="10000"/>
                  </a:ext>
                </a:extLst>
              </a:tr>
              <a:tr h="599440">
                <a:tc>
                  <a:txBody>
                    <a:bodyPr/>
                    <a:lstStyle/>
                    <a:p>
                      <a:pPr algn="ctr"/>
                      <a:r>
                        <a:rPr sz="1000">
                          <a:latin typeface="Times New Roman"/>
                        </a:rPr>
                        <a:t>2016</a:t>
                      </a:r>
                    </a:p>
                  </a:txBody>
                  <a:tcPr>
                    <a:solidFill>
                      <a:srgbClr val="D4EDD8"/>
                    </a:solidFill>
                  </a:tcPr>
                </a:tc>
                <a:tc>
                  <a:txBody>
                    <a:bodyPr/>
                    <a:lstStyle/>
                    <a:p>
                      <a:pPr algn="ctr"/>
                      <a:r>
                        <a:rPr sz="1000">
                          <a:latin typeface="Times New Roman"/>
                        </a:rPr>
                        <a:t>Pudumalar et al.</a:t>
                      </a:r>
                    </a:p>
                  </a:txBody>
                  <a:tcPr>
                    <a:solidFill>
                      <a:srgbClr val="D4EDD8"/>
                    </a:solidFill>
                  </a:tcPr>
                </a:tc>
                <a:tc>
                  <a:txBody>
                    <a:bodyPr/>
                    <a:lstStyle/>
                    <a:p>
                      <a:pPr algn="ctr"/>
                      <a:r>
                        <a:rPr sz="1000">
                          <a:latin typeface="Times New Roman"/>
                        </a:rPr>
                        <a:t>Ensemble (RF, NBayes, DT)</a:t>
                      </a:r>
                    </a:p>
                  </a:txBody>
                  <a:tcPr>
                    <a:solidFill>
                      <a:srgbClr val="D4EDD8"/>
                    </a:solidFill>
                  </a:tcPr>
                </a:tc>
                <a:tc>
                  <a:txBody>
                    <a:bodyPr/>
                    <a:lstStyle/>
                    <a:p>
                      <a:pPr algn="ctr"/>
                      <a:r>
                        <a:rPr sz="1000">
                          <a:latin typeface="Times New Roman"/>
                        </a:rPr>
                        <a:t>Improved accuracy over single classifiers; no XAI</a:t>
                      </a:r>
                    </a:p>
                  </a:txBody>
                  <a:tcPr>
                    <a:solidFill>
                      <a:srgbClr val="D4EDD8"/>
                    </a:solidFill>
                  </a:tcPr>
                </a:tc>
                <a:extLst>
                  <a:ext uri="{0D108BD9-81ED-4DB2-BD59-A6C34878D82A}">
                    <a16:rowId xmlns:a16="http://schemas.microsoft.com/office/drawing/2014/main" val="10001"/>
                  </a:ext>
                </a:extLst>
              </a:tr>
              <a:tr h="599440">
                <a:tc>
                  <a:txBody>
                    <a:bodyPr/>
                    <a:lstStyle/>
                    <a:p>
                      <a:pPr algn="ctr"/>
                      <a:r>
                        <a:rPr sz="1000">
                          <a:latin typeface="Times New Roman"/>
                        </a:rPr>
                        <a:t>2018</a:t>
                      </a:r>
                    </a:p>
                  </a:txBody>
                  <a:tcPr/>
                </a:tc>
                <a:tc>
                  <a:txBody>
                    <a:bodyPr/>
                    <a:lstStyle/>
                    <a:p>
                      <a:pPr algn="ctr"/>
                      <a:r>
                        <a:rPr sz="1000">
                          <a:latin typeface="Times New Roman"/>
                        </a:rPr>
                        <a:t>Ramesh et al.</a:t>
                      </a:r>
                    </a:p>
                  </a:txBody>
                  <a:tcPr/>
                </a:tc>
                <a:tc>
                  <a:txBody>
                    <a:bodyPr/>
                    <a:lstStyle/>
                    <a:p>
                      <a:pPr algn="ctr"/>
                      <a:r>
                        <a:rPr sz="1000">
                          <a:latin typeface="Times New Roman"/>
                        </a:rPr>
                        <a:t>SVM + KNN</a:t>
                      </a:r>
                    </a:p>
                  </a:txBody>
                  <a:tcPr/>
                </a:tc>
                <a:tc>
                  <a:txBody>
                    <a:bodyPr/>
                    <a:lstStyle/>
                    <a:p>
                      <a:pPr algn="ctr"/>
                      <a:r>
                        <a:rPr sz="1000">
                          <a:latin typeface="Times New Roman"/>
                        </a:rPr>
                        <a:t>Good performance on 7-feature benchmark; no uncertainty</a:t>
                      </a:r>
                    </a:p>
                  </a:txBody>
                  <a:tcPr/>
                </a:tc>
                <a:extLst>
                  <a:ext uri="{0D108BD9-81ED-4DB2-BD59-A6C34878D82A}">
                    <a16:rowId xmlns:a16="http://schemas.microsoft.com/office/drawing/2014/main" val="10002"/>
                  </a:ext>
                </a:extLst>
              </a:tr>
              <a:tr h="599440">
                <a:tc>
                  <a:txBody>
                    <a:bodyPr/>
                    <a:lstStyle/>
                    <a:p>
                      <a:pPr algn="ctr"/>
                      <a:r>
                        <a:rPr sz="1000">
                          <a:latin typeface="Times New Roman"/>
                        </a:rPr>
                        <a:t>2019</a:t>
                      </a:r>
                    </a:p>
                  </a:txBody>
                  <a:tcPr>
                    <a:solidFill>
                      <a:srgbClr val="D4EDD8"/>
                    </a:solidFill>
                  </a:tcPr>
                </a:tc>
                <a:tc>
                  <a:txBody>
                    <a:bodyPr/>
                    <a:lstStyle/>
                    <a:p>
                      <a:pPr algn="ctr"/>
                      <a:r>
                        <a:rPr sz="1000">
                          <a:latin typeface="Times New Roman"/>
                        </a:rPr>
                        <a:t>Mucherino et al.</a:t>
                      </a:r>
                    </a:p>
                  </a:txBody>
                  <a:tcPr>
                    <a:solidFill>
                      <a:srgbClr val="D4EDD8"/>
                    </a:solidFill>
                  </a:tcPr>
                </a:tc>
                <a:tc>
                  <a:txBody>
                    <a:bodyPr/>
                    <a:lstStyle/>
                    <a:p>
                      <a:pPr algn="ctr"/>
                      <a:r>
                        <a:rPr sz="1000">
                          <a:latin typeface="Times New Roman"/>
                        </a:rPr>
                        <a:t>KNN spatial</a:t>
                      </a:r>
                    </a:p>
                  </a:txBody>
                  <a:tcPr>
                    <a:solidFill>
                      <a:srgbClr val="D4EDD8"/>
                    </a:solidFill>
                  </a:tcPr>
                </a:tc>
                <a:tc>
                  <a:txBody>
                    <a:bodyPr/>
                    <a:lstStyle/>
                    <a:p>
                      <a:pPr algn="ctr"/>
                      <a:r>
                        <a:rPr sz="1000">
                          <a:latin typeface="Times New Roman"/>
                        </a:rPr>
                        <a:t>Geographic context added; no deep learning</a:t>
                      </a:r>
                    </a:p>
                  </a:txBody>
                  <a:tcPr>
                    <a:solidFill>
                      <a:srgbClr val="D4EDD8"/>
                    </a:solidFill>
                  </a:tcPr>
                </a:tc>
                <a:extLst>
                  <a:ext uri="{0D108BD9-81ED-4DB2-BD59-A6C34878D82A}">
                    <a16:rowId xmlns:a16="http://schemas.microsoft.com/office/drawing/2014/main" val="10003"/>
                  </a:ext>
                </a:extLst>
              </a:tr>
              <a:tr h="599440">
                <a:tc>
                  <a:txBody>
                    <a:bodyPr/>
                    <a:lstStyle/>
                    <a:p>
                      <a:pPr algn="ctr"/>
                      <a:r>
                        <a:rPr sz="1000">
                          <a:latin typeface="Times New Roman"/>
                        </a:rPr>
                        <a:t>2021</a:t>
                      </a:r>
                    </a:p>
                  </a:txBody>
                  <a:tcPr/>
                </a:tc>
                <a:tc>
                  <a:txBody>
                    <a:bodyPr/>
                    <a:lstStyle/>
                    <a:p>
                      <a:pPr algn="ctr"/>
                      <a:r>
                        <a:rPr sz="1000">
                          <a:latin typeface="Times New Roman"/>
                        </a:rPr>
                        <a:t>Sharma et al.</a:t>
                      </a:r>
                    </a:p>
                  </a:txBody>
                  <a:tcPr/>
                </a:tc>
                <a:tc>
                  <a:txBody>
                    <a:bodyPr/>
                    <a:lstStyle/>
                    <a:p>
                      <a:pPr algn="ctr"/>
                      <a:r>
                        <a:rPr sz="1000">
                          <a:latin typeface="Times New Roman"/>
                        </a:rPr>
                        <a:t>CNN-LSTM</a:t>
                      </a:r>
                    </a:p>
                  </a:txBody>
                  <a:tcPr/>
                </a:tc>
                <a:tc>
                  <a:txBody>
                    <a:bodyPr/>
                    <a:lstStyle/>
                    <a:p>
                      <a:pPr algn="ctr"/>
                      <a:r>
                        <a:rPr sz="1000">
                          <a:latin typeface="Times New Roman"/>
                        </a:rPr>
                        <a:t>Deep temporal features; high training cost</a:t>
                      </a:r>
                    </a:p>
                  </a:txBody>
                  <a:tcPr/>
                </a:tc>
                <a:extLst>
                  <a:ext uri="{0D108BD9-81ED-4DB2-BD59-A6C34878D82A}">
                    <a16:rowId xmlns:a16="http://schemas.microsoft.com/office/drawing/2014/main" val="10004"/>
                  </a:ext>
                </a:extLst>
              </a:tr>
              <a:tr h="599440">
                <a:tc>
                  <a:txBody>
                    <a:bodyPr/>
                    <a:lstStyle/>
                    <a:p>
                      <a:pPr algn="ctr"/>
                      <a:r>
                        <a:rPr sz="1000">
                          <a:latin typeface="Times New Roman"/>
                        </a:rPr>
                        <a:t>2022</a:t>
                      </a:r>
                    </a:p>
                  </a:txBody>
                  <a:tcPr>
                    <a:solidFill>
                      <a:srgbClr val="D4EDD8"/>
                    </a:solidFill>
                  </a:tcPr>
                </a:tc>
                <a:tc>
                  <a:txBody>
                    <a:bodyPr/>
                    <a:lstStyle/>
                    <a:p>
                      <a:pPr algn="ctr"/>
                      <a:r>
                        <a:rPr sz="1000">
                          <a:latin typeface="Times New Roman"/>
                        </a:rPr>
                        <a:t>Rustam et al.</a:t>
                      </a:r>
                    </a:p>
                  </a:txBody>
                  <a:tcPr>
                    <a:solidFill>
                      <a:srgbClr val="D4EDD8"/>
                    </a:solidFill>
                  </a:tcPr>
                </a:tc>
                <a:tc>
                  <a:txBody>
                    <a:bodyPr/>
                    <a:lstStyle/>
                    <a:p>
                      <a:pPr algn="ctr"/>
                      <a:r>
                        <a:rPr sz="1000">
                          <a:latin typeface="Times New Roman"/>
                        </a:rPr>
                        <a:t>XGBoost + SHAP</a:t>
                      </a:r>
                    </a:p>
                  </a:txBody>
                  <a:tcPr>
                    <a:solidFill>
                      <a:srgbClr val="D4EDD8"/>
                    </a:solidFill>
                  </a:tcPr>
                </a:tc>
                <a:tc>
                  <a:txBody>
                    <a:bodyPr/>
                    <a:lstStyle/>
                    <a:p>
                      <a:pPr algn="ctr"/>
                      <a:r>
                        <a:rPr sz="1000">
                          <a:latin typeface="Times New Roman"/>
                        </a:rPr>
                        <a:t>XAI introduced; single explainability layer only</a:t>
                      </a:r>
                    </a:p>
                  </a:txBody>
                  <a:tcPr>
                    <a:solidFill>
                      <a:srgbClr val="D4EDD8"/>
                    </a:solidFill>
                  </a:tcPr>
                </a:tc>
                <a:extLst>
                  <a:ext uri="{0D108BD9-81ED-4DB2-BD59-A6C34878D82A}">
                    <a16:rowId xmlns:a16="http://schemas.microsoft.com/office/drawing/2014/main" val="10005"/>
                  </a:ext>
                </a:extLst>
              </a:tr>
              <a:tr h="599440">
                <a:tc>
                  <a:txBody>
                    <a:bodyPr/>
                    <a:lstStyle/>
                    <a:p>
                      <a:pPr algn="ctr"/>
                      <a:r>
                        <a:rPr sz="1000">
                          <a:latin typeface="Times New Roman"/>
                        </a:rPr>
                        <a:t>2023</a:t>
                      </a:r>
                    </a:p>
                  </a:txBody>
                  <a:tcPr/>
                </a:tc>
                <a:tc>
                  <a:txBody>
                    <a:bodyPr/>
                    <a:lstStyle/>
                    <a:p>
                      <a:pPr algn="ctr"/>
                      <a:r>
                        <a:rPr sz="1000">
                          <a:latin typeface="Times New Roman"/>
                        </a:rPr>
                        <a:t>Ali et al.</a:t>
                      </a:r>
                    </a:p>
                  </a:txBody>
                  <a:tcPr/>
                </a:tc>
                <a:tc>
                  <a:txBody>
                    <a:bodyPr/>
                    <a:lstStyle/>
                    <a:p>
                      <a:pPr algn="ctr"/>
                      <a:r>
                        <a:rPr sz="1000">
                          <a:latin typeface="Times New Roman"/>
                        </a:rPr>
                        <a:t>Federated + RF</a:t>
                      </a:r>
                    </a:p>
                  </a:txBody>
                  <a:tcPr/>
                </a:tc>
                <a:tc>
                  <a:txBody>
                    <a:bodyPr/>
                    <a:lstStyle/>
                    <a:p>
                      <a:pPr algn="ctr"/>
                      <a:r>
                        <a:rPr sz="1000">
                          <a:latin typeface="Times New Roman"/>
                        </a:rPr>
                        <a:t>Privacy-preserving; no explainability suite</a:t>
                      </a:r>
                    </a:p>
                  </a:txBody>
                  <a:tcPr/>
                </a:tc>
                <a:extLst>
                  <a:ext uri="{0D108BD9-81ED-4DB2-BD59-A6C34878D82A}">
                    <a16:rowId xmlns:a16="http://schemas.microsoft.com/office/drawing/2014/main" val="10006"/>
                  </a:ext>
                </a:extLst>
              </a:tr>
              <a:tr h="599440">
                <a:tc>
                  <a:txBody>
                    <a:bodyPr/>
                    <a:lstStyle/>
                    <a:p>
                      <a:pPr algn="ctr"/>
                      <a:r>
                        <a:rPr sz="1000">
                          <a:latin typeface="Times New Roman"/>
                        </a:rPr>
                        <a:t>2024</a:t>
                      </a:r>
                    </a:p>
                  </a:txBody>
                  <a:tcPr>
                    <a:solidFill>
                      <a:srgbClr val="D4EDD8"/>
                    </a:solidFill>
                  </a:tcPr>
                </a:tc>
                <a:tc>
                  <a:txBody>
                    <a:bodyPr/>
                    <a:lstStyle/>
                    <a:p>
                      <a:pPr algn="ctr"/>
                      <a:r>
                        <a:rPr sz="1000">
                          <a:latin typeface="Times New Roman"/>
                        </a:rPr>
                        <a:t>Chen et al.</a:t>
                      </a:r>
                    </a:p>
                  </a:txBody>
                  <a:tcPr>
                    <a:solidFill>
                      <a:srgbClr val="D4EDD8"/>
                    </a:solidFill>
                  </a:tcPr>
                </a:tc>
                <a:tc>
                  <a:txBody>
                    <a:bodyPr/>
                    <a:lstStyle/>
                    <a:p>
                      <a:pPr algn="ctr"/>
                      <a:r>
                        <a:rPr sz="1000">
                          <a:latin typeface="Times New Roman"/>
                        </a:rPr>
                        <a:t>Transformer + LIME</a:t>
                      </a:r>
                    </a:p>
                  </a:txBody>
                  <a:tcPr>
                    <a:solidFill>
                      <a:srgbClr val="D4EDD8"/>
                    </a:solidFill>
                  </a:tcPr>
                </a:tc>
                <a:tc>
                  <a:txBody>
                    <a:bodyPr/>
                    <a:lstStyle/>
                    <a:p>
                      <a:pPr algn="ctr"/>
                      <a:r>
                        <a:rPr sz="1000">
                          <a:latin typeface="Times New Roman"/>
                        </a:rPr>
                        <a:t>SOTA accuracy; no counterfactual explanations</a:t>
                      </a:r>
                    </a:p>
                  </a:txBody>
                  <a:tcPr>
                    <a:solidFill>
                      <a:srgbClr val="D4EDD8"/>
                    </a:solidFill>
                  </a:tcPr>
                </a:tc>
                <a:extLst>
                  <a:ext uri="{0D108BD9-81ED-4DB2-BD59-A6C34878D82A}">
                    <a16:rowId xmlns:a16="http://schemas.microsoft.com/office/drawing/2014/main" val="10007"/>
                  </a:ext>
                </a:extLst>
              </a:tr>
              <a:tr h="599440">
                <a:tc>
                  <a:txBody>
                    <a:bodyPr/>
                    <a:lstStyle/>
                    <a:p>
                      <a:pPr algn="ctr"/>
                      <a:r>
                        <a:rPr sz="1000">
                          <a:latin typeface="Times New Roman"/>
                        </a:rPr>
                        <a:t>2026</a:t>
                      </a:r>
                    </a:p>
                  </a:txBody>
                  <a:tcPr/>
                </a:tc>
                <a:tc>
                  <a:txBody>
                    <a:bodyPr/>
                    <a:lstStyle/>
                    <a:p>
                      <a:pPr algn="ctr"/>
                      <a:r>
                        <a:rPr sz="1000">
                          <a:latin typeface="Times New Roman"/>
                        </a:rPr>
                        <a:t>ACRS (Proposed)</a:t>
                      </a:r>
                    </a:p>
                  </a:txBody>
                  <a:tcPr/>
                </a:tc>
                <a:tc>
                  <a:txBody>
                    <a:bodyPr/>
                    <a:lstStyle/>
                    <a:p>
                      <a:pPr algn="ctr"/>
                      <a:r>
                        <a:rPr sz="1000">
                          <a:latin typeface="Times New Roman"/>
                        </a:rPr>
                        <a:t>Stacked Ensemble + SHAP+LIME+DiCE</a:t>
                      </a:r>
                    </a:p>
                  </a:txBody>
                  <a:tcPr/>
                </a:tc>
                <a:tc>
                  <a:txBody>
                    <a:bodyPr/>
                    <a:lstStyle/>
                    <a:p>
                      <a:pPr algn="ctr"/>
                      <a:r>
                        <a:rPr sz="1000">
                          <a:latin typeface="Times New Roman"/>
                        </a:rPr>
                        <a:t>12-feature, Triple-XAI, MC-Dropout — Novel</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Tools &amp; Technologies Used</a:t>
            </a:r>
          </a:p>
        </p:txBody>
      </p:sp>
      <p:sp>
        <p:nvSpPr>
          <p:cNvPr id="5" name="Rectangle 4"/>
          <p:cNvSpPr/>
          <p:nvPr/>
        </p:nvSpPr>
        <p:spPr>
          <a:xfrm>
            <a:off x="274320" y="109728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09728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43000"/>
            <a:ext cx="3474720" cy="347472"/>
          </a:xfrm>
          <a:prstGeom prst="rect">
            <a:avLst/>
          </a:prstGeom>
          <a:noFill/>
        </p:spPr>
        <p:txBody>
          <a:bodyPr wrap="square">
            <a:spAutoFit/>
          </a:bodyPr>
          <a:lstStyle/>
          <a:p>
            <a:pPr algn="l"/>
            <a:r>
              <a:rPr sz="1300" b="1" i="0">
                <a:solidFill>
                  <a:srgbClr val="FFFFFF"/>
                </a:solidFill>
                <a:latin typeface="Times New Roman"/>
              </a:rPr>
              <a:t>Programming &amp; IDE</a:t>
            </a:r>
          </a:p>
        </p:txBody>
      </p:sp>
      <p:sp>
        <p:nvSpPr>
          <p:cNvPr id="8" name="TextBox 7"/>
          <p:cNvSpPr txBox="1"/>
          <p:nvPr/>
        </p:nvSpPr>
        <p:spPr>
          <a:xfrm>
            <a:off x="365760" y="1554480"/>
            <a:ext cx="3474720" cy="502920"/>
          </a:xfrm>
          <a:prstGeom prst="rect">
            <a:avLst/>
          </a:prstGeom>
          <a:noFill/>
        </p:spPr>
        <p:txBody>
          <a:bodyPr wrap="square">
            <a:spAutoFit/>
          </a:bodyPr>
          <a:lstStyle/>
          <a:p>
            <a:pPr algn="l"/>
            <a:r>
              <a:rPr sz="1200" b="0" i="0">
                <a:solidFill>
                  <a:srgbClr val="1A1A2E"/>
                </a:solidFill>
                <a:latin typeface="Times New Roman"/>
              </a:rPr>
              <a:t>  •  Python 3.9–3.12  (primary language)</a:t>
            </a:r>
          </a:p>
        </p:txBody>
      </p:sp>
      <p:sp>
        <p:nvSpPr>
          <p:cNvPr id="9" name="TextBox 8"/>
          <p:cNvSpPr txBox="1"/>
          <p:nvPr/>
        </p:nvSpPr>
        <p:spPr>
          <a:xfrm>
            <a:off x="365760" y="2103120"/>
            <a:ext cx="3474720" cy="502920"/>
          </a:xfrm>
          <a:prstGeom prst="rect">
            <a:avLst/>
          </a:prstGeom>
          <a:noFill/>
        </p:spPr>
        <p:txBody>
          <a:bodyPr wrap="square">
            <a:spAutoFit/>
          </a:bodyPr>
          <a:lstStyle/>
          <a:p>
            <a:pPr algn="l"/>
            <a:r>
              <a:rPr sz="1200" b="0" i="0">
                <a:solidFill>
                  <a:srgbClr val="1A1A2E"/>
                </a:solidFill>
                <a:latin typeface="Times New Roman"/>
              </a:rPr>
              <a:t>  •  Visual Studio Code  (editor)</a:t>
            </a:r>
          </a:p>
        </p:txBody>
      </p:sp>
      <p:sp>
        <p:nvSpPr>
          <p:cNvPr id="10" name="TextBox 9"/>
          <p:cNvSpPr txBox="1"/>
          <p:nvPr/>
        </p:nvSpPr>
        <p:spPr>
          <a:xfrm>
            <a:off x="365760" y="2651760"/>
            <a:ext cx="3474720" cy="502920"/>
          </a:xfrm>
          <a:prstGeom prst="rect">
            <a:avLst/>
          </a:prstGeom>
          <a:noFill/>
        </p:spPr>
        <p:txBody>
          <a:bodyPr wrap="square">
            <a:spAutoFit/>
          </a:bodyPr>
          <a:lstStyle/>
          <a:p>
            <a:pPr algn="l"/>
            <a:r>
              <a:rPr sz="1200" b="0" i="0">
                <a:solidFill>
                  <a:srgbClr val="1A1A2E"/>
                </a:solidFill>
                <a:latin typeface="Times New Roman"/>
              </a:rPr>
              <a:t>  •  Jupyter Notebook / Google Colab</a:t>
            </a:r>
          </a:p>
        </p:txBody>
      </p:sp>
      <p:sp>
        <p:nvSpPr>
          <p:cNvPr id="11" name="Rectangle 10"/>
          <p:cNvSpPr/>
          <p:nvPr/>
        </p:nvSpPr>
        <p:spPr>
          <a:xfrm>
            <a:off x="4251960" y="109728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09728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143000"/>
            <a:ext cx="3474720" cy="347472"/>
          </a:xfrm>
          <a:prstGeom prst="rect">
            <a:avLst/>
          </a:prstGeom>
          <a:noFill/>
        </p:spPr>
        <p:txBody>
          <a:bodyPr wrap="square">
            <a:spAutoFit/>
          </a:bodyPr>
          <a:lstStyle/>
          <a:p>
            <a:pPr algn="l"/>
            <a:r>
              <a:rPr sz="1300" b="1" i="0">
                <a:solidFill>
                  <a:srgbClr val="FFFFFF"/>
                </a:solidFill>
                <a:latin typeface="Times New Roman"/>
              </a:rPr>
              <a:t>Data Processing</a:t>
            </a:r>
          </a:p>
        </p:txBody>
      </p:sp>
      <p:sp>
        <p:nvSpPr>
          <p:cNvPr id="14" name="TextBox 13"/>
          <p:cNvSpPr txBox="1"/>
          <p:nvPr/>
        </p:nvSpPr>
        <p:spPr>
          <a:xfrm>
            <a:off x="4343400" y="1554480"/>
            <a:ext cx="3474720" cy="502920"/>
          </a:xfrm>
          <a:prstGeom prst="rect">
            <a:avLst/>
          </a:prstGeom>
          <a:noFill/>
        </p:spPr>
        <p:txBody>
          <a:bodyPr wrap="square">
            <a:spAutoFit/>
          </a:bodyPr>
          <a:lstStyle/>
          <a:p>
            <a:pPr algn="l"/>
            <a:r>
              <a:rPr sz="1200" b="0" i="0">
                <a:solidFill>
                  <a:srgbClr val="1A1A2E"/>
                </a:solidFill>
                <a:latin typeface="Times New Roman"/>
              </a:rPr>
              <a:t>  •  NumPy, Pandas  (data handling)</a:t>
            </a:r>
          </a:p>
        </p:txBody>
      </p:sp>
      <p:sp>
        <p:nvSpPr>
          <p:cNvPr id="15" name="TextBox 14"/>
          <p:cNvSpPr txBox="1"/>
          <p:nvPr/>
        </p:nvSpPr>
        <p:spPr>
          <a:xfrm>
            <a:off x="4343400" y="2103120"/>
            <a:ext cx="3474720" cy="502920"/>
          </a:xfrm>
          <a:prstGeom prst="rect">
            <a:avLst/>
          </a:prstGeom>
          <a:noFill/>
        </p:spPr>
        <p:txBody>
          <a:bodyPr wrap="square">
            <a:spAutoFit/>
          </a:bodyPr>
          <a:lstStyle/>
          <a:p>
            <a:pPr algn="l"/>
            <a:r>
              <a:rPr sz="1200" b="0" i="0">
                <a:solidFill>
                  <a:srgbClr val="1A1A2E"/>
                </a:solidFill>
                <a:latin typeface="Times New Roman"/>
              </a:rPr>
              <a:t>  •  Scikit-learn  (ML algorithms, preprocessing)</a:t>
            </a:r>
          </a:p>
        </p:txBody>
      </p:sp>
      <p:sp>
        <p:nvSpPr>
          <p:cNvPr id="16" name="TextBox 15"/>
          <p:cNvSpPr txBox="1"/>
          <p:nvPr/>
        </p:nvSpPr>
        <p:spPr>
          <a:xfrm>
            <a:off x="4343400" y="2651760"/>
            <a:ext cx="3474720" cy="502920"/>
          </a:xfrm>
          <a:prstGeom prst="rect">
            <a:avLst/>
          </a:prstGeom>
          <a:noFill/>
        </p:spPr>
        <p:txBody>
          <a:bodyPr wrap="square">
            <a:spAutoFit/>
          </a:bodyPr>
          <a:lstStyle/>
          <a:p>
            <a:pPr algn="l"/>
            <a:r>
              <a:rPr sz="1200" b="0" i="0">
                <a:solidFill>
                  <a:srgbClr val="1A1A2E"/>
                </a:solidFill>
                <a:latin typeface="Times New Roman"/>
              </a:rPr>
              <a:t>  •  Imbalanced-learn  (SMOTE-Tomek)</a:t>
            </a:r>
          </a:p>
        </p:txBody>
      </p:sp>
      <p:sp>
        <p:nvSpPr>
          <p:cNvPr id="17" name="Rectangle 16"/>
          <p:cNvSpPr/>
          <p:nvPr/>
        </p:nvSpPr>
        <p:spPr>
          <a:xfrm>
            <a:off x="8229600" y="109728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0" y="109728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143000"/>
            <a:ext cx="3474720" cy="347472"/>
          </a:xfrm>
          <a:prstGeom prst="rect">
            <a:avLst/>
          </a:prstGeom>
          <a:noFill/>
        </p:spPr>
        <p:txBody>
          <a:bodyPr wrap="square">
            <a:spAutoFit/>
          </a:bodyPr>
          <a:lstStyle/>
          <a:p>
            <a:pPr algn="l"/>
            <a:r>
              <a:rPr sz="1300" b="1" i="0">
                <a:solidFill>
                  <a:srgbClr val="FFFFFF"/>
                </a:solidFill>
                <a:latin typeface="Times New Roman"/>
              </a:rPr>
              <a:t>Deep Learning</a:t>
            </a:r>
          </a:p>
        </p:txBody>
      </p:sp>
      <p:sp>
        <p:nvSpPr>
          <p:cNvPr id="20" name="TextBox 19"/>
          <p:cNvSpPr txBox="1"/>
          <p:nvPr/>
        </p:nvSpPr>
        <p:spPr>
          <a:xfrm>
            <a:off x="8321040" y="1554480"/>
            <a:ext cx="3474720" cy="502920"/>
          </a:xfrm>
          <a:prstGeom prst="rect">
            <a:avLst/>
          </a:prstGeom>
          <a:noFill/>
        </p:spPr>
        <p:txBody>
          <a:bodyPr wrap="square">
            <a:spAutoFit/>
          </a:bodyPr>
          <a:lstStyle/>
          <a:p>
            <a:pPr algn="l"/>
            <a:r>
              <a:rPr sz="1200" b="0" i="0">
                <a:solidFill>
                  <a:srgbClr val="1A1A2E"/>
                </a:solidFill>
                <a:latin typeface="Times New Roman"/>
              </a:rPr>
              <a:t>  •  TensorFlow / Keras  (CNN-BiLSTM)</a:t>
            </a:r>
          </a:p>
        </p:txBody>
      </p:sp>
      <p:sp>
        <p:nvSpPr>
          <p:cNvPr id="21" name="TextBox 20"/>
          <p:cNvSpPr txBox="1"/>
          <p:nvPr/>
        </p:nvSpPr>
        <p:spPr>
          <a:xfrm>
            <a:off x="8321040" y="2103120"/>
            <a:ext cx="3474720" cy="502920"/>
          </a:xfrm>
          <a:prstGeom prst="rect">
            <a:avLst/>
          </a:prstGeom>
          <a:noFill/>
        </p:spPr>
        <p:txBody>
          <a:bodyPr wrap="square">
            <a:spAutoFit/>
          </a:bodyPr>
          <a:lstStyle/>
          <a:p>
            <a:pPr algn="l"/>
            <a:r>
              <a:rPr sz="1200" b="0" i="0">
                <a:solidFill>
                  <a:srgbClr val="1A1A2E"/>
                </a:solidFill>
                <a:latin typeface="Times New Roman"/>
              </a:rPr>
              <a:t>  •  MLP Meta-Learner  (scikit-learn)</a:t>
            </a:r>
          </a:p>
        </p:txBody>
      </p:sp>
      <p:sp>
        <p:nvSpPr>
          <p:cNvPr id="22" name="TextBox 21"/>
          <p:cNvSpPr txBox="1"/>
          <p:nvPr/>
        </p:nvSpPr>
        <p:spPr>
          <a:xfrm>
            <a:off x="8321040" y="2651760"/>
            <a:ext cx="3474720" cy="502920"/>
          </a:xfrm>
          <a:prstGeom prst="rect">
            <a:avLst/>
          </a:prstGeom>
          <a:noFill/>
        </p:spPr>
        <p:txBody>
          <a:bodyPr wrap="square">
            <a:spAutoFit/>
          </a:bodyPr>
          <a:lstStyle/>
          <a:p>
            <a:pPr algn="l"/>
            <a:r>
              <a:rPr sz="1200" b="0" i="0">
                <a:solidFill>
                  <a:srgbClr val="1A1A2E"/>
                </a:solidFill>
                <a:latin typeface="Times New Roman"/>
              </a:rPr>
              <a:t>  •  MC-Dropout inference</a:t>
            </a:r>
          </a:p>
        </p:txBody>
      </p:sp>
      <p:sp>
        <p:nvSpPr>
          <p:cNvPr id="23" name="Rectangle 22"/>
          <p:cNvSpPr/>
          <p:nvPr/>
        </p:nvSpPr>
        <p:spPr>
          <a:xfrm>
            <a:off x="274320" y="352044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52044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3566160"/>
            <a:ext cx="3474720" cy="347472"/>
          </a:xfrm>
          <a:prstGeom prst="rect">
            <a:avLst/>
          </a:prstGeom>
          <a:noFill/>
        </p:spPr>
        <p:txBody>
          <a:bodyPr wrap="square">
            <a:spAutoFit/>
          </a:bodyPr>
          <a:lstStyle/>
          <a:p>
            <a:pPr algn="l"/>
            <a:r>
              <a:rPr sz="1300" b="1" i="0">
                <a:solidFill>
                  <a:srgbClr val="FFFFFF"/>
                </a:solidFill>
                <a:latin typeface="Times New Roman"/>
              </a:rPr>
              <a:t>ML Algorithms</a:t>
            </a:r>
          </a:p>
        </p:txBody>
      </p:sp>
      <p:sp>
        <p:nvSpPr>
          <p:cNvPr id="26" name="TextBox 25"/>
          <p:cNvSpPr txBox="1"/>
          <p:nvPr/>
        </p:nvSpPr>
        <p:spPr>
          <a:xfrm>
            <a:off x="365760" y="3977639"/>
            <a:ext cx="3474720" cy="502920"/>
          </a:xfrm>
          <a:prstGeom prst="rect">
            <a:avLst/>
          </a:prstGeom>
          <a:noFill/>
        </p:spPr>
        <p:txBody>
          <a:bodyPr wrap="square">
            <a:spAutoFit/>
          </a:bodyPr>
          <a:lstStyle/>
          <a:p>
            <a:pPr algn="l"/>
            <a:r>
              <a:rPr sz="1200" b="0" i="0">
                <a:solidFill>
                  <a:srgbClr val="1A1A2E"/>
                </a:solidFill>
                <a:latin typeface="Times New Roman"/>
              </a:rPr>
              <a:t>  •  Random Forest, XGBoost, LightGBM</a:t>
            </a:r>
          </a:p>
        </p:txBody>
      </p:sp>
      <p:sp>
        <p:nvSpPr>
          <p:cNvPr id="27" name="TextBox 26"/>
          <p:cNvSpPr txBox="1"/>
          <p:nvPr/>
        </p:nvSpPr>
        <p:spPr>
          <a:xfrm>
            <a:off x="365760" y="4526279"/>
            <a:ext cx="3474720" cy="502920"/>
          </a:xfrm>
          <a:prstGeom prst="rect">
            <a:avLst/>
          </a:prstGeom>
          <a:noFill/>
        </p:spPr>
        <p:txBody>
          <a:bodyPr wrap="square">
            <a:spAutoFit/>
          </a:bodyPr>
          <a:lstStyle/>
          <a:p>
            <a:pPr algn="l"/>
            <a:r>
              <a:rPr sz="1200" b="0" i="0">
                <a:solidFill>
                  <a:srgbClr val="1A1A2E"/>
                </a:solidFill>
                <a:latin typeface="Times New Roman"/>
              </a:rPr>
              <a:t>  •  SVM, KNN, Naïve Bayes, Decision Tree</a:t>
            </a:r>
          </a:p>
        </p:txBody>
      </p:sp>
      <p:sp>
        <p:nvSpPr>
          <p:cNvPr id="28" name="TextBox 27"/>
          <p:cNvSpPr txBox="1"/>
          <p:nvPr/>
        </p:nvSpPr>
        <p:spPr>
          <a:xfrm>
            <a:off x="365760" y="5074920"/>
            <a:ext cx="3474720" cy="502920"/>
          </a:xfrm>
          <a:prstGeom prst="rect">
            <a:avLst/>
          </a:prstGeom>
          <a:noFill/>
        </p:spPr>
        <p:txBody>
          <a:bodyPr wrap="square">
            <a:spAutoFit/>
          </a:bodyPr>
          <a:lstStyle/>
          <a:p>
            <a:pPr algn="l"/>
            <a:r>
              <a:rPr sz="1200" b="0" i="0">
                <a:solidFill>
                  <a:srgbClr val="1A1A2E"/>
                </a:solidFill>
                <a:latin typeface="Times New Roman"/>
              </a:rPr>
              <a:t>  •  Stacked Ensemble with MLP</a:t>
            </a:r>
          </a:p>
        </p:txBody>
      </p:sp>
      <p:sp>
        <p:nvSpPr>
          <p:cNvPr id="29" name="Rectangle 28"/>
          <p:cNvSpPr/>
          <p:nvPr/>
        </p:nvSpPr>
        <p:spPr>
          <a:xfrm>
            <a:off x="4251960" y="352044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51960" y="352044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43400" y="3566160"/>
            <a:ext cx="3474720" cy="347472"/>
          </a:xfrm>
          <a:prstGeom prst="rect">
            <a:avLst/>
          </a:prstGeom>
          <a:noFill/>
        </p:spPr>
        <p:txBody>
          <a:bodyPr wrap="square">
            <a:spAutoFit/>
          </a:bodyPr>
          <a:lstStyle/>
          <a:p>
            <a:pPr algn="l"/>
            <a:r>
              <a:rPr sz="1300" b="1" i="0">
                <a:solidFill>
                  <a:srgbClr val="FFFFFF"/>
                </a:solidFill>
                <a:latin typeface="Times New Roman"/>
              </a:rPr>
              <a:t>Explainable AI</a:t>
            </a:r>
          </a:p>
        </p:txBody>
      </p:sp>
      <p:sp>
        <p:nvSpPr>
          <p:cNvPr id="32" name="TextBox 31"/>
          <p:cNvSpPr txBox="1"/>
          <p:nvPr/>
        </p:nvSpPr>
        <p:spPr>
          <a:xfrm>
            <a:off x="4343400" y="3977639"/>
            <a:ext cx="3474720" cy="502920"/>
          </a:xfrm>
          <a:prstGeom prst="rect">
            <a:avLst/>
          </a:prstGeom>
          <a:noFill/>
        </p:spPr>
        <p:txBody>
          <a:bodyPr wrap="square">
            <a:spAutoFit/>
          </a:bodyPr>
          <a:lstStyle/>
          <a:p>
            <a:pPr algn="l"/>
            <a:r>
              <a:rPr sz="1200" b="0" i="0">
                <a:solidFill>
                  <a:srgbClr val="1A1A2E"/>
                </a:solidFill>
                <a:latin typeface="Times New Roman"/>
              </a:rPr>
              <a:t>  •  SHAP  (global &amp; local explanations)</a:t>
            </a:r>
          </a:p>
        </p:txBody>
      </p:sp>
      <p:sp>
        <p:nvSpPr>
          <p:cNvPr id="33" name="TextBox 32"/>
          <p:cNvSpPr txBox="1"/>
          <p:nvPr/>
        </p:nvSpPr>
        <p:spPr>
          <a:xfrm>
            <a:off x="4343400" y="4526279"/>
            <a:ext cx="3474720" cy="502920"/>
          </a:xfrm>
          <a:prstGeom prst="rect">
            <a:avLst/>
          </a:prstGeom>
          <a:noFill/>
        </p:spPr>
        <p:txBody>
          <a:bodyPr wrap="square">
            <a:spAutoFit/>
          </a:bodyPr>
          <a:lstStyle/>
          <a:p>
            <a:pPr algn="l"/>
            <a:r>
              <a:rPr sz="1200" b="0" i="0">
                <a:solidFill>
                  <a:srgbClr val="1A1A2E"/>
                </a:solidFill>
                <a:latin typeface="Times New Roman"/>
              </a:rPr>
              <a:t>  •  LIME  (local surrogate models)</a:t>
            </a:r>
          </a:p>
        </p:txBody>
      </p:sp>
      <p:sp>
        <p:nvSpPr>
          <p:cNvPr id="34" name="TextBox 33"/>
          <p:cNvSpPr txBox="1"/>
          <p:nvPr/>
        </p:nvSpPr>
        <p:spPr>
          <a:xfrm>
            <a:off x="4343400" y="5074920"/>
            <a:ext cx="3474720" cy="502920"/>
          </a:xfrm>
          <a:prstGeom prst="rect">
            <a:avLst/>
          </a:prstGeom>
          <a:noFill/>
        </p:spPr>
        <p:txBody>
          <a:bodyPr wrap="square">
            <a:spAutoFit/>
          </a:bodyPr>
          <a:lstStyle/>
          <a:p>
            <a:pPr algn="l"/>
            <a:r>
              <a:rPr sz="1200" b="0" i="0">
                <a:solidFill>
                  <a:srgbClr val="1A1A2E"/>
                </a:solidFill>
                <a:latin typeface="Times New Roman"/>
              </a:rPr>
              <a:t>  •  DiCE-ML  (counterfactual explanations)</a:t>
            </a:r>
          </a:p>
        </p:txBody>
      </p:sp>
      <p:sp>
        <p:nvSpPr>
          <p:cNvPr id="35" name="Rectangle 34"/>
          <p:cNvSpPr/>
          <p:nvPr/>
        </p:nvSpPr>
        <p:spPr>
          <a:xfrm>
            <a:off x="8229600" y="3520440"/>
            <a:ext cx="365760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29600" y="3520440"/>
            <a:ext cx="36576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21040" y="3566160"/>
            <a:ext cx="3474720" cy="347472"/>
          </a:xfrm>
          <a:prstGeom prst="rect">
            <a:avLst/>
          </a:prstGeom>
          <a:noFill/>
        </p:spPr>
        <p:txBody>
          <a:bodyPr wrap="square">
            <a:spAutoFit/>
          </a:bodyPr>
          <a:lstStyle/>
          <a:p>
            <a:pPr algn="l"/>
            <a:r>
              <a:rPr sz="1300" b="1" i="0">
                <a:solidFill>
                  <a:srgbClr val="FFFFFF"/>
                </a:solidFill>
                <a:latin typeface="Times New Roman"/>
              </a:rPr>
              <a:t>Visualization &amp; Output</a:t>
            </a:r>
          </a:p>
        </p:txBody>
      </p:sp>
      <p:sp>
        <p:nvSpPr>
          <p:cNvPr id="38" name="TextBox 37"/>
          <p:cNvSpPr txBox="1"/>
          <p:nvPr/>
        </p:nvSpPr>
        <p:spPr>
          <a:xfrm>
            <a:off x="8321040" y="3977639"/>
            <a:ext cx="3474720" cy="502920"/>
          </a:xfrm>
          <a:prstGeom prst="rect">
            <a:avLst/>
          </a:prstGeom>
          <a:noFill/>
        </p:spPr>
        <p:txBody>
          <a:bodyPr wrap="square">
            <a:spAutoFit/>
          </a:bodyPr>
          <a:lstStyle/>
          <a:p>
            <a:pPr algn="l"/>
            <a:r>
              <a:rPr sz="1200" b="0" i="0">
                <a:solidFill>
                  <a:srgbClr val="1A1A2E"/>
                </a:solidFill>
                <a:latin typeface="Times New Roman"/>
              </a:rPr>
              <a:t>  •  Matplotlib, Seaborn  (plots)</a:t>
            </a:r>
          </a:p>
        </p:txBody>
      </p:sp>
      <p:sp>
        <p:nvSpPr>
          <p:cNvPr id="39" name="TextBox 38"/>
          <p:cNvSpPr txBox="1"/>
          <p:nvPr/>
        </p:nvSpPr>
        <p:spPr>
          <a:xfrm>
            <a:off x="8321040" y="4526279"/>
            <a:ext cx="3474720" cy="502920"/>
          </a:xfrm>
          <a:prstGeom prst="rect">
            <a:avLst/>
          </a:prstGeom>
          <a:noFill/>
        </p:spPr>
        <p:txBody>
          <a:bodyPr wrap="square">
            <a:spAutoFit/>
          </a:bodyPr>
          <a:lstStyle/>
          <a:p>
            <a:pPr algn="l"/>
            <a:r>
              <a:rPr sz="1200" b="0" i="0">
                <a:solidFill>
                  <a:srgbClr val="1A1A2E"/>
                </a:solidFill>
                <a:latin typeface="Times New Roman"/>
              </a:rPr>
              <a:t>  •  Joblib  (model persistence)</a:t>
            </a:r>
          </a:p>
        </p:txBody>
      </p:sp>
      <p:sp>
        <p:nvSpPr>
          <p:cNvPr id="40" name="TextBox 39"/>
          <p:cNvSpPr txBox="1"/>
          <p:nvPr/>
        </p:nvSpPr>
        <p:spPr>
          <a:xfrm>
            <a:off x="8321040" y="5074920"/>
            <a:ext cx="3474720" cy="502920"/>
          </a:xfrm>
          <a:prstGeom prst="rect">
            <a:avLst/>
          </a:prstGeom>
          <a:noFill/>
        </p:spPr>
        <p:txBody>
          <a:bodyPr wrap="square">
            <a:spAutoFit/>
          </a:bodyPr>
          <a:lstStyle/>
          <a:p>
            <a:pPr algn="l"/>
            <a:r>
              <a:rPr sz="1200" b="0" i="0">
                <a:solidFill>
                  <a:srgbClr val="1A1A2E"/>
                </a:solidFill>
                <a:latin typeface="Times New Roman"/>
              </a:rPr>
              <a:t>  •  CSV / TXT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System Architecture Overview</a:t>
            </a:r>
          </a:p>
        </p:txBody>
      </p:sp>
      <p:sp>
        <p:nvSpPr>
          <p:cNvPr id="5" name="Rectangle 4"/>
          <p:cNvSpPr/>
          <p:nvPr/>
        </p:nvSpPr>
        <p:spPr>
          <a:xfrm>
            <a:off x="228600" y="1143000"/>
            <a:ext cx="2103120" cy="13716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25880"/>
            <a:ext cx="1920239" cy="1097280"/>
          </a:xfrm>
          <a:prstGeom prst="rect">
            <a:avLst/>
          </a:prstGeom>
          <a:noFill/>
        </p:spPr>
        <p:txBody>
          <a:bodyPr wrap="square">
            <a:spAutoFit/>
          </a:bodyPr>
          <a:lstStyle/>
          <a:p>
            <a:pPr algn="ctr"/>
            <a:r>
              <a:rPr sz="1100" b="1" i="0">
                <a:solidFill>
                  <a:srgbClr val="FFFFFF"/>
                </a:solidFill>
                <a:latin typeface="Times New Roman"/>
              </a:rPr>
              <a:t>Data Sources
(Sensors, GPS,
Soil DB, Market API)</a:t>
            </a:r>
          </a:p>
        </p:txBody>
      </p:sp>
      <p:sp>
        <p:nvSpPr>
          <p:cNvPr id="7" name="Rectangle 6"/>
          <p:cNvSpPr/>
          <p:nvPr/>
        </p:nvSpPr>
        <p:spPr>
          <a:xfrm>
            <a:off x="2651760" y="1143000"/>
            <a:ext cx="2103120" cy="13716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0" y="1325880"/>
            <a:ext cx="1920239" cy="1097280"/>
          </a:xfrm>
          <a:prstGeom prst="rect">
            <a:avLst/>
          </a:prstGeom>
          <a:noFill/>
        </p:spPr>
        <p:txBody>
          <a:bodyPr wrap="square">
            <a:spAutoFit/>
          </a:bodyPr>
          <a:lstStyle/>
          <a:p>
            <a:pPr algn="ctr"/>
            <a:r>
              <a:rPr sz="1100" b="1" i="0">
                <a:solidFill>
                  <a:srgbClr val="FFFFFF"/>
                </a:solidFill>
                <a:latin typeface="Times New Roman"/>
              </a:rPr>
              <a:t>Tier 1
Feature Engineering
(12-Feature Schema)</a:t>
            </a:r>
          </a:p>
        </p:txBody>
      </p:sp>
      <p:sp>
        <p:nvSpPr>
          <p:cNvPr id="9" name="Rectangle 8"/>
          <p:cNvSpPr/>
          <p:nvPr/>
        </p:nvSpPr>
        <p:spPr>
          <a:xfrm>
            <a:off x="5074920" y="1143000"/>
            <a:ext cx="2103120" cy="1371600"/>
          </a:xfrm>
          <a:prstGeom prst="rect">
            <a:avLst/>
          </a:prstGeom>
          <a:solidFill>
            <a:srgbClr val="156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66359" y="1325880"/>
            <a:ext cx="1920239" cy="1097280"/>
          </a:xfrm>
          <a:prstGeom prst="rect">
            <a:avLst/>
          </a:prstGeom>
          <a:noFill/>
        </p:spPr>
        <p:txBody>
          <a:bodyPr wrap="square">
            <a:spAutoFit/>
          </a:bodyPr>
          <a:lstStyle/>
          <a:p>
            <a:pPr algn="ctr"/>
            <a:r>
              <a:rPr sz="1100" b="1" i="0">
                <a:solidFill>
                  <a:srgbClr val="FFFFFF"/>
                </a:solidFill>
                <a:latin typeface="Times New Roman"/>
              </a:rPr>
              <a:t>SMOTE-Tomek
+
StandardScaler</a:t>
            </a:r>
          </a:p>
        </p:txBody>
      </p:sp>
      <p:sp>
        <p:nvSpPr>
          <p:cNvPr id="11" name="Rectangle 10"/>
          <p:cNvSpPr/>
          <p:nvPr/>
        </p:nvSpPr>
        <p:spPr>
          <a:xfrm>
            <a:off x="7498079" y="1143000"/>
            <a:ext cx="2103120" cy="13716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325880"/>
            <a:ext cx="1920239" cy="1097280"/>
          </a:xfrm>
          <a:prstGeom prst="rect">
            <a:avLst/>
          </a:prstGeom>
          <a:noFill/>
        </p:spPr>
        <p:txBody>
          <a:bodyPr wrap="square">
            <a:spAutoFit/>
          </a:bodyPr>
          <a:lstStyle/>
          <a:p>
            <a:pPr algn="ctr"/>
            <a:r>
              <a:rPr sz="1100" b="1" i="0">
                <a:solidFill>
                  <a:srgbClr val="FFFFFF"/>
                </a:solidFill>
                <a:latin typeface="Times New Roman"/>
              </a:rPr>
              <a:t>Tier 2
Stacked Ensemble
ML + CNN-BiLSTM</a:t>
            </a:r>
          </a:p>
        </p:txBody>
      </p:sp>
      <p:sp>
        <p:nvSpPr>
          <p:cNvPr id="13" name="Rectangle 12"/>
          <p:cNvSpPr/>
          <p:nvPr/>
        </p:nvSpPr>
        <p:spPr>
          <a:xfrm>
            <a:off x="9921240" y="1143000"/>
            <a:ext cx="1920240" cy="13716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12680" y="1325880"/>
            <a:ext cx="1737360" cy="1097280"/>
          </a:xfrm>
          <a:prstGeom prst="rect">
            <a:avLst/>
          </a:prstGeom>
          <a:noFill/>
        </p:spPr>
        <p:txBody>
          <a:bodyPr wrap="square">
            <a:spAutoFit/>
          </a:bodyPr>
          <a:lstStyle/>
          <a:p>
            <a:pPr algn="ctr"/>
            <a:r>
              <a:rPr sz="1100" b="1" i="0">
                <a:solidFill>
                  <a:srgbClr val="FFFFFF"/>
                </a:solidFill>
                <a:latin typeface="Times New Roman"/>
              </a:rPr>
              <a:t>MC-Dropout
Uncertainty
Estimation</a:t>
            </a:r>
          </a:p>
        </p:txBody>
      </p:sp>
      <p:sp>
        <p:nvSpPr>
          <p:cNvPr id="15" name="TextBox 14"/>
          <p:cNvSpPr txBox="1"/>
          <p:nvPr/>
        </p:nvSpPr>
        <p:spPr>
          <a:xfrm>
            <a:off x="2395728" y="1709928"/>
            <a:ext cx="256032" cy="320040"/>
          </a:xfrm>
          <a:prstGeom prst="rect">
            <a:avLst/>
          </a:prstGeom>
          <a:noFill/>
        </p:spPr>
        <p:txBody>
          <a:bodyPr wrap="square">
            <a:spAutoFit/>
          </a:bodyPr>
          <a:lstStyle/>
          <a:p>
            <a:pPr algn="l"/>
            <a:r>
              <a:rPr sz="1400" b="1" i="0">
                <a:solidFill>
                  <a:srgbClr val="1B5026"/>
                </a:solidFill>
                <a:latin typeface="Times New Roman"/>
              </a:rPr>
              <a:t>►</a:t>
            </a:r>
          </a:p>
        </p:txBody>
      </p:sp>
      <p:sp>
        <p:nvSpPr>
          <p:cNvPr id="16" name="TextBox 15"/>
          <p:cNvSpPr txBox="1"/>
          <p:nvPr/>
        </p:nvSpPr>
        <p:spPr>
          <a:xfrm>
            <a:off x="4818888" y="1709928"/>
            <a:ext cx="256032" cy="320040"/>
          </a:xfrm>
          <a:prstGeom prst="rect">
            <a:avLst/>
          </a:prstGeom>
          <a:noFill/>
        </p:spPr>
        <p:txBody>
          <a:bodyPr wrap="square">
            <a:spAutoFit/>
          </a:bodyPr>
          <a:lstStyle/>
          <a:p>
            <a:pPr algn="l"/>
            <a:r>
              <a:rPr sz="1400" b="1" i="0">
                <a:solidFill>
                  <a:srgbClr val="1B5026"/>
                </a:solidFill>
                <a:latin typeface="Times New Roman"/>
              </a:rPr>
              <a:t>►</a:t>
            </a:r>
          </a:p>
        </p:txBody>
      </p:sp>
      <p:sp>
        <p:nvSpPr>
          <p:cNvPr id="17" name="TextBox 16"/>
          <p:cNvSpPr txBox="1"/>
          <p:nvPr/>
        </p:nvSpPr>
        <p:spPr>
          <a:xfrm>
            <a:off x="7242048" y="1709928"/>
            <a:ext cx="256032" cy="320040"/>
          </a:xfrm>
          <a:prstGeom prst="rect">
            <a:avLst/>
          </a:prstGeom>
          <a:noFill/>
        </p:spPr>
        <p:txBody>
          <a:bodyPr wrap="square">
            <a:spAutoFit/>
          </a:bodyPr>
          <a:lstStyle/>
          <a:p>
            <a:pPr algn="l"/>
            <a:r>
              <a:rPr sz="1400" b="1" i="0">
                <a:solidFill>
                  <a:srgbClr val="1B5026"/>
                </a:solidFill>
                <a:latin typeface="Times New Roman"/>
              </a:rPr>
              <a:t>►</a:t>
            </a:r>
          </a:p>
        </p:txBody>
      </p:sp>
      <p:sp>
        <p:nvSpPr>
          <p:cNvPr id="18" name="TextBox 17"/>
          <p:cNvSpPr txBox="1"/>
          <p:nvPr/>
        </p:nvSpPr>
        <p:spPr>
          <a:xfrm>
            <a:off x="9665208" y="1709928"/>
            <a:ext cx="256032" cy="320040"/>
          </a:xfrm>
          <a:prstGeom prst="rect">
            <a:avLst/>
          </a:prstGeom>
          <a:noFill/>
        </p:spPr>
        <p:txBody>
          <a:bodyPr wrap="square">
            <a:spAutoFit/>
          </a:bodyPr>
          <a:lstStyle/>
          <a:p>
            <a:pPr algn="l"/>
            <a:r>
              <a:rPr sz="1400" b="1" i="0">
                <a:solidFill>
                  <a:srgbClr val="1B5026"/>
                </a:solidFill>
                <a:latin typeface="Times New Roman"/>
              </a:rPr>
              <a:t>►</a:t>
            </a:r>
          </a:p>
        </p:txBody>
      </p:sp>
      <p:sp>
        <p:nvSpPr>
          <p:cNvPr id="19" name="Rectangle 18"/>
          <p:cNvSpPr/>
          <p:nvPr/>
        </p:nvSpPr>
        <p:spPr>
          <a:xfrm>
            <a:off x="365760" y="2578608"/>
            <a:ext cx="11457432" cy="16916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2606040"/>
            <a:ext cx="11247120" cy="347472"/>
          </a:xfrm>
          <a:prstGeom prst="rect">
            <a:avLst/>
          </a:prstGeom>
          <a:noFill/>
        </p:spPr>
        <p:txBody>
          <a:bodyPr wrap="square">
            <a:spAutoFit/>
          </a:bodyPr>
          <a:lstStyle/>
          <a:p>
            <a:pPr algn="ctr"/>
            <a:r>
              <a:rPr sz="1500" b="1" i="0">
                <a:solidFill>
                  <a:srgbClr val="1B5026"/>
                </a:solidFill>
                <a:latin typeface="Times New Roman"/>
              </a:rPr>
              <a:t>Tier 3: Triple-Layer Explainable AI (XAI)</a:t>
            </a:r>
          </a:p>
        </p:txBody>
      </p:sp>
      <p:sp>
        <p:nvSpPr>
          <p:cNvPr id="21" name="Rectangle 20"/>
          <p:cNvSpPr/>
          <p:nvPr/>
        </p:nvSpPr>
        <p:spPr>
          <a:xfrm>
            <a:off x="1371600" y="2926080"/>
            <a:ext cx="2560320" cy="1280160"/>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63040" y="3017520"/>
            <a:ext cx="2377439" cy="1097280"/>
          </a:xfrm>
          <a:prstGeom prst="rect">
            <a:avLst/>
          </a:prstGeom>
          <a:noFill/>
        </p:spPr>
        <p:txBody>
          <a:bodyPr wrap="square">
            <a:spAutoFit/>
          </a:bodyPr>
          <a:lstStyle/>
          <a:p>
            <a:pPr algn="ctr"/>
            <a:r>
              <a:rPr sz="1200" b="1" i="0">
                <a:solidFill>
                  <a:srgbClr val="1A1A2E"/>
                </a:solidFill>
                <a:latin typeface="Times New Roman"/>
              </a:rPr>
              <a:t>SHAP
(Global + Local
Coalitions)</a:t>
            </a:r>
          </a:p>
        </p:txBody>
      </p:sp>
      <p:sp>
        <p:nvSpPr>
          <p:cNvPr id="23" name="Rectangle 22"/>
          <p:cNvSpPr/>
          <p:nvPr/>
        </p:nvSpPr>
        <p:spPr>
          <a:xfrm>
            <a:off x="4754880" y="2926080"/>
            <a:ext cx="2560320" cy="1280160"/>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46320" y="3017520"/>
            <a:ext cx="2377439" cy="1097280"/>
          </a:xfrm>
          <a:prstGeom prst="rect">
            <a:avLst/>
          </a:prstGeom>
          <a:noFill/>
        </p:spPr>
        <p:txBody>
          <a:bodyPr wrap="square">
            <a:spAutoFit/>
          </a:bodyPr>
          <a:lstStyle/>
          <a:p>
            <a:pPr algn="ctr"/>
            <a:r>
              <a:rPr sz="1200" b="1" i="0">
                <a:solidFill>
                  <a:srgbClr val="1A1A2E"/>
                </a:solidFill>
                <a:latin typeface="Times New Roman"/>
              </a:rPr>
              <a:t>LIME
(Local Surrogate
Explanations)</a:t>
            </a:r>
          </a:p>
        </p:txBody>
      </p:sp>
      <p:sp>
        <p:nvSpPr>
          <p:cNvPr id="25" name="Rectangle 24"/>
          <p:cNvSpPr/>
          <p:nvPr/>
        </p:nvSpPr>
        <p:spPr>
          <a:xfrm>
            <a:off x="8138160" y="2926080"/>
            <a:ext cx="2560320" cy="1280160"/>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0" y="3017520"/>
            <a:ext cx="2377439" cy="1097280"/>
          </a:xfrm>
          <a:prstGeom prst="rect">
            <a:avLst/>
          </a:prstGeom>
          <a:noFill/>
        </p:spPr>
        <p:txBody>
          <a:bodyPr wrap="square">
            <a:spAutoFit/>
          </a:bodyPr>
          <a:lstStyle/>
          <a:p>
            <a:pPr algn="ctr"/>
            <a:r>
              <a:rPr sz="1200" b="1" i="0">
                <a:solidFill>
                  <a:srgbClr val="1A1A2E"/>
                </a:solidFill>
                <a:latin typeface="Times New Roman"/>
              </a:rPr>
              <a:t>DiCE
(Counterfactual
What-If Analysis)</a:t>
            </a:r>
          </a:p>
        </p:txBody>
      </p:sp>
      <p:sp>
        <p:nvSpPr>
          <p:cNvPr id="27" name="Rectangle 26"/>
          <p:cNvSpPr/>
          <p:nvPr/>
        </p:nvSpPr>
        <p:spPr>
          <a:xfrm>
            <a:off x="365760" y="4343400"/>
            <a:ext cx="1145743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462272"/>
            <a:ext cx="11064240" cy="502920"/>
          </a:xfrm>
          <a:prstGeom prst="rect">
            <a:avLst/>
          </a:prstGeom>
          <a:noFill/>
        </p:spPr>
        <p:txBody>
          <a:bodyPr wrap="square">
            <a:spAutoFit/>
          </a:bodyPr>
          <a:lstStyle/>
          <a:p>
            <a:pPr algn="ctr"/>
            <a:r>
              <a:rPr sz="1600" b="1" i="0">
                <a:solidFill>
                  <a:srgbClr val="FFFFFF"/>
                </a:solidFill>
                <a:latin typeface="Times New Roman"/>
              </a:rPr>
              <a:t>Output: Top-3 Crop Recommendations + Confidence Scores + XAI Reports</a:t>
            </a:r>
          </a:p>
        </p:txBody>
      </p:sp>
      <p:sp>
        <p:nvSpPr>
          <p:cNvPr id="29" name="TextBox 28"/>
          <p:cNvSpPr txBox="1"/>
          <p:nvPr/>
        </p:nvSpPr>
        <p:spPr>
          <a:xfrm>
            <a:off x="365760" y="5440680"/>
            <a:ext cx="11457432" cy="411480"/>
          </a:xfrm>
          <a:prstGeom prst="rect">
            <a:avLst/>
          </a:prstGeom>
          <a:noFill/>
        </p:spPr>
        <p:txBody>
          <a:bodyPr wrap="square">
            <a:spAutoFit/>
          </a:bodyPr>
          <a:lstStyle/>
          <a:p>
            <a:pPr algn="ctr"/>
            <a:r>
              <a:rPr sz="1200" b="0" i="1">
                <a:solidFill>
                  <a:srgbClr val="808080"/>
                </a:solidFill>
                <a:latin typeface="Times New Roman"/>
              </a:rPr>
              <a:t>Input Features: N, P, K, pH, Temperature, Humidity, Rainfall + Elevation, Climate Zone, Soil Texture, Growth Days, Market Demand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Tier 1 — Feature Engineering: Extended 12-Feature Schema</a:t>
            </a:r>
          </a:p>
        </p:txBody>
      </p:sp>
      <p:graphicFrame>
        <p:nvGraphicFramePr>
          <p:cNvPr id="5" name="Table 4"/>
          <p:cNvGraphicFramePr>
            <a:graphicFrameLocks noGrp="1"/>
          </p:cNvGraphicFramePr>
          <p:nvPr/>
        </p:nvGraphicFramePr>
        <p:xfrm>
          <a:off x="274320" y="1097280"/>
          <a:ext cx="11640312" cy="5486400"/>
        </p:xfrm>
        <a:graphic>
          <a:graphicData uri="http://schemas.openxmlformats.org/drawingml/2006/table">
            <a:tbl>
              <a:tblPr firstRow="1" bandRow="1">
                <a:tableStyleId>{5C22544A-7EE6-4342-B048-85BDC9FD1C3A}</a:tableStyleId>
              </a:tblPr>
              <a:tblGrid>
                <a:gridCol w="1940052">
                  <a:extLst>
                    <a:ext uri="{9D8B030D-6E8A-4147-A177-3AD203B41FA5}">
                      <a16:colId xmlns:a16="http://schemas.microsoft.com/office/drawing/2014/main" val="20000"/>
                    </a:ext>
                  </a:extLst>
                </a:gridCol>
                <a:gridCol w="1940052">
                  <a:extLst>
                    <a:ext uri="{9D8B030D-6E8A-4147-A177-3AD203B41FA5}">
                      <a16:colId xmlns:a16="http://schemas.microsoft.com/office/drawing/2014/main" val="20001"/>
                    </a:ext>
                  </a:extLst>
                </a:gridCol>
                <a:gridCol w="1940052">
                  <a:extLst>
                    <a:ext uri="{9D8B030D-6E8A-4147-A177-3AD203B41FA5}">
                      <a16:colId xmlns:a16="http://schemas.microsoft.com/office/drawing/2014/main" val="20002"/>
                    </a:ext>
                  </a:extLst>
                </a:gridCol>
                <a:gridCol w="1940052">
                  <a:extLst>
                    <a:ext uri="{9D8B030D-6E8A-4147-A177-3AD203B41FA5}">
                      <a16:colId xmlns:a16="http://schemas.microsoft.com/office/drawing/2014/main" val="20003"/>
                    </a:ext>
                  </a:extLst>
                </a:gridCol>
                <a:gridCol w="1940052">
                  <a:extLst>
                    <a:ext uri="{9D8B030D-6E8A-4147-A177-3AD203B41FA5}">
                      <a16:colId xmlns:a16="http://schemas.microsoft.com/office/drawing/2014/main" val="20004"/>
                    </a:ext>
                  </a:extLst>
                </a:gridCol>
                <a:gridCol w="1940052">
                  <a:extLst>
                    <a:ext uri="{9D8B030D-6E8A-4147-A177-3AD203B41FA5}">
                      <a16:colId xmlns:a16="http://schemas.microsoft.com/office/drawing/2014/main" val="20005"/>
                    </a:ext>
                  </a:extLst>
                </a:gridCol>
              </a:tblGrid>
              <a:tr h="422030">
                <a:tc>
                  <a:txBody>
                    <a:bodyPr/>
                    <a:lstStyle/>
                    <a:p>
                      <a:pPr algn="ctr"/>
                      <a:r>
                        <a:rPr sz="1100" b="1">
                          <a:solidFill>
                            <a:srgbClr val="FFFFFF"/>
                          </a:solidFill>
                          <a:latin typeface="Times New Roman"/>
                        </a:rPr>
                        <a:t>#</a:t>
                      </a:r>
                    </a:p>
                  </a:txBody>
                  <a:tcPr>
                    <a:solidFill>
                      <a:srgbClr val="1B5026"/>
                    </a:solidFill>
                  </a:tcPr>
                </a:tc>
                <a:tc>
                  <a:txBody>
                    <a:bodyPr/>
                    <a:lstStyle/>
                    <a:p>
                      <a:pPr algn="ctr"/>
                      <a:r>
                        <a:rPr sz="1100" b="1">
                          <a:solidFill>
                            <a:srgbClr val="FFFFFF"/>
                          </a:solidFill>
                          <a:latin typeface="Times New Roman"/>
                        </a:rPr>
                        <a:t>Feature</a:t>
                      </a:r>
                    </a:p>
                  </a:txBody>
                  <a:tcPr>
                    <a:solidFill>
                      <a:srgbClr val="1B5026"/>
                    </a:solidFill>
                  </a:tcPr>
                </a:tc>
                <a:tc>
                  <a:txBody>
                    <a:bodyPr/>
                    <a:lstStyle/>
                    <a:p>
                      <a:pPr algn="ctr"/>
                      <a:r>
                        <a:rPr sz="1100" b="1">
                          <a:solidFill>
                            <a:srgbClr val="FFFFFF"/>
                          </a:solidFill>
                          <a:latin typeface="Times New Roman"/>
                        </a:rPr>
                        <a:t>Type</a:t>
                      </a:r>
                    </a:p>
                  </a:txBody>
                  <a:tcPr>
                    <a:solidFill>
                      <a:srgbClr val="1B5026"/>
                    </a:solidFill>
                  </a:tcPr>
                </a:tc>
                <a:tc>
                  <a:txBody>
                    <a:bodyPr/>
                    <a:lstStyle/>
                    <a:p>
                      <a:pPr algn="ctr"/>
                      <a:r>
                        <a:rPr sz="1100" b="1">
                          <a:solidFill>
                            <a:srgbClr val="FFFFFF"/>
                          </a:solidFill>
                          <a:latin typeface="Times New Roman"/>
                        </a:rPr>
                        <a:t>Range / Unit</a:t>
                      </a:r>
                    </a:p>
                  </a:txBody>
                  <a:tcPr>
                    <a:solidFill>
                      <a:srgbClr val="1B5026"/>
                    </a:solidFill>
                  </a:tcPr>
                </a:tc>
                <a:tc>
                  <a:txBody>
                    <a:bodyPr/>
                    <a:lstStyle/>
                    <a:p>
                      <a:pPr algn="ctr"/>
                      <a:r>
                        <a:rPr sz="1100" b="1">
                          <a:solidFill>
                            <a:srgbClr val="FFFFFF"/>
                          </a:solidFill>
                          <a:latin typeface="Times New Roman"/>
                        </a:rPr>
                        <a:t>Source</a:t>
                      </a:r>
                    </a:p>
                  </a:txBody>
                  <a:tcPr>
                    <a:solidFill>
                      <a:srgbClr val="1B5026"/>
                    </a:solidFill>
                  </a:tcPr>
                </a:tc>
                <a:tc>
                  <a:txBody>
                    <a:bodyPr/>
                    <a:lstStyle/>
                    <a:p>
                      <a:pPr algn="ctr"/>
                      <a:r>
                        <a:rPr sz="1100" b="1">
                          <a:solidFill>
                            <a:srgbClr val="FFFFFF"/>
                          </a:solidFill>
                          <a:latin typeface="Times New Roman"/>
                        </a:rPr>
                        <a:t>Scientific Rationale</a:t>
                      </a:r>
                    </a:p>
                  </a:txBody>
                  <a:tcPr>
                    <a:solidFill>
                      <a:srgbClr val="1B5026"/>
                    </a:solidFill>
                  </a:tcPr>
                </a:tc>
                <a:extLst>
                  <a:ext uri="{0D108BD9-81ED-4DB2-BD59-A6C34878D82A}">
                    <a16:rowId xmlns:a16="http://schemas.microsoft.com/office/drawing/2014/main" val="10000"/>
                  </a:ext>
                </a:extLst>
              </a:tr>
              <a:tr h="422030">
                <a:tc>
                  <a:txBody>
                    <a:bodyPr/>
                    <a:lstStyle/>
                    <a:p>
                      <a:pPr algn="ctr"/>
                      <a:r>
                        <a:rPr sz="1000">
                          <a:latin typeface="Times New Roman"/>
                        </a:rPr>
                        <a:t>1</a:t>
                      </a:r>
                    </a:p>
                  </a:txBody>
                  <a:tcPr>
                    <a:solidFill>
                      <a:srgbClr val="D4EDD8"/>
                    </a:solidFill>
                  </a:tcPr>
                </a:tc>
                <a:tc>
                  <a:txBody>
                    <a:bodyPr/>
                    <a:lstStyle/>
                    <a:p>
                      <a:pPr algn="ctr"/>
                      <a:r>
                        <a:rPr sz="1000">
                          <a:latin typeface="Times New Roman"/>
                        </a:rPr>
                        <a:t>Nitrogen (N)</a:t>
                      </a:r>
                    </a:p>
                  </a:txBody>
                  <a:tcPr>
                    <a:solidFill>
                      <a:srgbClr val="D4EDD8"/>
                    </a:solidFill>
                  </a:tcPr>
                </a:tc>
                <a:tc>
                  <a:txBody>
                    <a:bodyPr/>
                    <a:lstStyle/>
                    <a:p>
                      <a:pPr algn="ctr"/>
                      <a:r>
                        <a:rPr sz="1000">
                          <a:latin typeface="Times New Roman"/>
                        </a:rPr>
                        <a:t>Chemical</a:t>
                      </a:r>
                    </a:p>
                  </a:txBody>
                  <a:tcPr>
                    <a:solidFill>
                      <a:srgbClr val="D4EDD8"/>
                    </a:solidFill>
                  </a:tcPr>
                </a:tc>
                <a:tc>
                  <a:txBody>
                    <a:bodyPr/>
                    <a:lstStyle/>
                    <a:p>
                      <a:pPr algn="ctr"/>
                      <a:r>
                        <a:rPr sz="1000">
                          <a:latin typeface="Times New Roman"/>
                        </a:rPr>
                        <a:t>mg/kg</a:t>
                      </a:r>
                    </a:p>
                  </a:txBody>
                  <a:tcPr>
                    <a:solidFill>
                      <a:srgbClr val="D4EDD8"/>
                    </a:solidFill>
                  </a:tcPr>
                </a:tc>
                <a:tc>
                  <a:txBody>
                    <a:bodyPr/>
                    <a:lstStyle/>
                    <a:p>
                      <a:pPr algn="ctr"/>
                      <a:r>
                        <a:rPr sz="1000">
                          <a:latin typeface="Times New Roman"/>
                        </a:rPr>
                        <a:t>NPK Sensor</a:t>
                      </a:r>
                    </a:p>
                  </a:txBody>
                  <a:tcPr>
                    <a:solidFill>
                      <a:srgbClr val="D4EDD8"/>
                    </a:solidFill>
                  </a:tcPr>
                </a:tc>
                <a:tc>
                  <a:txBody>
                    <a:bodyPr/>
                    <a:lstStyle/>
                    <a:p>
                      <a:pPr algn="ctr"/>
                      <a:r>
                        <a:rPr sz="1000">
                          <a:latin typeface="Times New Roman"/>
                        </a:rPr>
                        <a:t>Vegetative growth driver</a:t>
                      </a:r>
                    </a:p>
                  </a:txBody>
                  <a:tcPr>
                    <a:solidFill>
                      <a:srgbClr val="D4EDD8"/>
                    </a:solidFill>
                  </a:tcPr>
                </a:tc>
                <a:extLst>
                  <a:ext uri="{0D108BD9-81ED-4DB2-BD59-A6C34878D82A}">
                    <a16:rowId xmlns:a16="http://schemas.microsoft.com/office/drawing/2014/main" val="10001"/>
                  </a:ext>
                </a:extLst>
              </a:tr>
              <a:tr h="422030">
                <a:tc>
                  <a:txBody>
                    <a:bodyPr/>
                    <a:lstStyle/>
                    <a:p>
                      <a:pPr algn="ctr"/>
                      <a:r>
                        <a:rPr sz="1000">
                          <a:latin typeface="Times New Roman"/>
                        </a:rPr>
                        <a:t>2</a:t>
                      </a:r>
                    </a:p>
                  </a:txBody>
                  <a:tcPr/>
                </a:tc>
                <a:tc>
                  <a:txBody>
                    <a:bodyPr/>
                    <a:lstStyle/>
                    <a:p>
                      <a:pPr algn="ctr"/>
                      <a:r>
                        <a:rPr sz="1000">
                          <a:latin typeface="Times New Roman"/>
                        </a:rPr>
                        <a:t>Phosphorus (P)</a:t>
                      </a:r>
                    </a:p>
                  </a:txBody>
                  <a:tcPr/>
                </a:tc>
                <a:tc>
                  <a:txBody>
                    <a:bodyPr/>
                    <a:lstStyle/>
                    <a:p>
                      <a:pPr algn="ctr"/>
                      <a:r>
                        <a:rPr sz="1000">
                          <a:latin typeface="Times New Roman"/>
                        </a:rPr>
                        <a:t>Chemical</a:t>
                      </a:r>
                    </a:p>
                  </a:txBody>
                  <a:tcPr/>
                </a:tc>
                <a:tc>
                  <a:txBody>
                    <a:bodyPr/>
                    <a:lstStyle/>
                    <a:p>
                      <a:pPr algn="ctr"/>
                      <a:r>
                        <a:rPr sz="1000">
                          <a:latin typeface="Times New Roman"/>
                        </a:rPr>
                        <a:t>mg/kg</a:t>
                      </a:r>
                    </a:p>
                  </a:txBody>
                  <a:tcPr/>
                </a:tc>
                <a:tc>
                  <a:txBody>
                    <a:bodyPr/>
                    <a:lstStyle/>
                    <a:p>
                      <a:pPr algn="ctr"/>
                      <a:r>
                        <a:rPr sz="1000">
                          <a:latin typeface="Times New Roman"/>
                        </a:rPr>
                        <a:t>NPK Sensor</a:t>
                      </a:r>
                    </a:p>
                  </a:txBody>
                  <a:tcPr/>
                </a:tc>
                <a:tc>
                  <a:txBody>
                    <a:bodyPr/>
                    <a:lstStyle/>
                    <a:p>
                      <a:pPr algn="ctr"/>
                      <a:r>
                        <a:rPr sz="1000">
                          <a:latin typeface="Times New Roman"/>
                        </a:rPr>
                        <a:t>Root development</a:t>
                      </a:r>
                    </a:p>
                  </a:txBody>
                  <a:tcPr/>
                </a:tc>
                <a:extLst>
                  <a:ext uri="{0D108BD9-81ED-4DB2-BD59-A6C34878D82A}">
                    <a16:rowId xmlns:a16="http://schemas.microsoft.com/office/drawing/2014/main" val="10002"/>
                  </a:ext>
                </a:extLst>
              </a:tr>
              <a:tr h="422030">
                <a:tc>
                  <a:txBody>
                    <a:bodyPr/>
                    <a:lstStyle/>
                    <a:p>
                      <a:pPr algn="ctr"/>
                      <a:r>
                        <a:rPr sz="1000">
                          <a:latin typeface="Times New Roman"/>
                        </a:rPr>
                        <a:t>3</a:t>
                      </a:r>
                    </a:p>
                  </a:txBody>
                  <a:tcPr>
                    <a:solidFill>
                      <a:srgbClr val="D4EDD8"/>
                    </a:solidFill>
                  </a:tcPr>
                </a:tc>
                <a:tc>
                  <a:txBody>
                    <a:bodyPr/>
                    <a:lstStyle/>
                    <a:p>
                      <a:pPr algn="ctr"/>
                      <a:r>
                        <a:rPr sz="1000">
                          <a:latin typeface="Times New Roman"/>
                        </a:rPr>
                        <a:t>Potassium (K)</a:t>
                      </a:r>
                    </a:p>
                  </a:txBody>
                  <a:tcPr>
                    <a:solidFill>
                      <a:srgbClr val="D4EDD8"/>
                    </a:solidFill>
                  </a:tcPr>
                </a:tc>
                <a:tc>
                  <a:txBody>
                    <a:bodyPr/>
                    <a:lstStyle/>
                    <a:p>
                      <a:pPr algn="ctr"/>
                      <a:r>
                        <a:rPr sz="1000">
                          <a:latin typeface="Times New Roman"/>
                        </a:rPr>
                        <a:t>Chemical</a:t>
                      </a:r>
                    </a:p>
                  </a:txBody>
                  <a:tcPr>
                    <a:solidFill>
                      <a:srgbClr val="D4EDD8"/>
                    </a:solidFill>
                  </a:tcPr>
                </a:tc>
                <a:tc>
                  <a:txBody>
                    <a:bodyPr/>
                    <a:lstStyle/>
                    <a:p>
                      <a:pPr algn="ctr"/>
                      <a:r>
                        <a:rPr sz="1000">
                          <a:latin typeface="Times New Roman"/>
                        </a:rPr>
                        <a:t>mg/kg</a:t>
                      </a:r>
                    </a:p>
                  </a:txBody>
                  <a:tcPr>
                    <a:solidFill>
                      <a:srgbClr val="D4EDD8"/>
                    </a:solidFill>
                  </a:tcPr>
                </a:tc>
                <a:tc>
                  <a:txBody>
                    <a:bodyPr/>
                    <a:lstStyle/>
                    <a:p>
                      <a:pPr algn="ctr"/>
                      <a:r>
                        <a:rPr sz="1000">
                          <a:latin typeface="Times New Roman"/>
                        </a:rPr>
                        <a:t>NPK Sensor</a:t>
                      </a:r>
                    </a:p>
                  </a:txBody>
                  <a:tcPr>
                    <a:solidFill>
                      <a:srgbClr val="D4EDD8"/>
                    </a:solidFill>
                  </a:tcPr>
                </a:tc>
                <a:tc>
                  <a:txBody>
                    <a:bodyPr/>
                    <a:lstStyle/>
                    <a:p>
                      <a:pPr algn="ctr"/>
                      <a:r>
                        <a:rPr sz="1000">
                          <a:latin typeface="Times New Roman"/>
                        </a:rPr>
                        <a:t>Disease resistance</a:t>
                      </a:r>
                    </a:p>
                  </a:txBody>
                  <a:tcPr>
                    <a:solidFill>
                      <a:srgbClr val="D4EDD8"/>
                    </a:solidFill>
                  </a:tcPr>
                </a:tc>
                <a:extLst>
                  <a:ext uri="{0D108BD9-81ED-4DB2-BD59-A6C34878D82A}">
                    <a16:rowId xmlns:a16="http://schemas.microsoft.com/office/drawing/2014/main" val="10003"/>
                  </a:ext>
                </a:extLst>
              </a:tr>
              <a:tr h="422030">
                <a:tc>
                  <a:txBody>
                    <a:bodyPr/>
                    <a:lstStyle/>
                    <a:p>
                      <a:pPr algn="ctr"/>
                      <a:r>
                        <a:rPr sz="1000">
                          <a:latin typeface="Times New Roman"/>
                        </a:rPr>
                        <a:t>4</a:t>
                      </a:r>
                    </a:p>
                  </a:txBody>
                  <a:tcPr/>
                </a:tc>
                <a:tc>
                  <a:txBody>
                    <a:bodyPr/>
                    <a:lstStyle/>
                    <a:p>
                      <a:pPr algn="ctr"/>
                      <a:r>
                        <a:rPr sz="1000">
                          <a:latin typeface="Times New Roman"/>
                        </a:rPr>
                        <a:t>pH</a:t>
                      </a:r>
                    </a:p>
                  </a:txBody>
                  <a:tcPr/>
                </a:tc>
                <a:tc>
                  <a:txBody>
                    <a:bodyPr/>
                    <a:lstStyle/>
                    <a:p>
                      <a:pPr algn="ctr"/>
                      <a:r>
                        <a:rPr sz="1000">
                          <a:latin typeface="Times New Roman"/>
                        </a:rPr>
                        <a:t>Chemical</a:t>
                      </a:r>
                    </a:p>
                  </a:txBody>
                  <a:tcPr/>
                </a:tc>
                <a:tc>
                  <a:txBody>
                    <a:bodyPr/>
                    <a:lstStyle/>
                    <a:p>
                      <a:pPr algn="ctr"/>
                      <a:r>
                        <a:rPr sz="1000">
                          <a:latin typeface="Times New Roman"/>
                        </a:rPr>
                        <a:t>0–14</a:t>
                      </a:r>
                    </a:p>
                  </a:txBody>
                  <a:tcPr/>
                </a:tc>
                <a:tc>
                  <a:txBody>
                    <a:bodyPr/>
                    <a:lstStyle/>
                    <a:p>
                      <a:pPr algn="ctr"/>
                      <a:r>
                        <a:rPr sz="1000">
                          <a:latin typeface="Times New Roman"/>
                        </a:rPr>
                        <a:t>pH Probe</a:t>
                      </a:r>
                    </a:p>
                  </a:txBody>
                  <a:tcPr/>
                </a:tc>
                <a:tc>
                  <a:txBody>
                    <a:bodyPr/>
                    <a:lstStyle/>
                    <a:p>
                      <a:pPr algn="ctr"/>
                      <a:r>
                        <a:rPr sz="1000">
                          <a:latin typeface="Times New Roman"/>
                        </a:rPr>
                        <a:t>Nutrient availability control</a:t>
                      </a:r>
                    </a:p>
                  </a:txBody>
                  <a:tcPr/>
                </a:tc>
                <a:extLst>
                  <a:ext uri="{0D108BD9-81ED-4DB2-BD59-A6C34878D82A}">
                    <a16:rowId xmlns:a16="http://schemas.microsoft.com/office/drawing/2014/main" val="10004"/>
                  </a:ext>
                </a:extLst>
              </a:tr>
              <a:tr h="422030">
                <a:tc>
                  <a:txBody>
                    <a:bodyPr/>
                    <a:lstStyle/>
                    <a:p>
                      <a:pPr algn="ctr"/>
                      <a:r>
                        <a:rPr sz="1000">
                          <a:latin typeface="Times New Roman"/>
                        </a:rPr>
                        <a:t>5</a:t>
                      </a:r>
                    </a:p>
                  </a:txBody>
                  <a:tcPr>
                    <a:solidFill>
                      <a:srgbClr val="D4EDD8"/>
                    </a:solidFill>
                  </a:tcPr>
                </a:tc>
                <a:tc>
                  <a:txBody>
                    <a:bodyPr/>
                    <a:lstStyle/>
                    <a:p>
                      <a:pPr algn="ctr"/>
                      <a:r>
                        <a:rPr sz="1000">
                          <a:latin typeface="Times New Roman"/>
                        </a:rPr>
                        <a:t>Temperature</a:t>
                      </a:r>
                    </a:p>
                  </a:txBody>
                  <a:tcPr>
                    <a:solidFill>
                      <a:srgbClr val="D4EDD8"/>
                    </a:solidFill>
                  </a:tcPr>
                </a:tc>
                <a:tc>
                  <a:txBody>
                    <a:bodyPr/>
                    <a:lstStyle/>
                    <a:p>
                      <a:pPr algn="ctr"/>
                      <a:r>
                        <a:rPr sz="1000">
                          <a:latin typeface="Times New Roman"/>
                        </a:rPr>
                        <a:t>Climate</a:t>
                      </a:r>
                    </a:p>
                  </a:txBody>
                  <a:tcPr>
                    <a:solidFill>
                      <a:srgbClr val="D4EDD8"/>
                    </a:solidFill>
                  </a:tcPr>
                </a:tc>
                <a:tc>
                  <a:txBody>
                    <a:bodyPr/>
                    <a:lstStyle/>
                    <a:p>
                      <a:pPr algn="ctr"/>
                      <a:r>
                        <a:rPr sz="1000">
                          <a:latin typeface="Times New Roman"/>
                        </a:rPr>
                        <a:t>°C</a:t>
                      </a:r>
                    </a:p>
                  </a:txBody>
                  <a:tcPr>
                    <a:solidFill>
                      <a:srgbClr val="D4EDD8"/>
                    </a:solidFill>
                  </a:tcPr>
                </a:tc>
                <a:tc>
                  <a:txBody>
                    <a:bodyPr/>
                    <a:lstStyle/>
                    <a:p>
                      <a:pPr algn="ctr"/>
                      <a:r>
                        <a:rPr sz="1000">
                          <a:latin typeface="Times New Roman"/>
                        </a:rPr>
                        <a:t>DHT22 / Weather API</a:t>
                      </a:r>
                    </a:p>
                  </a:txBody>
                  <a:tcPr>
                    <a:solidFill>
                      <a:srgbClr val="D4EDD8"/>
                    </a:solidFill>
                  </a:tcPr>
                </a:tc>
                <a:tc>
                  <a:txBody>
                    <a:bodyPr/>
                    <a:lstStyle/>
                    <a:p>
                      <a:pPr algn="ctr"/>
                      <a:r>
                        <a:rPr sz="1000">
                          <a:latin typeface="Times New Roman"/>
                        </a:rPr>
                        <a:t>Metabolic rate regulator</a:t>
                      </a:r>
                    </a:p>
                  </a:txBody>
                  <a:tcPr>
                    <a:solidFill>
                      <a:srgbClr val="D4EDD8"/>
                    </a:solidFill>
                  </a:tcPr>
                </a:tc>
                <a:extLst>
                  <a:ext uri="{0D108BD9-81ED-4DB2-BD59-A6C34878D82A}">
                    <a16:rowId xmlns:a16="http://schemas.microsoft.com/office/drawing/2014/main" val="10005"/>
                  </a:ext>
                </a:extLst>
              </a:tr>
              <a:tr h="422030">
                <a:tc>
                  <a:txBody>
                    <a:bodyPr/>
                    <a:lstStyle/>
                    <a:p>
                      <a:pPr algn="ctr"/>
                      <a:r>
                        <a:rPr sz="1000">
                          <a:latin typeface="Times New Roman"/>
                        </a:rPr>
                        <a:t>6</a:t>
                      </a:r>
                    </a:p>
                  </a:txBody>
                  <a:tcPr/>
                </a:tc>
                <a:tc>
                  <a:txBody>
                    <a:bodyPr/>
                    <a:lstStyle/>
                    <a:p>
                      <a:pPr algn="ctr"/>
                      <a:r>
                        <a:rPr sz="1000">
                          <a:latin typeface="Times New Roman"/>
                        </a:rPr>
                        <a:t>Humidity</a:t>
                      </a:r>
                    </a:p>
                  </a:txBody>
                  <a:tcPr/>
                </a:tc>
                <a:tc>
                  <a:txBody>
                    <a:bodyPr/>
                    <a:lstStyle/>
                    <a:p>
                      <a:pPr algn="ctr"/>
                      <a:r>
                        <a:rPr sz="1000">
                          <a:latin typeface="Times New Roman"/>
                        </a:rPr>
                        <a:t>Climate</a:t>
                      </a:r>
                    </a:p>
                  </a:txBody>
                  <a:tcPr/>
                </a:tc>
                <a:tc>
                  <a:txBody>
                    <a:bodyPr/>
                    <a:lstStyle/>
                    <a:p>
                      <a:pPr algn="ctr"/>
                      <a:r>
                        <a:rPr sz="1000">
                          <a:latin typeface="Times New Roman"/>
                        </a:rPr>
                        <a:t>%</a:t>
                      </a:r>
                    </a:p>
                  </a:txBody>
                  <a:tcPr/>
                </a:tc>
                <a:tc>
                  <a:txBody>
                    <a:bodyPr/>
                    <a:lstStyle/>
                    <a:p>
                      <a:pPr algn="ctr"/>
                      <a:r>
                        <a:rPr sz="1000">
                          <a:latin typeface="Times New Roman"/>
                        </a:rPr>
                        <a:t>DHT22 / Weather API</a:t>
                      </a:r>
                    </a:p>
                  </a:txBody>
                  <a:tcPr/>
                </a:tc>
                <a:tc>
                  <a:txBody>
                    <a:bodyPr/>
                    <a:lstStyle/>
                    <a:p>
                      <a:pPr algn="ctr"/>
                      <a:r>
                        <a:rPr sz="1000">
                          <a:latin typeface="Times New Roman"/>
                        </a:rPr>
                        <a:t>Transpiration &amp; moisture</a:t>
                      </a:r>
                    </a:p>
                  </a:txBody>
                  <a:tcPr/>
                </a:tc>
                <a:extLst>
                  <a:ext uri="{0D108BD9-81ED-4DB2-BD59-A6C34878D82A}">
                    <a16:rowId xmlns:a16="http://schemas.microsoft.com/office/drawing/2014/main" val="10006"/>
                  </a:ext>
                </a:extLst>
              </a:tr>
              <a:tr h="422030">
                <a:tc>
                  <a:txBody>
                    <a:bodyPr/>
                    <a:lstStyle/>
                    <a:p>
                      <a:pPr algn="ctr"/>
                      <a:r>
                        <a:rPr sz="1000">
                          <a:latin typeface="Times New Roman"/>
                        </a:rPr>
                        <a:t>7</a:t>
                      </a:r>
                    </a:p>
                  </a:txBody>
                  <a:tcPr>
                    <a:solidFill>
                      <a:srgbClr val="D4EDD8"/>
                    </a:solidFill>
                  </a:tcPr>
                </a:tc>
                <a:tc>
                  <a:txBody>
                    <a:bodyPr/>
                    <a:lstStyle/>
                    <a:p>
                      <a:pPr algn="ctr"/>
                      <a:r>
                        <a:rPr sz="1000">
                          <a:latin typeface="Times New Roman"/>
                        </a:rPr>
                        <a:t>Rainfall</a:t>
                      </a:r>
                    </a:p>
                  </a:txBody>
                  <a:tcPr>
                    <a:solidFill>
                      <a:srgbClr val="D4EDD8"/>
                    </a:solidFill>
                  </a:tcPr>
                </a:tc>
                <a:tc>
                  <a:txBody>
                    <a:bodyPr/>
                    <a:lstStyle/>
                    <a:p>
                      <a:pPr algn="ctr"/>
                      <a:r>
                        <a:rPr sz="1000">
                          <a:latin typeface="Times New Roman"/>
                        </a:rPr>
                        <a:t>Climate</a:t>
                      </a:r>
                    </a:p>
                  </a:txBody>
                  <a:tcPr>
                    <a:solidFill>
                      <a:srgbClr val="D4EDD8"/>
                    </a:solidFill>
                  </a:tcPr>
                </a:tc>
                <a:tc>
                  <a:txBody>
                    <a:bodyPr/>
                    <a:lstStyle/>
                    <a:p>
                      <a:pPr algn="ctr"/>
                      <a:r>
                        <a:rPr sz="1000">
                          <a:latin typeface="Times New Roman"/>
                        </a:rPr>
                        <a:t>mm</a:t>
                      </a:r>
                    </a:p>
                  </a:txBody>
                  <a:tcPr>
                    <a:solidFill>
                      <a:srgbClr val="D4EDD8"/>
                    </a:solidFill>
                  </a:tcPr>
                </a:tc>
                <a:tc>
                  <a:txBody>
                    <a:bodyPr/>
                    <a:lstStyle/>
                    <a:p>
                      <a:pPr algn="ctr"/>
                      <a:r>
                        <a:rPr sz="1000">
                          <a:latin typeface="Times New Roman"/>
                        </a:rPr>
                        <a:t>Rain gauge / API</a:t>
                      </a:r>
                    </a:p>
                  </a:txBody>
                  <a:tcPr>
                    <a:solidFill>
                      <a:srgbClr val="D4EDD8"/>
                    </a:solidFill>
                  </a:tcPr>
                </a:tc>
                <a:tc>
                  <a:txBody>
                    <a:bodyPr/>
                    <a:lstStyle/>
                    <a:p>
                      <a:pPr algn="ctr"/>
                      <a:r>
                        <a:rPr sz="1000">
                          <a:latin typeface="Times New Roman"/>
                        </a:rPr>
                        <a:t>Water availability</a:t>
                      </a:r>
                    </a:p>
                  </a:txBody>
                  <a:tcPr>
                    <a:solidFill>
                      <a:srgbClr val="D4EDD8"/>
                    </a:solidFill>
                  </a:tcPr>
                </a:tc>
                <a:extLst>
                  <a:ext uri="{0D108BD9-81ED-4DB2-BD59-A6C34878D82A}">
                    <a16:rowId xmlns:a16="http://schemas.microsoft.com/office/drawing/2014/main" val="10007"/>
                  </a:ext>
                </a:extLst>
              </a:tr>
              <a:tr h="422030">
                <a:tc>
                  <a:txBody>
                    <a:bodyPr/>
                    <a:lstStyle/>
                    <a:p>
                      <a:pPr algn="ctr"/>
                      <a:r>
                        <a:rPr sz="1000">
                          <a:latin typeface="Times New Roman"/>
                        </a:rPr>
                        <a:t>8 ★</a:t>
                      </a:r>
                    </a:p>
                  </a:txBody>
                  <a:tcPr/>
                </a:tc>
                <a:tc>
                  <a:txBody>
                    <a:bodyPr/>
                    <a:lstStyle/>
                    <a:p>
                      <a:pPr algn="ctr"/>
                      <a:r>
                        <a:rPr sz="1000">
                          <a:latin typeface="Times New Roman"/>
                        </a:rPr>
                        <a:t>Elevation</a:t>
                      </a:r>
                    </a:p>
                  </a:txBody>
                  <a:tcPr/>
                </a:tc>
                <a:tc>
                  <a:txBody>
                    <a:bodyPr/>
                    <a:lstStyle/>
                    <a:p>
                      <a:pPr algn="ctr"/>
                      <a:r>
                        <a:rPr sz="1000">
                          <a:latin typeface="Times New Roman"/>
                        </a:rPr>
                        <a:t>Geographic</a:t>
                      </a:r>
                    </a:p>
                  </a:txBody>
                  <a:tcPr/>
                </a:tc>
                <a:tc>
                  <a:txBody>
                    <a:bodyPr/>
                    <a:lstStyle/>
                    <a:p>
                      <a:pPr algn="ctr"/>
                      <a:r>
                        <a:rPr sz="1000">
                          <a:latin typeface="Times New Roman"/>
                        </a:rPr>
                        <a:t>m (SRTM)</a:t>
                      </a:r>
                    </a:p>
                  </a:txBody>
                  <a:tcPr/>
                </a:tc>
                <a:tc>
                  <a:txBody>
                    <a:bodyPr/>
                    <a:lstStyle/>
                    <a:p>
                      <a:pPr algn="ctr"/>
                      <a:r>
                        <a:rPr sz="1000">
                          <a:latin typeface="Times New Roman"/>
                        </a:rPr>
                        <a:t>GPS + SRTM API</a:t>
                      </a:r>
                    </a:p>
                  </a:txBody>
                  <a:tcPr/>
                </a:tc>
                <a:tc>
                  <a:txBody>
                    <a:bodyPr/>
                    <a:lstStyle/>
                    <a:p>
                      <a:pPr algn="ctr"/>
                      <a:r>
                        <a:rPr sz="1000">
                          <a:latin typeface="Times New Roman"/>
                        </a:rPr>
                        <a:t>Atmospheric pressure / UV</a:t>
                      </a:r>
                    </a:p>
                  </a:txBody>
                  <a:tcPr/>
                </a:tc>
                <a:extLst>
                  <a:ext uri="{0D108BD9-81ED-4DB2-BD59-A6C34878D82A}">
                    <a16:rowId xmlns:a16="http://schemas.microsoft.com/office/drawing/2014/main" val="10008"/>
                  </a:ext>
                </a:extLst>
              </a:tr>
              <a:tr h="422030">
                <a:tc>
                  <a:txBody>
                    <a:bodyPr/>
                    <a:lstStyle/>
                    <a:p>
                      <a:pPr algn="ctr"/>
                      <a:r>
                        <a:rPr sz="1000">
                          <a:latin typeface="Times New Roman"/>
                        </a:rPr>
                        <a:t>9 ★</a:t>
                      </a:r>
                    </a:p>
                  </a:txBody>
                  <a:tcPr>
                    <a:solidFill>
                      <a:srgbClr val="D4EDD8"/>
                    </a:solidFill>
                  </a:tcPr>
                </a:tc>
                <a:tc>
                  <a:txBody>
                    <a:bodyPr/>
                    <a:lstStyle/>
                    <a:p>
                      <a:pPr algn="ctr"/>
                      <a:r>
                        <a:rPr sz="1000">
                          <a:latin typeface="Times New Roman"/>
                        </a:rPr>
                        <a:t>Climate Zone</a:t>
                      </a:r>
                    </a:p>
                  </a:txBody>
                  <a:tcPr>
                    <a:solidFill>
                      <a:srgbClr val="D4EDD8"/>
                    </a:solidFill>
                  </a:tcPr>
                </a:tc>
                <a:tc>
                  <a:txBody>
                    <a:bodyPr/>
                    <a:lstStyle/>
                    <a:p>
                      <a:pPr algn="ctr"/>
                      <a:r>
                        <a:rPr sz="1000">
                          <a:latin typeface="Times New Roman"/>
                        </a:rPr>
                        <a:t>Geographic</a:t>
                      </a:r>
                    </a:p>
                  </a:txBody>
                  <a:tcPr>
                    <a:solidFill>
                      <a:srgbClr val="D4EDD8"/>
                    </a:solidFill>
                  </a:tcPr>
                </a:tc>
                <a:tc>
                  <a:txBody>
                    <a:bodyPr/>
                    <a:lstStyle/>
                    <a:p>
                      <a:pPr algn="ctr"/>
                      <a:r>
                        <a:rPr sz="1000">
                          <a:latin typeface="Times New Roman"/>
                        </a:rPr>
                        <a:t>1–4 (Köppen)</a:t>
                      </a:r>
                    </a:p>
                  </a:txBody>
                  <a:tcPr>
                    <a:solidFill>
                      <a:srgbClr val="D4EDD8"/>
                    </a:solidFill>
                  </a:tcPr>
                </a:tc>
                <a:tc>
                  <a:txBody>
                    <a:bodyPr/>
                    <a:lstStyle/>
                    <a:p>
                      <a:pPr algn="ctr"/>
                      <a:r>
                        <a:rPr sz="1000">
                          <a:latin typeface="Times New Roman"/>
                        </a:rPr>
                        <a:t>GPS → Köppen Map</a:t>
                      </a:r>
                    </a:p>
                  </a:txBody>
                  <a:tcPr>
                    <a:solidFill>
                      <a:srgbClr val="D4EDD8"/>
                    </a:solidFill>
                  </a:tcPr>
                </a:tc>
                <a:tc>
                  <a:txBody>
                    <a:bodyPr/>
                    <a:lstStyle/>
                    <a:p>
                      <a:pPr algn="ctr"/>
                      <a:r>
                        <a:rPr sz="1000">
                          <a:latin typeface="Times New Roman"/>
                        </a:rPr>
                        <a:t>Arid/Tropical/Temperate/Cold</a:t>
                      </a:r>
                    </a:p>
                  </a:txBody>
                  <a:tcPr>
                    <a:solidFill>
                      <a:srgbClr val="D4EDD8"/>
                    </a:solidFill>
                  </a:tcPr>
                </a:tc>
                <a:extLst>
                  <a:ext uri="{0D108BD9-81ED-4DB2-BD59-A6C34878D82A}">
                    <a16:rowId xmlns:a16="http://schemas.microsoft.com/office/drawing/2014/main" val="10009"/>
                  </a:ext>
                </a:extLst>
              </a:tr>
              <a:tr h="422030">
                <a:tc>
                  <a:txBody>
                    <a:bodyPr/>
                    <a:lstStyle/>
                    <a:p>
                      <a:pPr algn="ctr"/>
                      <a:r>
                        <a:rPr sz="1000">
                          <a:latin typeface="Times New Roman"/>
                        </a:rPr>
                        <a:t>10 ★</a:t>
                      </a:r>
                    </a:p>
                  </a:txBody>
                  <a:tcPr/>
                </a:tc>
                <a:tc>
                  <a:txBody>
                    <a:bodyPr/>
                    <a:lstStyle/>
                    <a:p>
                      <a:pPr algn="ctr"/>
                      <a:r>
                        <a:rPr sz="1000">
                          <a:latin typeface="Times New Roman"/>
                        </a:rPr>
                        <a:t>Soil Texture</a:t>
                      </a:r>
                    </a:p>
                  </a:txBody>
                  <a:tcPr/>
                </a:tc>
                <a:tc>
                  <a:txBody>
                    <a:bodyPr/>
                    <a:lstStyle/>
                    <a:p>
                      <a:pPr algn="ctr"/>
                      <a:r>
                        <a:rPr sz="1000">
                          <a:latin typeface="Times New Roman"/>
                        </a:rPr>
                        <a:t>Physical</a:t>
                      </a:r>
                    </a:p>
                  </a:txBody>
                  <a:tcPr/>
                </a:tc>
                <a:tc>
                  <a:txBody>
                    <a:bodyPr/>
                    <a:lstStyle/>
                    <a:p>
                      <a:pPr algn="ctr"/>
                      <a:r>
                        <a:rPr sz="1000">
                          <a:latin typeface="Times New Roman"/>
                        </a:rPr>
                        <a:t>1–3 index</a:t>
                      </a:r>
                    </a:p>
                  </a:txBody>
                  <a:tcPr/>
                </a:tc>
                <a:tc>
                  <a:txBody>
                    <a:bodyPr/>
                    <a:lstStyle/>
                    <a:p>
                      <a:pPr algn="ctr"/>
                      <a:r>
                        <a:rPr sz="1000">
                          <a:latin typeface="Times New Roman"/>
                        </a:rPr>
                        <a:t>Geotechnical / CNN</a:t>
                      </a:r>
                    </a:p>
                  </a:txBody>
                  <a:tcPr/>
                </a:tc>
                <a:tc>
                  <a:txBody>
                    <a:bodyPr/>
                    <a:lstStyle/>
                    <a:p>
                      <a:pPr algn="ctr"/>
                      <a:r>
                        <a:rPr sz="1000">
                          <a:latin typeface="Times New Roman"/>
                        </a:rPr>
                        <a:t>Water-holding capacity</a:t>
                      </a:r>
                    </a:p>
                  </a:txBody>
                  <a:tcPr/>
                </a:tc>
                <a:extLst>
                  <a:ext uri="{0D108BD9-81ED-4DB2-BD59-A6C34878D82A}">
                    <a16:rowId xmlns:a16="http://schemas.microsoft.com/office/drawing/2014/main" val="10010"/>
                  </a:ext>
                </a:extLst>
              </a:tr>
              <a:tr h="422030">
                <a:tc>
                  <a:txBody>
                    <a:bodyPr/>
                    <a:lstStyle/>
                    <a:p>
                      <a:pPr algn="ctr"/>
                      <a:r>
                        <a:rPr sz="1000">
                          <a:latin typeface="Times New Roman"/>
                        </a:rPr>
                        <a:t>11 ★</a:t>
                      </a:r>
                    </a:p>
                  </a:txBody>
                  <a:tcPr>
                    <a:solidFill>
                      <a:srgbClr val="D4EDD8"/>
                    </a:solidFill>
                  </a:tcPr>
                </a:tc>
                <a:tc>
                  <a:txBody>
                    <a:bodyPr/>
                    <a:lstStyle/>
                    <a:p>
                      <a:pPr algn="ctr"/>
                      <a:r>
                        <a:rPr sz="1000">
                          <a:latin typeface="Times New Roman"/>
                        </a:rPr>
                        <a:t>Growth Days</a:t>
                      </a:r>
                    </a:p>
                  </a:txBody>
                  <a:tcPr>
                    <a:solidFill>
                      <a:srgbClr val="D4EDD8"/>
                    </a:solidFill>
                  </a:tcPr>
                </a:tc>
                <a:tc>
                  <a:txBody>
                    <a:bodyPr/>
                    <a:lstStyle/>
                    <a:p>
                      <a:pPr algn="ctr"/>
                      <a:r>
                        <a:rPr sz="1000">
                          <a:latin typeface="Times New Roman"/>
                        </a:rPr>
                        <a:t>Biological</a:t>
                      </a:r>
                    </a:p>
                  </a:txBody>
                  <a:tcPr>
                    <a:solidFill>
                      <a:srgbClr val="D4EDD8"/>
                    </a:solidFill>
                  </a:tcPr>
                </a:tc>
                <a:tc>
                  <a:txBody>
                    <a:bodyPr/>
                    <a:lstStyle/>
                    <a:p>
                      <a:pPr algn="ctr"/>
                      <a:r>
                        <a:rPr sz="1000">
                          <a:latin typeface="Times New Roman"/>
                        </a:rPr>
                        <a:t>Days</a:t>
                      </a:r>
                    </a:p>
                  </a:txBody>
                  <a:tcPr>
                    <a:solidFill>
                      <a:srgbClr val="D4EDD8"/>
                    </a:solidFill>
                  </a:tcPr>
                </a:tc>
                <a:tc>
                  <a:txBody>
                    <a:bodyPr/>
                    <a:lstStyle/>
                    <a:p>
                      <a:pPr algn="ctr"/>
                      <a:r>
                        <a:rPr sz="1000">
                          <a:latin typeface="Times New Roman"/>
                        </a:rPr>
                        <a:t>Crop Cycle DB</a:t>
                      </a:r>
                    </a:p>
                  </a:txBody>
                  <a:tcPr>
                    <a:solidFill>
                      <a:srgbClr val="D4EDD8"/>
                    </a:solidFill>
                  </a:tcPr>
                </a:tc>
                <a:tc>
                  <a:txBody>
                    <a:bodyPr/>
                    <a:lstStyle/>
                    <a:p>
                      <a:pPr algn="ctr"/>
                      <a:r>
                        <a:rPr sz="1000">
                          <a:latin typeface="Times New Roman"/>
                        </a:rPr>
                        <a:t>Seasonal window compatibility</a:t>
                      </a:r>
                    </a:p>
                  </a:txBody>
                  <a:tcPr>
                    <a:solidFill>
                      <a:srgbClr val="D4EDD8"/>
                    </a:solidFill>
                  </a:tcPr>
                </a:tc>
                <a:extLst>
                  <a:ext uri="{0D108BD9-81ED-4DB2-BD59-A6C34878D82A}">
                    <a16:rowId xmlns:a16="http://schemas.microsoft.com/office/drawing/2014/main" val="10011"/>
                  </a:ext>
                </a:extLst>
              </a:tr>
              <a:tr h="422040">
                <a:tc>
                  <a:txBody>
                    <a:bodyPr/>
                    <a:lstStyle/>
                    <a:p>
                      <a:pPr algn="ctr"/>
                      <a:r>
                        <a:rPr sz="1000">
                          <a:latin typeface="Times New Roman"/>
                        </a:rPr>
                        <a:t>12 ★</a:t>
                      </a:r>
                    </a:p>
                  </a:txBody>
                  <a:tcPr/>
                </a:tc>
                <a:tc>
                  <a:txBody>
                    <a:bodyPr/>
                    <a:lstStyle/>
                    <a:p>
                      <a:pPr algn="ctr"/>
                      <a:r>
                        <a:rPr sz="1000">
                          <a:latin typeface="Times New Roman"/>
                        </a:rPr>
                        <a:t>Market Demand</a:t>
                      </a:r>
                    </a:p>
                  </a:txBody>
                  <a:tcPr/>
                </a:tc>
                <a:tc>
                  <a:txBody>
                    <a:bodyPr/>
                    <a:lstStyle/>
                    <a:p>
                      <a:pPr algn="ctr"/>
                      <a:r>
                        <a:rPr sz="1000">
                          <a:latin typeface="Times New Roman"/>
                        </a:rPr>
                        <a:t>Economic</a:t>
                      </a:r>
                    </a:p>
                  </a:txBody>
                  <a:tcPr/>
                </a:tc>
                <a:tc>
                  <a:txBody>
                    <a:bodyPr/>
                    <a:lstStyle/>
                    <a:p>
                      <a:pPr algn="ctr"/>
                      <a:r>
                        <a:rPr sz="1000">
                          <a:latin typeface="Times New Roman"/>
                        </a:rPr>
                        <a:t>0.0–1.0</a:t>
                      </a:r>
                    </a:p>
                  </a:txBody>
                  <a:tcPr/>
                </a:tc>
                <a:tc>
                  <a:txBody>
                    <a:bodyPr/>
                    <a:lstStyle/>
                    <a:p>
                      <a:pPr algn="ctr"/>
                      <a:r>
                        <a:rPr sz="1000">
                          <a:latin typeface="Times New Roman"/>
                        </a:rPr>
                        <a:t>Market API</a:t>
                      </a:r>
                    </a:p>
                  </a:txBody>
                  <a:tcPr/>
                </a:tc>
                <a:tc>
                  <a:txBody>
                    <a:bodyPr/>
                    <a:lstStyle/>
                    <a:p>
                      <a:pPr algn="ctr"/>
                      <a:r>
                        <a:rPr sz="1000">
                          <a:latin typeface="Times New Roman"/>
                        </a:rPr>
                        <a:t>Economic viability</a:t>
                      </a: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Tier 2 — Two-Tier Stacked Hybrid Ensemble Model</a:t>
            </a:r>
          </a:p>
        </p:txBody>
      </p:sp>
      <p:sp>
        <p:nvSpPr>
          <p:cNvPr id="5" name="Rectangle 4"/>
          <p:cNvSpPr/>
          <p:nvPr/>
        </p:nvSpPr>
        <p:spPr>
          <a:xfrm>
            <a:off x="274320" y="1097280"/>
            <a:ext cx="502920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097280"/>
            <a:ext cx="5029200" cy="4114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15568"/>
            <a:ext cx="4846320" cy="365760"/>
          </a:xfrm>
          <a:prstGeom prst="rect">
            <a:avLst/>
          </a:prstGeom>
          <a:noFill/>
        </p:spPr>
        <p:txBody>
          <a:bodyPr wrap="square">
            <a:spAutoFit/>
          </a:bodyPr>
          <a:lstStyle/>
          <a:p>
            <a:pPr algn="l"/>
            <a:r>
              <a:rPr sz="1300" b="1" i="0">
                <a:solidFill>
                  <a:srgbClr val="FFFFFF"/>
                </a:solidFill>
                <a:latin typeface="Times New Roman"/>
              </a:rPr>
              <a:t>Level-0: Base ML Classifiers (7 Models)</a:t>
            </a:r>
          </a:p>
        </p:txBody>
      </p:sp>
      <p:sp>
        <p:nvSpPr>
          <p:cNvPr id="8" name="TextBox 7"/>
          <p:cNvSpPr txBox="1"/>
          <p:nvPr/>
        </p:nvSpPr>
        <p:spPr>
          <a:xfrm>
            <a:off x="365760" y="1554480"/>
            <a:ext cx="4754880" cy="274320"/>
          </a:xfrm>
          <a:prstGeom prst="rect">
            <a:avLst/>
          </a:prstGeom>
          <a:noFill/>
        </p:spPr>
        <p:txBody>
          <a:bodyPr wrap="square">
            <a:spAutoFit/>
          </a:bodyPr>
          <a:lstStyle/>
          <a:p>
            <a:pPr algn="l"/>
            <a:r>
              <a:rPr sz="1100" b="0" i="0">
                <a:solidFill>
                  <a:srgbClr val="1A1A2E"/>
                </a:solidFill>
                <a:latin typeface="Times New Roman"/>
              </a:rPr>
              <a:t>  •  Random Forest (Bagging)</a:t>
            </a:r>
          </a:p>
        </p:txBody>
      </p:sp>
      <p:sp>
        <p:nvSpPr>
          <p:cNvPr id="9" name="TextBox 8"/>
          <p:cNvSpPr txBox="1"/>
          <p:nvPr/>
        </p:nvSpPr>
        <p:spPr>
          <a:xfrm>
            <a:off x="365760" y="1837943"/>
            <a:ext cx="4754880" cy="274320"/>
          </a:xfrm>
          <a:prstGeom prst="rect">
            <a:avLst/>
          </a:prstGeom>
          <a:noFill/>
        </p:spPr>
        <p:txBody>
          <a:bodyPr wrap="square">
            <a:spAutoFit/>
          </a:bodyPr>
          <a:lstStyle/>
          <a:p>
            <a:pPr algn="l"/>
            <a:r>
              <a:rPr sz="1100" b="0" i="0">
                <a:solidFill>
                  <a:srgbClr val="1A1A2E"/>
                </a:solidFill>
                <a:latin typeface="Times New Roman"/>
              </a:rPr>
              <a:t>  •  XGBoost (Gradient Boosting)</a:t>
            </a:r>
          </a:p>
        </p:txBody>
      </p:sp>
      <p:sp>
        <p:nvSpPr>
          <p:cNvPr id="10" name="TextBox 9"/>
          <p:cNvSpPr txBox="1"/>
          <p:nvPr/>
        </p:nvSpPr>
        <p:spPr>
          <a:xfrm>
            <a:off x="365760" y="2121408"/>
            <a:ext cx="4754880" cy="274320"/>
          </a:xfrm>
          <a:prstGeom prst="rect">
            <a:avLst/>
          </a:prstGeom>
          <a:noFill/>
        </p:spPr>
        <p:txBody>
          <a:bodyPr wrap="square">
            <a:spAutoFit/>
          </a:bodyPr>
          <a:lstStyle/>
          <a:p>
            <a:pPr algn="l"/>
            <a:r>
              <a:rPr sz="1100" b="0" i="0">
                <a:solidFill>
                  <a:srgbClr val="1A1A2E"/>
                </a:solidFill>
                <a:latin typeface="Times New Roman"/>
              </a:rPr>
              <a:t>  •  LightGBM (Leaf-wise Boosting)</a:t>
            </a:r>
          </a:p>
        </p:txBody>
      </p:sp>
      <p:sp>
        <p:nvSpPr>
          <p:cNvPr id="11" name="TextBox 10"/>
          <p:cNvSpPr txBox="1"/>
          <p:nvPr/>
        </p:nvSpPr>
        <p:spPr>
          <a:xfrm>
            <a:off x="365760" y="2404872"/>
            <a:ext cx="4754880" cy="274320"/>
          </a:xfrm>
          <a:prstGeom prst="rect">
            <a:avLst/>
          </a:prstGeom>
          <a:noFill/>
        </p:spPr>
        <p:txBody>
          <a:bodyPr wrap="square">
            <a:spAutoFit/>
          </a:bodyPr>
          <a:lstStyle/>
          <a:p>
            <a:pPr algn="l"/>
            <a:r>
              <a:rPr sz="1100" b="0" i="0">
                <a:solidFill>
                  <a:srgbClr val="1A1A2E"/>
                </a:solidFill>
                <a:latin typeface="Times New Roman"/>
              </a:rPr>
              <a:t>  •  Support Vector Classifier (SVM)</a:t>
            </a:r>
          </a:p>
        </p:txBody>
      </p:sp>
      <p:sp>
        <p:nvSpPr>
          <p:cNvPr id="12" name="TextBox 11"/>
          <p:cNvSpPr txBox="1"/>
          <p:nvPr/>
        </p:nvSpPr>
        <p:spPr>
          <a:xfrm>
            <a:off x="365760" y="2688336"/>
            <a:ext cx="4754880" cy="274320"/>
          </a:xfrm>
          <a:prstGeom prst="rect">
            <a:avLst/>
          </a:prstGeom>
          <a:noFill/>
        </p:spPr>
        <p:txBody>
          <a:bodyPr wrap="square">
            <a:spAutoFit/>
          </a:bodyPr>
          <a:lstStyle/>
          <a:p>
            <a:pPr algn="l"/>
            <a:r>
              <a:rPr sz="1100" b="0" i="0">
                <a:solidFill>
                  <a:srgbClr val="1A1A2E"/>
                </a:solidFill>
                <a:latin typeface="Times New Roman"/>
              </a:rPr>
              <a:t>  •  K-Nearest Neighbors (KNN)</a:t>
            </a:r>
          </a:p>
        </p:txBody>
      </p:sp>
      <p:sp>
        <p:nvSpPr>
          <p:cNvPr id="13" name="TextBox 12"/>
          <p:cNvSpPr txBox="1"/>
          <p:nvPr/>
        </p:nvSpPr>
        <p:spPr>
          <a:xfrm>
            <a:off x="365760" y="2971800"/>
            <a:ext cx="4754880" cy="274320"/>
          </a:xfrm>
          <a:prstGeom prst="rect">
            <a:avLst/>
          </a:prstGeom>
          <a:noFill/>
        </p:spPr>
        <p:txBody>
          <a:bodyPr wrap="square">
            <a:spAutoFit/>
          </a:bodyPr>
          <a:lstStyle/>
          <a:p>
            <a:pPr algn="l"/>
            <a:r>
              <a:rPr sz="1100" b="0" i="0">
                <a:solidFill>
                  <a:srgbClr val="1A1A2E"/>
                </a:solidFill>
                <a:latin typeface="Times New Roman"/>
              </a:rPr>
              <a:t>  •  Naïve Bayes (Probabilistic)</a:t>
            </a:r>
          </a:p>
        </p:txBody>
      </p:sp>
      <p:sp>
        <p:nvSpPr>
          <p:cNvPr id="14" name="TextBox 13"/>
          <p:cNvSpPr txBox="1"/>
          <p:nvPr/>
        </p:nvSpPr>
        <p:spPr>
          <a:xfrm>
            <a:off x="365760" y="3255263"/>
            <a:ext cx="4754880" cy="274320"/>
          </a:xfrm>
          <a:prstGeom prst="rect">
            <a:avLst/>
          </a:prstGeom>
          <a:noFill/>
        </p:spPr>
        <p:txBody>
          <a:bodyPr wrap="square">
            <a:spAutoFit/>
          </a:bodyPr>
          <a:lstStyle/>
          <a:p>
            <a:pPr algn="l"/>
            <a:r>
              <a:rPr sz="1100" b="0" i="0">
                <a:solidFill>
                  <a:srgbClr val="1A1A2E"/>
                </a:solidFill>
                <a:latin typeface="Times New Roman"/>
              </a:rPr>
              <a:t>  •  Decision Tree (Base Estimator)</a:t>
            </a:r>
          </a:p>
        </p:txBody>
      </p:sp>
      <p:sp>
        <p:nvSpPr>
          <p:cNvPr id="15" name="Rectangle 14"/>
          <p:cNvSpPr/>
          <p:nvPr/>
        </p:nvSpPr>
        <p:spPr>
          <a:xfrm>
            <a:off x="5577840" y="1097280"/>
            <a:ext cx="457200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577840" y="1097280"/>
            <a:ext cx="457200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0" y="1115568"/>
            <a:ext cx="4389120" cy="365760"/>
          </a:xfrm>
          <a:prstGeom prst="rect">
            <a:avLst/>
          </a:prstGeom>
          <a:noFill/>
        </p:spPr>
        <p:txBody>
          <a:bodyPr wrap="square">
            <a:spAutoFit/>
          </a:bodyPr>
          <a:lstStyle/>
          <a:p>
            <a:pPr algn="l"/>
            <a:r>
              <a:rPr sz="1300" b="1" i="0">
                <a:solidFill>
                  <a:srgbClr val="FFFFFF"/>
                </a:solidFill>
                <a:latin typeface="Times New Roman"/>
              </a:rPr>
              <a:t>Level-0: Deep Learner (CNN-BiLSTM)</a:t>
            </a:r>
          </a:p>
        </p:txBody>
      </p:sp>
      <p:sp>
        <p:nvSpPr>
          <p:cNvPr id="18" name="TextBox 17"/>
          <p:cNvSpPr txBox="1"/>
          <p:nvPr/>
        </p:nvSpPr>
        <p:spPr>
          <a:xfrm>
            <a:off x="5669280" y="1554480"/>
            <a:ext cx="4297680" cy="411480"/>
          </a:xfrm>
          <a:prstGeom prst="rect">
            <a:avLst/>
          </a:prstGeom>
          <a:noFill/>
        </p:spPr>
        <p:txBody>
          <a:bodyPr wrap="square">
            <a:spAutoFit/>
          </a:bodyPr>
          <a:lstStyle/>
          <a:p>
            <a:pPr algn="l"/>
            <a:r>
              <a:rPr sz="1200" b="0" i="0">
                <a:solidFill>
                  <a:srgbClr val="1A1A2E"/>
                </a:solidFill>
                <a:latin typeface="Times New Roman"/>
              </a:rPr>
              <a:t>  •  1D CNN: Spatial feature extraction</a:t>
            </a:r>
          </a:p>
        </p:txBody>
      </p:sp>
      <p:sp>
        <p:nvSpPr>
          <p:cNvPr id="19" name="TextBox 18"/>
          <p:cNvSpPr txBox="1"/>
          <p:nvPr/>
        </p:nvSpPr>
        <p:spPr>
          <a:xfrm>
            <a:off x="5669280" y="2011680"/>
            <a:ext cx="4297680" cy="411480"/>
          </a:xfrm>
          <a:prstGeom prst="rect">
            <a:avLst/>
          </a:prstGeom>
          <a:noFill/>
        </p:spPr>
        <p:txBody>
          <a:bodyPr wrap="square">
            <a:spAutoFit/>
          </a:bodyPr>
          <a:lstStyle/>
          <a:p>
            <a:pPr algn="l"/>
            <a:r>
              <a:rPr sz="1200" b="0" i="0">
                <a:solidFill>
                  <a:srgbClr val="1A1A2E"/>
                </a:solidFill>
                <a:latin typeface="Times New Roman"/>
              </a:rPr>
              <a:t>  •  BiLSTM: Sequential pattern analysis</a:t>
            </a:r>
          </a:p>
        </p:txBody>
      </p:sp>
      <p:sp>
        <p:nvSpPr>
          <p:cNvPr id="20" name="TextBox 19"/>
          <p:cNvSpPr txBox="1"/>
          <p:nvPr/>
        </p:nvSpPr>
        <p:spPr>
          <a:xfrm>
            <a:off x="5669280" y="2468880"/>
            <a:ext cx="4297680" cy="411480"/>
          </a:xfrm>
          <a:prstGeom prst="rect">
            <a:avLst/>
          </a:prstGeom>
          <a:noFill/>
        </p:spPr>
        <p:txBody>
          <a:bodyPr wrap="square">
            <a:spAutoFit/>
          </a:bodyPr>
          <a:lstStyle/>
          <a:p>
            <a:pPr algn="l"/>
            <a:r>
              <a:rPr sz="1200" b="0" i="0">
                <a:solidFill>
                  <a:srgbClr val="1A1A2E"/>
                </a:solidFill>
                <a:latin typeface="Times New Roman"/>
              </a:rPr>
              <a:t>  •  Graceful fallback to MLP if TF unavailable</a:t>
            </a:r>
          </a:p>
        </p:txBody>
      </p:sp>
      <p:sp>
        <p:nvSpPr>
          <p:cNvPr id="21" name="TextBox 20"/>
          <p:cNvSpPr txBox="1"/>
          <p:nvPr/>
        </p:nvSpPr>
        <p:spPr>
          <a:xfrm>
            <a:off x="5669280" y="2926080"/>
            <a:ext cx="4297680" cy="411480"/>
          </a:xfrm>
          <a:prstGeom prst="rect">
            <a:avLst/>
          </a:prstGeom>
          <a:noFill/>
        </p:spPr>
        <p:txBody>
          <a:bodyPr wrap="square">
            <a:spAutoFit/>
          </a:bodyPr>
          <a:lstStyle/>
          <a:p>
            <a:pPr algn="l"/>
            <a:r>
              <a:rPr sz="1200" b="0" i="0">
                <a:solidFill>
                  <a:srgbClr val="1A1A2E"/>
                </a:solidFill>
                <a:latin typeface="Times New Roman"/>
              </a:rPr>
              <a:t>  •  Handles tabular + sequential input</a:t>
            </a:r>
          </a:p>
        </p:txBody>
      </p:sp>
      <p:sp>
        <p:nvSpPr>
          <p:cNvPr id="22" name="TextBox 21"/>
          <p:cNvSpPr txBox="1"/>
          <p:nvPr/>
        </p:nvSpPr>
        <p:spPr>
          <a:xfrm>
            <a:off x="274320" y="3520440"/>
            <a:ext cx="11430000" cy="365760"/>
          </a:xfrm>
          <a:prstGeom prst="rect">
            <a:avLst/>
          </a:prstGeom>
          <a:noFill/>
        </p:spPr>
        <p:txBody>
          <a:bodyPr wrap="square">
            <a:spAutoFit/>
          </a:bodyPr>
          <a:lstStyle/>
          <a:p>
            <a:pPr algn="ctr"/>
            <a:r>
              <a:rPr sz="1400" b="1" i="0">
                <a:solidFill>
                  <a:srgbClr val="1B5026"/>
                </a:solidFill>
                <a:latin typeface="Times New Roman"/>
              </a:rPr>
              <a:t>▼  Concatenated Probability Vectors  ▼</a:t>
            </a:r>
          </a:p>
        </p:txBody>
      </p:sp>
      <p:sp>
        <p:nvSpPr>
          <p:cNvPr id="23" name="Rectangle 22"/>
          <p:cNvSpPr/>
          <p:nvPr/>
        </p:nvSpPr>
        <p:spPr>
          <a:xfrm>
            <a:off x="1371600" y="3931920"/>
            <a:ext cx="9144000" cy="128016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63040" y="3977639"/>
            <a:ext cx="8961120" cy="411480"/>
          </a:xfrm>
          <a:prstGeom prst="rect">
            <a:avLst/>
          </a:prstGeom>
          <a:noFill/>
        </p:spPr>
        <p:txBody>
          <a:bodyPr wrap="square">
            <a:spAutoFit/>
          </a:bodyPr>
          <a:lstStyle/>
          <a:p>
            <a:pPr algn="ctr"/>
            <a:r>
              <a:rPr sz="1500" b="1" i="0">
                <a:solidFill>
                  <a:srgbClr val="D4AF37"/>
                </a:solidFill>
                <a:latin typeface="Times New Roman"/>
              </a:rPr>
              <a:t>Level-1: MLP Meta-Learner (Stacking Layer)</a:t>
            </a:r>
          </a:p>
        </p:txBody>
      </p:sp>
      <p:sp>
        <p:nvSpPr>
          <p:cNvPr id="25" name="TextBox 24"/>
          <p:cNvSpPr txBox="1"/>
          <p:nvPr/>
        </p:nvSpPr>
        <p:spPr>
          <a:xfrm>
            <a:off x="1554480" y="4407408"/>
            <a:ext cx="8778240" cy="411480"/>
          </a:xfrm>
          <a:prstGeom prst="rect">
            <a:avLst/>
          </a:prstGeom>
          <a:noFill/>
        </p:spPr>
        <p:txBody>
          <a:bodyPr wrap="square">
            <a:spAutoFit/>
          </a:bodyPr>
          <a:lstStyle/>
          <a:p>
            <a:pPr algn="ctr"/>
            <a:r>
              <a:rPr sz="1300" b="0" i="0">
                <a:solidFill>
                  <a:srgbClr val="FFFFFF"/>
                </a:solidFill>
                <a:latin typeface="Times New Roman"/>
              </a:rPr>
              <a:t>Learns to optimally weight base model outputs → corrects systematic errors → final prediction</a:t>
            </a:r>
          </a:p>
        </p:txBody>
      </p:sp>
      <p:sp>
        <p:nvSpPr>
          <p:cNvPr id="26" name="Rectangle 25"/>
          <p:cNvSpPr/>
          <p:nvPr/>
        </p:nvSpPr>
        <p:spPr>
          <a:xfrm>
            <a:off x="1371600" y="5303520"/>
            <a:ext cx="9144000" cy="10972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63040" y="5349240"/>
            <a:ext cx="8961120" cy="411480"/>
          </a:xfrm>
          <a:prstGeom prst="rect">
            <a:avLst/>
          </a:prstGeom>
          <a:noFill/>
        </p:spPr>
        <p:txBody>
          <a:bodyPr wrap="square">
            <a:spAutoFit/>
          </a:bodyPr>
          <a:lstStyle/>
          <a:p>
            <a:pPr algn="ctr"/>
            <a:r>
              <a:rPr sz="1400" b="1" i="0">
                <a:solidFill>
                  <a:srgbClr val="FFFFFF"/>
                </a:solidFill>
                <a:latin typeface="Times New Roman"/>
              </a:rPr>
              <a:t>MC-Dropout Inference  (N=50 forward passes)</a:t>
            </a:r>
          </a:p>
        </p:txBody>
      </p:sp>
      <p:sp>
        <p:nvSpPr>
          <p:cNvPr id="28" name="TextBox 27"/>
          <p:cNvSpPr txBox="1"/>
          <p:nvPr/>
        </p:nvSpPr>
        <p:spPr>
          <a:xfrm>
            <a:off x="1554480" y="5760720"/>
            <a:ext cx="8778240" cy="411480"/>
          </a:xfrm>
          <a:prstGeom prst="rect">
            <a:avLst/>
          </a:prstGeom>
          <a:noFill/>
        </p:spPr>
        <p:txBody>
          <a:bodyPr wrap="square">
            <a:spAutoFit/>
          </a:bodyPr>
          <a:lstStyle/>
          <a:p>
            <a:pPr algn="ctr"/>
            <a:r>
              <a:rPr sz="1200" b="0" i="1">
                <a:solidFill>
                  <a:srgbClr val="CCFFCC"/>
                </a:solidFill>
                <a:latin typeface="Times New Roman"/>
              </a:rPr>
              <a:t>μ_confidence = mean(P_i)   |   σ_uncertainty = std(P_i)   →  Top-3 Ranked Recommendations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Tier 3 — Triple-Layer Explainable AI (XAI) Architecture</a:t>
            </a:r>
          </a:p>
        </p:txBody>
      </p:sp>
      <p:sp>
        <p:nvSpPr>
          <p:cNvPr id="5" name="Rectangle 4"/>
          <p:cNvSpPr/>
          <p:nvPr/>
        </p:nvSpPr>
        <p:spPr>
          <a:xfrm>
            <a:off x="365760" y="1097280"/>
            <a:ext cx="36576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97280"/>
            <a:ext cx="3657600" cy="7772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15568"/>
            <a:ext cx="3474720" cy="411480"/>
          </a:xfrm>
          <a:prstGeom prst="rect">
            <a:avLst/>
          </a:prstGeom>
          <a:noFill/>
        </p:spPr>
        <p:txBody>
          <a:bodyPr wrap="square">
            <a:spAutoFit/>
          </a:bodyPr>
          <a:lstStyle/>
          <a:p>
            <a:pPr algn="ctr"/>
            <a:r>
              <a:rPr sz="2200" b="1" i="0">
                <a:solidFill>
                  <a:srgbClr val="D4AF37"/>
                </a:solidFill>
                <a:latin typeface="Times New Roman"/>
              </a:rPr>
              <a:t>SHAP</a:t>
            </a:r>
          </a:p>
        </p:txBody>
      </p:sp>
      <p:sp>
        <p:nvSpPr>
          <p:cNvPr id="8" name="TextBox 7"/>
          <p:cNvSpPr txBox="1"/>
          <p:nvPr/>
        </p:nvSpPr>
        <p:spPr>
          <a:xfrm>
            <a:off x="457200" y="1508760"/>
            <a:ext cx="3474720" cy="502920"/>
          </a:xfrm>
          <a:prstGeom prst="rect">
            <a:avLst/>
          </a:prstGeom>
          <a:noFill/>
        </p:spPr>
        <p:txBody>
          <a:bodyPr wrap="square">
            <a:spAutoFit/>
          </a:bodyPr>
          <a:lstStyle/>
          <a:p>
            <a:pPr algn="ctr"/>
            <a:r>
              <a:rPr sz="1000" b="0" i="0">
                <a:solidFill>
                  <a:srgbClr val="FFFFFF"/>
                </a:solidFill>
                <a:latin typeface="Times New Roman"/>
              </a:rPr>
              <a:t>SHapley Additive
exPlanations</a:t>
            </a:r>
          </a:p>
        </p:txBody>
      </p:sp>
      <p:sp>
        <p:nvSpPr>
          <p:cNvPr id="9" name="TextBox 8"/>
          <p:cNvSpPr txBox="1"/>
          <p:nvPr/>
        </p:nvSpPr>
        <p:spPr>
          <a:xfrm>
            <a:off x="502920" y="1965960"/>
            <a:ext cx="3383280" cy="713232"/>
          </a:xfrm>
          <a:prstGeom prst="rect">
            <a:avLst/>
          </a:prstGeom>
          <a:noFill/>
        </p:spPr>
        <p:txBody>
          <a:bodyPr wrap="square">
            <a:spAutoFit/>
          </a:bodyPr>
          <a:lstStyle/>
          <a:p>
            <a:pPr algn="l"/>
            <a:r>
              <a:rPr sz="1200" b="0" i="0">
                <a:solidFill>
                  <a:srgbClr val="1A1A2E"/>
                </a:solidFill>
                <a:latin typeface="Times New Roman"/>
              </a:rPr>
              <a:t>  •  Based on cooperative game theory</a:t>
            </a:r>
          </a:p>
        </p:txBody>
      </p:sp>
      <p:sp>
        <p:nvSpPr>
          <p:cNvPr id="10" name="TextBox 9"/>
          <p:cNvSpPr txBox="1"/>
          <p:nvPr/>
        </p:nvSpPr>
        <p:spPr>
          <a:xfrm>
            <a:off x="502920" y="2743200"/>
            <a:ext cx="3383280" cy="713232"/>
          </a:xfrm>
          <a:prstGeom prst="rect">
            <a:avLst/>
          </a:prstGeom>
          <a:noFill/>
        </p:spPr>
        <p:txBody>
          <a:bodyPr wrap="square">
            <a:spAutoFit/>
          </a:bodyPr>
          <a:lstStyle/>
          <a:p>
            <a:pPr algn="l"/>
            <a:r>
              <a:rPr sz="1200" b="0" i="0">
                <a:solidFill>
                  <a:srgbClr val="1A1A2E"/>
                </a:solidFill>
                <a:latin typeface="Times New Roman"/>
              </a:rPr>
              <a:t>  •  Marginal contribution of each feature</a:t>
            </a:r>
          </a:p>
        </p:txBody>
      </p:sp>
      <p:sp>
        <p:nvSpPr>
          <p:cNvPr id="11" name="TextBox 10"/>
          <p:cNvSpPr txBox="1"/>
          <p:nvPr/>
        </p:nvSpPr>
        <p:spPr>
          <a:xfrm>
            <a:off x="502920" y="3520439"/>
            <a:ext cx="3383280" cy="713232"/>
          </a:xfrm>
          <a:prstGeom prst="rect">
            <a:avLst/>
          </a:prstGeom>
          <a:noFill/>
        </p:spPr>
        <p:txBody>
          <a:bodyPr wrap="square">
            <a:spAutoFit/>
          </a:bodyPr>
          <a:lstStyle/>
          <a:p>
            <a:pPr algn="l"/>
            <a:r>
              <a:rPr sz="1200" b="0" i="0">
                <a:solidFill>
                  <a:srgbClr val="1A1A2E"/>
                </a:solidFill>
                <a:latin typeface="Times New Roman"/>
              </a:rPr>
              <a:t>  •  Global Beeswarm plot — corpus-wide</a:t>
            </a:r>
          </a:p>
        </p:txBody>
      </p:sp>
      <p:sp>
        <p:nvSpPr>
          <p:cNvPr id="12" name="TextBox 11"/>
          <p:cNvSpPr txBox="1"/>
          <p:nvPr/>
        </p:nvSpPr>
        <p:spPr>
          <a:xfrm>
            <a:off x="502920" y="4297679"/>
            <a:ext cx="3383280" cy="713232"/>
          </a:xfrm>
          <a:prstGeom prst="rect">
            <a:avLst/>
          </a:prstGeom>
          <a:noFill/>
        </p:spPr>
        <p:txBody>
          <a:bodyPr wrap="square">
            <a:spAutoFit/>
          </a:bodyPr>
          <a:lstStyle/>
          <a:p>
            <a:pPr algn="l"/>
            <a:r>
              <a:rPr sz="1200" b="0" i="0">
                <a:solidFill>
                  <a:srgbClr val="1A1A2E"/>
                </a:solidFill>
                <a:latin typeface="Times New Roman"/>
              </a:rPr>
              <a:t>  •  Local Waterfall plot — per prediction</a:t>
            </a:r>
          </a:p>
        </p:txBody>
      </p:sp>
      <p:sp>
        <p:nvSpPr>
          <p:cNvPr id="13" name="TextBox 12"/>
          <p:cNvSpPr txBox="1"/>
          <p:nvPr/>
        </p:nvSpPr>
        <p:spPr>
          <a:xfrm>
            <a:off x="502920" y="5074920"/>
            <a:ext cx="3383280" cy="713232"/>
          </a:xfrm>
          <a:prstGeom prst="rect">
            <a:avLst/>
          </a:prstGeom>
          <a:noFill/>
        </p:spPr>
        <p:txBody>
          <a:bodyPr wrap="square">
            <a:spAutoFit/>
          </a:bodyPr>
          <a:lstStyle/>
          <a:p>
            <a:pPr algn="l"/>
            <a:r>
              <a:rPr sz="1200" b="0" i="0">
                <a:solidFill>
                  <a:srgbClr val="1A1A2E"/>
                </a:solidFill>
                <a:latin typeface="Times New Roman"/>
              </a:rPr>
              <a:t>  •  Output: shap_summary.png, shap_local.png</a:t>
            </a:r>
          </a:p>
        </p:txBody>
      </p:sp>
      <p:sp>
        <p:nvSpPr>
          <p:cNvPr id="14" name="Rectangle 13"/>
          <p:cNvSpPr/>
          <p:nvPr/>
        </p:nvSpPr>
        <p:spPr>
          <a:xfrm>
            <a:off x="4297680" y="1097280"/>
            <a:ext cx="36576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80" y="1097280"/>
            <a:ext cx="3657600" cy="77724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1115568"/>
            <a:ext cx="3474720" cy="411480"/>
          </a:xfrm>
          <a:prstGeom prst="rect">
            <a:avLst/>
          </a:prstGeom>
          <a:noFill/>
        </p:spPr>
        <p:txBody>
          <a:bodyPr wrap="square">
            <a:spAutoFit/>
          </a:bodyPr>
          <a:lstStyle/>
          <a:p>
            <a:pPr algn="ctr"/>
            <a:r>
              <a:rPr sz="2200" b="1" i="0">
                <a:solidFill>
                  <a:srgbClr val="D4AF37"/>
                </a:solidFill>
                <a:latin typeface="Times New Roman"/>
              </a:rPr>
              <a:t>LIME</a:t>
            </a:r>
          </a:p>
        </p:txBody>
      </p:sp>
      <p:sp>
        <p:nvSpPr>
          <p:cNvPr id="17" name="TextBox 16"/>
          <p:cNvSpPr txBox="1"/>
          <p:nvPr/>
        </p:nvSpPr>
        <p:spPr>
          <a:xfrm>
            <a:off x="4389120" y="1508760"/>
            <a:ext cx="3474720" cy="502920"/>
          </a:xfrm>
          <a:prstGeom prst="rect">
            <a:avLst/>
          </a:prstGeom>
          <a:noFill/>
        </p:spPr>
        <p:txBody>
          <a:bodyPr wrap="square">
            <a:spAutoFit/>
          </a:bodyPr>
          <a:lstStyle/>
          <a:p>
            <a:pPr algn="ctr"/>
            <a:r>
              <a:rPr sz="1000" b="0" i="0">
                <a:solidFill>
                  <a:srgbClr val="FFFFFF"/>
                </a:solidFill>
                <a:latin typeface="Times New Roman"/>
              </a:rPr>
              <a:t>Local Interpretable
Model-Agnostic Explanations</a:t>
            </a:r>
          </a:p>
        </p:txBody>
      </p:sp>
      <p:sp>
        <p:nvSpPr>
          <p:cNvPr id="18" name="TextBox 17"/>
          <p:cNvSpPr txBox="1"/>
          <p:nvPr/>
        </p:nvSpPr>
        <p:spPr>
          <a:xfrm>
            <a:off x="4434840" y="1965960"/>
            <a:ext cx="3383280" cy="713232"/>
          </a:xfrm>
          <a:prstGeom prst="rect">
            <a:avLst/>
          </a:prstGeom>
          <a:noFill/>
        </p:spPr>
        <p:txBody>
          <a:bodyPr wrap="square">
            <a:spAutoFit/>
          </a:bodyPr>
          <a:lstStyle/>
          <a:p>
            <a:pPr algn="l"/>
            <a:r>
              <a:rPr sz="1200" b="0" i="0">
                <a:solidFill>
                  <a:srgbClr val="1A1A2E"/>
                </a:solidFill>
                <a:latin typeface="Times New Roman"/>
              </a:rPr>
              <a:t>  •  Perturbs input in local neighborhood</a:t>
            </a:r>
          </a:p>
        </p:txBody>
      </p:sp>
      <p:sp>
        <p:nvSpPr>
          <p:cNvPr id="19" name="TextBox 18"/>
          <p:cNvSpPr txBox="1"/>
          <p:nvPr/>
        </p:nvSpPr>
        <p:spPr>
          <a:xfrm>
            <a:off x="4434840" y="2743200"/>
            <a:ext cx="3383280" cy="713232"/>
          </a:xfrm>
          <a:prstGeom prst="rect">
            <a:avLst/>
          </a:prstGeom>
          <a:noFill/>
        </p:spPr>
        <p:txBody>
          <a:bodyPr wrap="square">
            <a:spAutoFit/>
          </a:bodyPr>
          <a:lstStyle/>
          <a:p>
            <a:pPr algn="l"/>
            <a:r>
              <a:rPr sz="1200" b="0" i="0">
                <a:solidFill>
                  <a:srgbClr val="1A1A2E"/>
                </a:solidFill>
                <a:latin typeface="Times New Roman"/>
              </a:rPr>
              <a:t>  •  Fits sparse linear surrogate model</a:t>
            </a:r>
          </a:p>
        </p:txBody>
      </p:sp>
      <p:sp>
        <p:nvSpPr>
          <p:cNvPr id="20" name="TextBox 19"/>
          <p:cNvSpPr txBox="1"/>
          <p:nvPr/>
        </p:nvSpPr>
        <p:spPr>
          <a:xfrm>
            <a:off x="4434840" y="3520439"/>
            <a:ext cx="3383280" cy="713232"/>
          </a:xfrm>
          <a:prstGeom prst="rect">
            <a:avLst/>
          </a:prstGeom>
          <a:noFill/>
        </p:spPr>
        <p:txBody>
          <a:bodyPr wrap="square">
            <a:spAutoFit/>
          </a:bodyPr>
          <a:lstStyle/>
          <a:p>
            <a:pPr algn="l"/>
            <a:r>
              <a:rPr sz="1200" b="0" i="0">
                <a:solidFill>
                  <a:srgbClr val="1A1A2E"/>
                </a:solidFill>
                <a:latin typeface="Times New Roman"/>
              </a:rPr>
              <a:t>  •  Shows physical sensor values driving each prediction</a:t>
            </a:r>
          </a:p>
        </p:txBody>
      </p:sp>
      <p:sp>
        <p:nvSpPr>
          <p:cNvPr id="21" name="TextBox 20"/>
          <p:cNvSpPr txBox="1"/>
          <p:nvPr/>
        </p:nvSpPr>
        <p:spPr>
          <a:xfrm>
            <a:off x="4434840" y="4297679"/>
            <a:ext cx="3383280" cy="713232"/>
          </a:xfrm>
          <a:prstGeom prst="rect">
            <a:avLst/>
          </a:prstGeom>
          <a:noFill/>
        </p:spPr>
        <p:txBody>
          <a:bodyPr wrap="square">
            <a:spAutoFit/>
          </a:bodyPr>
          <a:lstStyle/>
          <a:p>
            <a:pPr algn="l"/>
            <a:r>
              <a:rPr sz="1200" b="0" i="0">
                <a:solidFill>
                  <a:srgbClr val="1A1A2E"/>
                </a:solidFill>
                <a:latin typeface="Times New Roman"/>
              </a:rPr>
              <a:t>  •  Output: lime_explanation.png, lime_explanation.csv</a:t>
            </a:r>
          </a:p>
        </p:txBody>
      </p:sp>
      <p:sp>
        <p:nvSpPr>
          <p:cNvPr id="22" name="Rectangle 21"/>
          <p:cNvSpPr/>
          <p:nvPr/>
        </p:nvSpPr>
        <p:spPr>
          <a:xfrm>
            <a:off x="8229600" y="1097280"/>
            <a:ext cx="36576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29600" y="1097280"/>
            <a:ext cx="3657600" cy="777240"/>
          </a:xfrm>
          <a:prstGeom prst="rect">
            <a:avLst/>
          </a:prstGeom>
          <a:solidFill>
            <a:srgbClr val="156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1115568"/>
            <a:ext cx="3474720" cy="411480"/>
          </a:xfrm>
          <a:prstGeom prst="rect">
            <a:avLst/>
          </a:prstGeom>
          <a:noFill/>
        </p:spPr>
        <p:txBody>
          <a:bodyPr wrap="square">
            <a:spAutoFit/>
          </a:bodyPr>
          <a:lstStyle/>
          <a:p>
            <a:pPr algn="ctr"/>
            <a:r>
              <a:rPr sz="2200" b="1" i="0">
                <a:solidFill>
                  <a:srgbClr val="D4AF37"/>
                </a:solidFill>
                <a:latin typeface="Times New Roman"/>
              </a:rPr>
              <a:t>DiCE</a:t>
            </a:r>
          </a:p>
        </p:txBody>
      </p:sp>
      <p:sp>
        <p:nvSpPr>
          <p:cNvPr id="25" name="TextBox 24"/>
          <p:cNvSpPr txBox="1"/>
          <p:nvPr/>
        </p:nvSpPr>
        <p:spPr>
          <a:xfrm>
            <a:off x="8321040" y="1508760"/>
            <a:ext cx="3474720" cy="502920"/>
          </a:xfrm>
          <a:prstGeom prst="rect">
            <a:avLst/>
          </a:prstGeom>
          <a:noFill/>
        </p:spPr>
        <p:txBody>
          <a:bodyPr wrap="square">
            <a:spAutoFit/>
          </a:bodyPr>
          <a:lstStyle/>
          <a:p>
            <a:pPr algn="ctr"/>
            <a:r>
              <a:rPr sz="1000" b="0" i="0">
                <a:solidFill>
                  <a:srgbClr val="FFFFFF"/>
                </a:solidFill>
                <a:latin typeface="Times New Roman"/>
              </a:rPr>
              <a:t>Diverse Counterfactual
Explanations</a:t>
            </a:r>
          </a:p>
        </p:txBody>
      </p:sp>
      <p:sp>
        <p:nvSpPr>
          <p:cNvPr id="26" name="TextBox 25"/>
          <p:cNvSpPr txBox="1"/>
          <p:nvPr/>
        </p:nvSpPr>
        <p:spPr>
          <a:xfrm>
            <a:off x="8366760" y="1965960"/>
            <a:ext cx="3383280" cy="713232"/>
          </a:xfrm>
          <a:prstGeom prst="rect">
            <a:avLst/>
          </a:prstGeom>
          <a:noFill/>
        </p:spPr>
        <p:txBody>
          <a:bodyPr wrap="square">
            <a:spAutoFit/>
          </a:bodyPr>
          <a:lstStyle/>
          <a:p>
            <a:pPr algn="l"/>
            <a:r>
              <a:rPr sz="1200" b="0" i="0">
                <a:solidFill>
                  <a:srgbClr val="1A1A2E"/>
                </a:solidFill>
                <a:latin typeface="Times New Roman"/>
              </a:rPr>
              <a:t>  •  Answers 'What-If' questions</a:t>
            </a:r>
          </a:p>
        </p:txBody>
      </p:sp>
      <p:sp>
        <p:nvSpPr>
          <p:cNvPr id="27" name="TextBox 26"/>
          <p:cNvSpPr txBox="1"/>
          <p:nvPr/>
        </p:nvSpPr>
        <p:spPr>
          <a:xfrm>
            <a:off x="8366760" y="2743200"/>
            <a:ext cx="3383280" cy="713232"/>
          </a:xfrm>
          <a:prstGeom prst="rect">
            <a:avLst/>
          </a:prstGeom>
          <a:noFill/>
        </p:spPr>
        <p:txBody>
          <a:bodyPr wrap="square">
            <a:spAutoFit/>
          </a:bodyPr>
          <a:lstStyle/>
          <a:p>
            <a:pPr algn="l"/>
            <a:r>
              <a:rPr sz="1200" b="0" i="0">
                <a:solidFill>
                  <a:srgbClr val="1A1A2E"/>
                </a:solidFill>
                <a:latin typeface="Times New Roman"/>
              </a:rPr>
              <a:t>  •  Shows minimum feature changes for different outcome</a:t>
            </a:r>
          </a:p>
        </p:txBody>
      </p:sp>
      <p:sp>
        <p:nvSpPr>
          <p:cNvPr id="28" name="TextBox 27"/>
          <p:cNvSpPr txBox="1"/>
          <p:nvPr/>
        </p:nvSpPr>
        <p:spPr>
          <a:xfrm>
            <a:off x="8366760" y="3520439"/>
            <a:ext cx="3383280" cy="713232"/>
          </a:xfrm>
          <a:prstGeom prst="rect">
            <a:avLst/>
          </a:prstGeom>
          <a:noFill/>
        </p:spPr>
        <p:txBody>
          <a:bodyPr wrap="square">
            <a:spAutoFit/>
          </a:bodyPr>
          <a:lstStyle/>
          <a:p>
            <a:pPr algn="l"/>
            <a:r>
              <a:rPr sz="1200" b="0" i="0">
                <a:solidFill>
                  <a:srgbClr val="1A1A2E"/>
                </a:solidFill>
                <a:latin typeface="Times New Roman"/>
              </a:rPr>
              <a:t>  •  Example: 'If N +10% and pH -0.2 → Coffee instead of Rice'</a:t>
            </a:r>
          </a:p>
        </p:txBody>
      </p:sp>
      <p:sp>
        <p:nvSpPr>
          <p:cNvPr id="29" name="TextBox 28"/>
          <p:cNvSpPr txBox="1"/>
          <p:nvPr/>
        </p:nvSpPr>
        <p:spPr>
          <a:xfrm>
            <a:off x="8366760" y="4297679"/>
            <a:ext cx="3383280" cy="713232"/>
          </a:xfrm>
          <a:prstGeom prst="rect">
            <a:avLst/>
          </a:prstGeom>
          <a:noFill/>
        </p:spPr>
        <p:txBody>
          <a:bodyPr wrap="square">
            <a:spAutoFit/>
          </a:bodyPr>
          <a:lstStyle/>
          <a:p>
            <a:pPr algn="l"/>
            <a:r>
              <a:rPr sz="1200" b="0" i="0">
                <a:solidFill>
                  <a:srgbClr val="1A1A2E"/>
                </a:solidFill>
                <a:latin typeface="Times New Roman"/>
              </a:rPr>
              <a:t>  •  Output: dice_counterfactuals.csv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Dataset &amp; Preprocessing Pipeline</a:t>
            </a:r>
          </a:p>
        </p:txBody>
      </p:sp>
      <p:sp>
        <p:nvSpPr>
          <p:cNvPr id="5" name="Rectangle 4"/>
          <p:cNvSpPr/>
          <p:nvPr/>
        </p:nvSpPr>
        <p:spPr>
          <a:xfrm>
            <a:off x="274320" y="1097280"/>
            <a:ext cx="50292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097280"/>
            <a:ext cx="5029200" cy="41148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15568"/>
            <a:ext cx="4846320" cy="365760"/>
          </a:xfrm>
          <a:prstGeom prst="rect">
            <a:avLst/>
          </a:prstGeom>
          <a:noFill/>
        </p:spPr>
        <p:txBody>
          <a:bodyPr wrap="square">
            <a:spAutoFit/>
          </a:bodyPr>
          <a:lstStyle/>
          <a:p>
            <a:pPr algn="l"/>
            <a:r>
              <a:rPr sz="1300" b="1" i="0">
                <a:solidFill>
                  <a:srgbClr val="FFFFFF"/>
                </a:solidFill>
                <a:latin typeface="Times New Roman"/>
              </a:rPr>
              <a:t>CRD Dataset Information</a:t>
            </a:r>
          </a:p>
        </p:txBody>
      </p:sp>
      <p:sp>
        <p:nvSpPr>
          <p:cNvPr id="8" name="TextBox 7"/>
          <p:cNvSpPr txBox="1"/>
          <p:nvPr/>
        </p:nvSpPr>
        <p:spPr>
          <a:xfrm>
            <a:off x="457200" y="1600200"/>
            <a:ext cx="1828800" cy="411480"/>
          </a:xfrm>
          <a:prstGeom prst="rect">
            <a:avLst/>
          </a:prstGeom>
          <a:noFill/>
        </p:spPr>
        <p:txBody>
          <a:bodyPr wrap="square">
            <a:spAutoFit/>
          </a:bodyPr>
          <a:lstStyle/>
          <a:p>
            <a:pPr algn="l"/>
            <a:r>
              <a:rPr sz="1200" b="1" i="0">
                <a:solidFill>
                  <a:srgbClr val="277A3A"/>
                </a:solidFill>
                <a:latin typeface="Times New Roman"/>
              </a:rPr>
              <a:t>Total Samples</a:t>
            </a:r>
          </a:p>
        </p:txBody>
      </p:sp>
      <p:sp>
        <p:nvSpPr>
          <p:cNvPr id="9" name="TextBox 8"/>
          <p:cNvSpPr txBox="1"/>
          <p:nvPr/>
        </p:nvSpPr>
        <p:spPr>
          <a:xfrm>
            <a:off x="2331720" y="1600200"/>
            <a:ext cx="2743200" cy="411480"/>
          </a:xfrm>
          <a:prstGeom prst="rect">
            <a:avLst/>
          </a:prstGeom>
          <a:noFill/>
        </p:spPr>
        <p:txBody>
          <a:bodyPr wrap="square">
            <a:spAutoFit/>
          </a:bodyPr>
          <a:lstStyle/>
          <a:p>
            <a:pPr algn="l"/>
            <a:r>
              <a:rPr sz="1200" b="0" i="0">
                <a:solidFill>
                  <a:srgbClr val="1A1A2E"/>
                </a:solidFill>
                <a:latin typeface="Times New Roman"/>
              </a:rPr>
              <a:t>10,000</a:t>
            </a:r>
          </a:p>
        </p:txBody>
      </p:sp>
      <p:sp>
        <p:nvSpPr>
          <p:cNvPr id="10" name="TextBox 9"/>
          <p:cNvSpPr txBox="1"/>
          <p:nvPr/>
        </p:nvSpPr>
        <p:spPr>
          <a:xfrm>
            <a:off x="457200" y="2313432"/>
            <a:ext cx="1828800" cy="411480"/>
          </a:xfrm>
          <a:prstGeom prst="rect">
            <a:avLst/>
          </a:prstGeom>
          <a:noFill/>
        </p:spPr>
        <p:txBody>
          <a:bodyPr wrap="square">
            <a:spAutoFit/>
          </a:bodyPr>
          <a:lstStyle/>
          <a:p>
            <a:pPr algn="l"/>
            <a:r>
              <a:rPr sz="1200" b="1" i="0">
                <a:solidFill>
                  <a:srgbClr val="277A3A"/>
                </a:solidFill>
                <a:latin typeface="Times New Roman"/>
              </a:rPr>
              <a:t>Features</a:t>
            </a:r>
          </a:p>
        </p:txBody>
      </p:sp>
      <p:sp>
        <p:nvSpPr>
          <p:cNvPr id="11" name="TextBox 10"/>
          <p:cNvSpPr txBox="1"/>
          <p:nvPr/>
        </p:nvSpPr>
        <p:spPr>
          <a:xfrm>
            <a:off x="2331720" y="2313432"/>
            <a:ext cx="2743200" cy="411480"/>
          </a:xfrm>
          <a:prstGeom prst="rect">
            <a:avLst/>
          </a:prstGeom>
          <a:noFill/>
        </p:spPr>
        <p:txBody>
          <a:bodyPr wrap="square">
            <a:spAutoFit/>
          </a:bodyPr>
          <a:lstStyle/>
          <a:p>
            <a:pPr algn="l"/>
            <a:r>
              <a:rPr sz="1200" b="0" i="0">
                <a:solidFill>
                  <a:srgbClr val="1A1A2E"/>
                </a:solidFill>
                <a:latin typeface="Times New Roman"/>
              </a:rPr>
              <a:t>19 features</a:t>
            </a:r>
          </a:p>
        </p:txBody>
      </p:sp>
      <p:sp>
        <p:nvSpPr>
          <p:cNvPr id="12" name="TextBox 11"/>
          <p:cNvSpPr txBox="1"/>
          <p:nvPr/>
        </p:nvSpPr>
        <p:spPr>
          <a:xfrm>
            <a:off x="457200" y="3026664"/>
            <a:ext cx="1828800" cy="411480"/>
          </a:xfrm>
          <a:prstGeom prst="rect">
            <a:avLst/>
          </a:prstGeom>
          <a:noFill/>
        </p:spPr>
        <p:txBody>
          <a:bodyPr wrap="square">
            <a:spAutoFit/>
          </a:bodyPr>
          <a:lstStyle/>
          <a:p>
            <a:pPr algn="l"/>
            <a:r>
              <a:rPr sz="1200" b="1" i="0">
                <a:solidFill>
                  <a:srgbClr val="277A3A"/>
                </a:solidFill>
                <a:latin typeface="Times New Roman"/>
              </a:rPr>
              <a:t>Crop Classes</a:t>
            </a:r>
          </a:p>
        </p:txBody>
      </p:sp>
      <p:sp>
        <p:nvSpPr>
          <p:cNvPr id="13" name="TextBox 12"/>
          <p:cNvSpPr txBox="1"/>
          <p:nvPr/>
        </p:nvSpPr>
        <p:spPr>
          <a:xfrm>
            <a:off x="2331720" y="3026664"/>
            <a:ext cx="2743200" cy="411480"/>
          </a:xfrm>
          <a:prstGeom prst="rect">
            <a:avLst/>
          </a:prstGeom>
          <a:noFill/>
        </p:spPr>
        <p:txBody>
          <a:bodyPr wrap="square">
            <a:spAutoFit/>
          </a:bodyPr>
          <a:lstStyle/>
          <a:p>
            <a:pPr algn="l"/>
            <a:r>
              <a:rPr sz="1200" b="0" i="0">
                <a:solidFill>
                  <a:srgbClr val="1A1A2E"/>
                </a:solidFill>
                <a:latin typeface="Times New Roman"/>
              </a:rPr>
              <a:t>10 (Rice, Wheat, Millet, Sugarcane, Barley,
  Potato, Cotton, Pulses, Tomato, Maize)</a:t>
            </a:r>
          </a:p>
        </p:txBody>
      </p:sp>
      <p:sp>
        <p:nvSpPr>
          <p:cNvPr id="14" name="TextBox 13"/>
          <p:cNvSpPr txBox="1"/>
          <p:nvPr/>
        </p:nvSpPr>
        <p:spPr>
          <a:xfrm>
            <a:off x="457200" y="3739896"/>
            <a:ext cx="1828800" cy="411480"/>
          </a:xfrm>
          <a:prstGeom prst="rect">
            <a:avLst/>
          </a:prstGeom>
          <a:noFill/>
        </p:spPr>
        <p:txBody>
          <a:bodyPr wrap="square">
            <a:spAutoFit/>
          </a:bodyPr>
          <a:lstStyle/>
          <a:p>
            <a:pPr algn="l"/>
            <a:r>
              <a:rPr sz="1200" b="1" i="0">
                <a:solidFill>
                  <a:srgbClr val="277A3A"/>
                </a:solidFill>
                <a:latin typeface="Times New Roman"/>
              </a:rPr>
              <a:t>Train / Test Split</a:t>
            </a:r>
          </a:p>
        </p:txBody>
      </p:sp>
      <p:sp>
        <p:nvSpPr>
          <p:cNvPr id="15" name="TextBox 14"/>
          <p:cNvSpPr txBox="1"/>
          <p:nvPr/>
        </p:nvSpPr>
        <p:spPr>
          <a:xfrm>
            <a:off x="2331720" y="3739896"/>
            <a:ext cx="2743200" cy="411480"/>
          </a:xfrm>
          <a:prstGeom prst="rect">
            <a:avLst/>
          </a:prstGeom>
          <a:noFill/>
        </p:spPr>
        <p:txBody>
          <a:bodyPr wrap="square">
            <a:spAutoFit/>
          </a:bodyPr>
          <a:lstStyle/>
          <a:p>
            <a:pPr algn="l"/>
            <a:r>
              <a:rPr sz="1200" b="0" i="0">
                <a:solidFill>
                  <a:srgbClr val="1A1A2E"/>
                </a:solidFill>
                <a:latin typeface="Times New Roman"/>
              </a:rPr>
              <a:t>8,000 / 2,000</a:t>
            </a:r>
          </a:p>
        </p:txBody>
      </p:sp>
      <p:sp>
        <p:nvSpPr>
          <p:cNvPr id="16" name="TextBox 15"/>
          <p:cNvSpPr txBox="1"/>
          <p:nvPr/>
        </p:nvSpPr>
        <p:spPr>
          <a:xfrm>
            <a:off x="457200" y="4453128"/>
            <a:ext cx="1828800" cy="411480"/>
          </a:xfrm>
          <a:prstGeom prst="rect">
            <a:avLst/>
          </a:prstGeom>
          <a:noFill/>
        </p:spPr>
        <p:txBody>
          <a:bodyPr wrap="square">
            <a:spAutoFit/>
          </a:bodyPr>
          <a:lstStyle/>
          <a:p>
            <a:pPr algn="l"/>
            <a:r>
              <a:rPr sz="1200" b="1" i="0">
                <a:solidFill>
                  <a:srgbClr val="277A3A"/>
                </a:solidFill>
                <a:latin typeface="Times New Roman"/>
              </a:rPr>
              <a:t>After SMOTE-Tomek</a:t>
            </a:r>
          </a:p>
        </p:txBody>
      </p:sp>
      <p:sp>
        <p:nvSpPr>
          <p:cNvPr id="17" name="TextBox 16"/>
          <p:cNvSpPr txBox="1"/>
          <p:nvPr/>
        </p:nvSpPr>
        <p:spPr>
          <a:xfrm>
            <a:off x="2331720" y="4453128"/>
            <a:ext cx="2743200" cy="411480"/>
          </a:xfrm>
          <a:prstGeom prst="rect">
            <a:avLst/>
          </a:prstGeom>
          <a:noFill/>
        </p:spPr>
        <p:txBody>
          <a:bodyPr wrap="square">
            <a:spAutoFit/>
          </a:bodyPr>
          <a:lstStyle/>
          <a:p>
            <a:pPr algn="l"/>
            <a:r>
              <a:rPr sz="1200" b="0" i="0">
                <a:solidFill>
                  <a:srgbClr val="1A1A2E"/>
                </a:solidFill>
                <a:latin typeface="Times New Roman"/>
              </a:rPr>
              <a:t>28,892 training samples</a:t>
            </a:r>
          </a:p>
        </p:txBody>
      </p:sp>
      <p:sp>
        <p:nvSpPr>
          <p:cNvPr id="18" name="TextBox 17"/>
          <p:cNvSpPr txBox="1"/>
          <p:nvPr/>
        </p:nvSpPr>
        <p:spPr>
          <a:xfrm>
            <a:off x="457200" y="5166360"/>
            <a:ext cx="1828800" cy="411480"/>
          </a:xfrm>
          <a:prstGeom prst="rect">
            <a:avLst/>
          </a:prstGeom>
          <a:noFill/>
        </p:spPr>
        <p:txBody>
          <a:bodyPr wrap="square">
            <a:spAutoFit/>
          </a:bodyPr>
          <a:lstStyle/>
          <a:p>
            <a:pPr algn="l"/>
            <a:r>
              <a:rPr sz="1200" b="1" i="0">
                <a:solidFill>
                  <a:srgbClr val="277A3A"/>
                </a:solidFill>
                <a:latin typeface="Times New Roman"/>
              </a:rPr>
              <a:t>Preprocessing</a:t>
            </a:r>
          </a:p>
        </p:txBody>
      </p:sp>
      <p:sp>
        <p:nvSpPr>
          <p:cNvPr id="19" name="TextBox 18"/>
          <p:cNvSpPr txBox="1"/>
          <p:nvPr/>
        </p:nvSpPr>
        <p:spPr>
          <a:xfrm>
            <a:off x="2331720" y="5166360"/>
            <a:ext cx="2743200" cy="411480"/>
          </a:xfrm>
          <a:prstGeom prst="rect">
            <a:avLst/>
          </a:prstGeom>
          <a:noFill/>
        </p:spPr>
        <p:txBody>
          <a:bodyPr wrap="square">
            <a:spAutoFit/>
          </a:bodyPr>
          <a:lstStyle/>
          <a:p>
            <a:pPr algn="l"/>
            <a:r>
              <a:rPr sz="1200" b="0" i="0">
                <a:solidFill>
                  <a:srgbClr val="1A1A2E"/>
                </a:solidFill>
                <a:latin typeface="Times New Roman"/>
              </a:rPr>
              <a:t>SMOTE-Tomek + StandardScaler</a:t>
            </a:r>
          </a:p>
        </p:txBody>
      </p:sp>
      <p:sp>
        <p:nvSpPr>
          <p:cNvPr id="20" name="TextBox 19"/>
          <p:cNvSpPr txBox="1"/>
          <p:nvPr/>
        </p:nvSpPr>
        <p:spPr>
          <a:xfrm>
            <a:off x="5486400" y="1097280"/>
            <a:ext cx="6217920" cy="365760"/>
          </a:xfrm>
          <a:prstGeom prst="rect">
            <a:avLst/>
          </a:prstGeom>
          <a:noFill/>
        </p:spPr>
        <p:txBody>
          <a:bodyPr wrap="square">
            <a:spAutoFit/>
          </a:bodyPr>
          <a:lstStyle/>
          <a:p>
            <a:pPr algn="l"/>
            <a:r>
              <a:rPr sz="1500" b="1" i="0">
                <a:solidFill>
                  <a:srgbClr val="277A3A"/>
                </a:solidFill>
                <a:latin typeface="Times New Roman"/>
              </a:rPr>
              <a:t>Class Distribution</a:t>
            </a:r>
          </a:p>
        </p:txBody>
      </p:sp>
      <p:pic>
        <p:nvPicPr>
          <p:cNvPr id="21" name="Picture 20" descr="01_dataset_distribution.png"/>
          <p:cNvPicPr>
            <a:picLocks noChangeAspect="1"/>
          </p:cNvPicPr>
          <p:nvPr/>
        </p:nvPicPr>
        <p:blipFill>
          <a:blip r:embed="rId2"/>
          <a:stretch>
            <a:fillRect/>
          </a:stretch>
        </p:blipFill>
        <p:spPr>
          <a:xfrm>
            <a:off x="5486400" y="1508760"/>
            <a:ext cx="6400800" cy="2651760"/>
          </a:xfrm>
          <a:prstGeom prst="rect">
            <a:avLst/>
          </a:prstGeom>
        </p:spPr>
      </p:pic>
      <p:sp>
        <p:nvSpPr>
          <p:cNvPr id="22" name="TextBox 21"/>
          <p:cNvSpPr txBox="1"/>
          <p:nvPr/>
        </p:nvSpPr>
        <p:spPr>
          <a:xfrm>
            <a:off x="5486400" y="4251960"/>
            <a:ext cx="6217920" cy="365760"/>
          </a:xfrm>
          <a:prstGeom prst="rect">
            <a:avLst/>
          </a:prstGeom>
          <a:noFill/>
        </p:spPr>
        <p:txBody>
          <a:bodyPr wrap="square">
            <a:spAutoFit/>
          </a:bodyPr>
          <a:lstStyle/>
          <a:p>
            <a:pPr algn="l"/>
            <a:r>
              <a:rPr sz="1300" b="1" i="0">
                <a:solidFill>
                  <a:srgbClr val="277A3A"/>
                </a:solidFill>
                <a:latin typeface="Times New Roman"/>
              </a:rPr>
              <a:t>Feature Correlation Heatmap</a:t>
            </a:r>
          </a:p>
        </p:txBody>
      </p:sp>
      <p:pic>
        <p:nvPicPr>
          <p:cNvPr id="23" name="Picture 22" descr="02_correlation_heatmap.png"/>
          <p:cNvPicPr>
            <a:picLocks noChangeAspect="1"/>
          </p:cNvPicPr>
          <p:nvPr/>
        </p:nvPicPr>
        <p:blipFill>
          <a:blip r:embed="rId3"/>
          <a:stretch>
            <a:fillRect/>
          </a:stretch>
        </p:blipFill>
        <p:spPr>
          <a:xfrm>
            <a:off x="5486400" y="4663440"/>
            <a:ext cx="6400800" cy="1828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Data Preprocessing — SMOTE-Tomek Class Balancing</a:t>
            </a:r>
          </a:p>
        </p:txBody>
      </p:sp>
      <p:pic>
        <p:nvPicPr>
          <p:cNvPr id="5" name="Picture 4" descr="03_smote_balance.png"/>
          <p:cNvPicPr>
            <a:picLocks noChangeAspect="1"/>
          </p:cNvPicPr>
          <p:nvPr/>
        </p:nvPicPr>
        <p:blipFill>
          <a:blip r:embed="rId2"/>
          <a:stretch>
            <a:fillRect/>
          </a:stretch>
        </p:blipFill>
        <p:spPr>
          <a:xfrm>
            <a:off x="365760" y="1097280"/>
            <a:ext cx="7772400" cy="5029200"/>
          </a:xfrm>
          <a:prstGeom prst="rect">
            <a:avLst/>
          </a:prstGeom>
        </p:spPr>
      </p:pic>
      <p:sp>
        <p:nvSpPr>
          <p:cNvPr id="6" name="Rectangle 5"/>
          <p:cNvSpPr/>
          <p:nvPr/>
        </p:nvSpPr>
        <p:spPr>
          <a:xfrm>
            <a:off x="8321040" y="1097280"/>
            <a:ext cx="356616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321040" y="1097280"/>
            <a:ext cx="356616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0" y="1115568"/>
            <a:ext cx="3383280" cy="457200"/>
          </a:xfrm>
          <a:prstGeom prst="rect">
            <a:avLst/>
          </a:prstGeom>
          <a:noFill/>
        </p:spPr>
        <p:txBody>
          <a:bodyPr wrap="square">
            <a:spAutoFit/>
          </a:bodyPr>
          <a:lstStyle/>
          <a:p>
            <a:pPr algn="ctr"/>
            <a:r>
              <a:rPr sz="1300" b="1" i="0">
                <a:solidFill>
                  <a:srgbClr val="FFFFFF"/>
                </a:solidFill>
                <a:latin typeface="Times New Roman"/>
              </a:rPr>
              <a:t>SMOTE-Tomek
Key Points</a:t>
            </a:r>
          </a:p>
        </p:txBody>
      </p:sp>
      <p:sp>
        <p:nvSpPr>
          <p:cNvPr id="9" name="TextBox 8"/>
          <p:cNvSpPr txBox="1"/>
          <p:nvPr/>
        </p:nvSpPr>
        <p:spPr>
          <a:xfrm>
            <a:off x="8412480" y="1627632"/>
            <a:ext cx="3383280" cy="566928"/>
          </a:xfrm>
          <a:prstGeom prst="rect">
            <a:avLst/>
          </a:prstGeom>
          <a:noFill/>
        </p:spPr>
        <p:txBody>
          <a:bodyPr wrap="square">
            <a:spAutoFit/>
          </a:bodyPr>
          <a:lstStyle/>
          <a:p>
            <a:pPr algn="l"/>
            <a:r>
              <a:rPr sz="1200" b="0" i="0">
                <a:solidFill>
                  <a:srgbClr val="1A1A2E"/>
                </a:solidFill>
                <a:latin typeface="Times New Roman"/>
              </a:rPr>
              <a:t>  •  Before: 8,000 samples</a:t>
            </a:r>
          </a:p>
        </p:txBody>
      </p:sp>
      <p:sp>
        <p:nvSpPr>
          <p:cNvPr id="10" name="TextBox 9"/>
          <p:cNvSpPr txBox="1"/>
          <p:nvPr/>
        </p:nvSpPr>
        <p:spPr>
          <a:xfrm>
            <a:off x="8412480" y="2267712"/>
            <a:ext cx="3383280" cy="566928"/>
          </a:xfrm>
          <a:prstGeom prst="rect">
            <a:avLst/>
          </a:prstGeom>
          <a:noFill/>
        </p:spPr>
        <p:txBody>
          <a:bodyPr wrap="square">
            <a:spAutoFit/>
          </a:bodyPr>
          <a:lstStyle/>
          <a:p>
            <a:pPr algn="l"/>
            <a:r>
              <a:rPr sz="1200" b="0" i="0">
                <a:solidFill>
                  <a:srgbClr val="1A1A2E"/>
                </a:solidFill>
                <a:latin typeface="Times New Roman"/>
              </a:rPr>
              <a:t>  •  After: 28,892 samples</a:t>
            </a:r>
          </a:p>
        </p:txBody>
      </p:sp>
      <p:sp>
        <p:nvSpPr>
          <p:cNvPr id="11" name="TextBox 10"/>
          <p:cNvSpPr txBox="1"/>
          <p:nvPr/>
        </p:nvSpPr>
        <p:spPr>
          <a:xfrm>
            <a:off x="8412480" y="2907791"/>
            <a:ext cx="3383280" cy="566928"/>
          </a:xfrm>
          <a:prstGeom prst="rect">
            <a:avLst/>
          </a:prstGeom>
          <a:noFill/>
        </p:spPr>
        <p:txBody>
          <a:bodyPr wrap="square">
            <a:spAutoFit/>
          </a:bodyPr>
          <a:lstStyle/>
          <a:p>
            <a:pPr algn="l"/>
            <a:r>
              <a:rPr sz="1200" b="0" i="0">
                <a:solidFill>
                  <a:srgbClr val="1A1A2E"/>
                </a:solidFill>
                <a:latin typeface="Times New Roman"/>
              </a:rPr>
              <a:t>  •  SMOTE: generates synthetic minority class samples</a:t>
            </a:r>
          </a:p>
        </p:txBody>
      </p:sp>
      <p:sp>
        <p:nvSpPr>
          <p:cNvPr id="12" name="TextBox 11"/>
          <p:cNvSpPr txBox="1"/>
          <p:nvPr/>
        </p:nvSpPr>
        <p:spPr>
          <a:xfrm>
            <a:off x="8412480" y="3547872"/>
            <a:ext cx="3383280" cy="566928"/>
          </a:xfrm>
          <a:prstGeom prst="rect">
            <a:avLst/>
          </a:prstGeom>
          <a:noFill/>
        </p:spPr>
        <p:txBody>
          <a:bodyPr wrap="square">
            <a:spAutoFit/>
          </a:bodyPr>
          <a:lstStyle/>
          <a:p>
            <a:pPr algn="l"/>
            <a:r>
              <a:rPr sz="1200" b="0" i="0">
                <a:solidFill>
                  <a:srgbClr val="1A1A2E"/>
                </a:solidFill>
                <a:latin typeface="Times New Roman"/>
              </a:rPr>
              <a:t>  •  Tomek Links: removes noisy boundary samples</a:t>
            </a:r>
          </a:p>
        </p:txBody>
      </p:sp>
      <p:sp>
        <p:nvSpPr>
          <p:cNvPr id="13" name="TextBox 12"/>
          <p:cNvSpPr txBox="1"/>
          <p:nvPr/>
        </p:nvSpPr>
        <p:spPr>
          <a:xfrm>
            <a:off x="8412480" y="4187952"/>
            <a:ext cx="3383280" cy="566928"/>
          </a:xfrm>
          <a:prstGeom prst="rect">
            <a:avLst/>
          </a:prstGeom>
          <a:noFill/>
        </p:spPr>
        <p:txBody>
          <a:bodyPr wrap="square">
            <a:spAutoFit/>
          </a:bodyPr>
          <a:lstStyle/>
          <a:p>
            <a:pPr algn="l"/>
            <a:r>
              <a:rPr sz="1200" b="0" i="0">
                <a:solidFill>
                  <a:srgbClr val="1A1A2E"/>
                </a:solidFill>
                <a:latin typeface="Times New Roman"/>
              </a:rPr>
              <a:t>  •  Ensures balanced training for unbiased model</a:t>
            </a:r>
          </a:p>
        </p:txBody>
      </p:sp>
      <p:sp>
        <p:nvSpPr>
          <p:cNvPr id="14" name="TextBox 13"/>
          <p:cNvSpPr txBox="1"/>
          <p:nvPr/>
        </p:nvSpPr>
        <p:spPr>
          <a:xfrm>
            <a:off x="8412480" y="4828032"/>
            <a:ext cx="3383280" cy="566928"/>
          </a:xfrm>
          <a:prstGeom prst="rect">
            <a:avLst/>
          </a:prstGeom>
          <a:noFill/>
        </p:spPr>
        <p:txBody>
          <a:bodyPr wrap="square">
            <a:spAutoFit/>
          </a:bodyPr>
          <a:lstStyle/>
          <a:p>
            <a:pPr algn="l"/>
            <a:r>
              <a:rPr sz="1200" b="0" i="0">
                <a:solidFill>
                  <a:srgbClr val="1A1A2E"/>
                </a:solidFill>
                <a:latin typeface="Times New Roman"/>
              </a:rPr>
              <a:t>  •  Evaluated with MCC metric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Base Model Performance Comparison</a:t>
            </a:r>
          </a:p>
        </p:txBody>
      </p:sp>
      <p:graphicFrame>
        <p:nvGraphicFramePr>
          <p:cNvPr id="5" name="Table 4"/>
          <p:cNvGraphicFramePr>
            <a:graphicFrameLocks noGrp="1"/>
          </p:cNvGraphicFramePr>
          <p:nvPr/>
        </p:nvGraphicFramePr>
        <p:xfrm>
          <a:off x="274320" y="1097280"/>
          <a:ext cx="11640312" cy="3749039"/>
        </p:xfrm>
        <a:graphic>
          <a:graphicData uri="http://schemas.openxmlformats.org/drawingml/2006/table">
            <a:tbl>
              <a:tblPr firstRow="1" bandRow="1">
                <a:tableStyleId>{5C22544A-7EE6-4342-B048-85BDC9FD1C3A}</a:tableStyleId>
              </a:tblPr>
              <a:tblGrid>
                <a:gridCol w="1662901">
                  <a:extLst>
                    <a:ext uri="{9D8B030D-6E8A-4147-A177-3AD203B41FA5}">
                      <a16:colId xmlns:a16="http://schemas.microsoft.com/office/drawing/2014/main" val="20000"/>
                    </a:ext>
                  </a:extLst>
                </a:gridCol>
                <a:gridCol w="1662901">
                  <a:extLst>
                    <a:ext uri="{9D8B030D-6E8A-4147-A177-3AD203B41FA5}">
                      <a16:colId xmlns:a16="http://schemas.microsoft.com/office/drawing/2014/main" val="20001"/>
                    </a:ext>
                  </a:extLst>
                </a:gridCol>
                <a:gridCol w="1662901">
                  <a:extLst>
                    <a:ext uri="{9D8B030D-6E8A-4147-A177-3AD203B41FA5}">
                      <a16:colId xmlns:a16="http://schemas.microsoft.com/office/drawing/2014/main" val="20002"/>
                    </a:ext>
                  </a:extLst>
                </a:gridCol>
                <a:gridCol w="1662901">
                  <a:extLst>
                    <a:ext uri="{9D8B030D-6E8A-4147-A177-3AD203B41FA5}">
                      <a16:colId xmlns:a16="http://schemas.microsoft.com/office/drawing/2014/main" val="20003"/>
                    </a:ext>
                  </a:extLst>
                </a:gridCol>
                <a:gridCol w="1662901">
                  <a:extLst>
                    <a:ext uri="{9D8B030D-6E8A-4147-A177-3AD203B41FA5}">
                      <a16:colId xmlns:a16="http://schemas.microsoft.com/office/drawing/2014/main" val="20004"/>
                    </a:ext>
                  </a:extLst>
                </a:gridCol>
                <a:gridCol w="1662901">
                  <a:extLst>
                    <a:ext uri="{9D8B030D-6E8A-4147-A177-3AD203B41FA5}">
                      <a16:colId xmlns:a16="http://schemas.microsoft.com/office/drawing/2014/main" val="20005"/>
                    </a:ext>
                  </a:extLst>
                </a:gridCol>
                <a:gridCol w="1662906">
                  <a:extLst>
                    <a:ext uri="{9D8B030D-6E8A-4147-A177-3AD203B41FA5}">
                      <a16:colId xmlns:a16="http://schemas.microsoft.com/office/drawing/2014/main" val="20006"/>
                    </a:ext>
                  </a:extLst>
                </a:gridCol>
              </a:tblGrid>
              <a:tr h="468629">
                <a:tc>
                  <a:txBody>
                    <a:bodyPr/>
                    <a:lstStyle/>
                    <a:p>
                      <a:pPr algn="ctr"/>
                      <a:r>
                        <a:rPr sz="1100" b="1">
                          <a:solidFill>
                            <a:srgbClr val="FFFFFF"/>
                          </a:solidFill>
                          <a:latin typeface="Times New Roman"/>
                        </a:rPr>
                        <a:t>Rank</a:t>
                      </a:r>
                    </a:p>
                  </a:txBody>
                  <a:tcPr>
                    <a:solidFill>
                      <a:srgbClr val="1B5026"/>
                    </a:solidFill>
                  </a:tcPr>
                </a:tc>
                <a:tc>
                  <a:txBody>
                    <a:bodyPr/>
                    <a:lstStyle/>
                    <a:p>
                      <a:pPr algn="ctr"/>
                      <a:r>
                        <a:rPr sz="1100" b="1">
                          <a:solidFill>
                            <a:srgbClr val="FFFFFF"/>
                          </a:solidFill>
                          <a:latin typeface="Times New Roman"/>
                        </a:rPr>
                        <a:t>Model</a:t>
                      </a:r>
                    </a:p>
                  </a:txBody>
                  <a:tcPr>
                    <a:solidFill>
                      <a:srgbClr val="1B5026"/>
                    </a:solidFill>
                  </a:tcPr>
                </a:tc>
                <a:tc>
                  <a:txBody>
                    <a:bodyPr/>
                    <a:lstStyle/>
                    <a:p>
                      <a:pPr algn="ctr"/>
                      <a:r>
                        <a:rPr sz="1100" b="1">
                          <a:solidFill>
                            <a:srgbClr val="FFFFFF"/>
                          </a:solidFill>
                          <a:latin typeface="Times New Roman"/>
                        </a:rPr>
                        <a:t>Accuracy</a:t>
                      </a:r>
                    </a:p>
                  </a:txBody>
                  <a:tcPr>
                    <a:solidFill>
                      <a:srgbClr val="1B5026"/>
                    </a:solidFill>
                  </a:tcPr>
                </a:tc>
                <a:tc>
                  <a:txBody>
                    <a:bodyPr/>
                    <a:lstStyle/>
                    <a:p>
                      <a:pPr algn="ctr"/>
                      <a:r>
                        <a:rPr sz="1100" b="1">
                          <a:solidFill>
                            <a:srgbClr val="FFFFFF"/>
                          </a:solidFill>
                          <a:latin typeface="Times New Roman"/>
                        </a:rPr>
                        <a:t>F1 (Weighted)</a:t>
                      </a:r>
                    </a:p>
                  </a:txBody>
                  <a:tcPr>
                    <a:solidFill>
                      <a:srgbClr val="1B5026"/>
                    </a:solidFill>
                  </a:tcPr>
                </a:tc>
                <a:tc>
                  <a:txBody>
                    <a:bodyPr/>
                    <a:lstStyle/>
                    <a:p>
                      <a:pPr algn="ctr"/>
                      <a:r>
                        <a:rPr sz="1100" b="1">
                          <a:solidFill>
                            <a:srgbClr val="FFFFFF"/>
                          </a:solidFill>
                          <a:latin typeface="Times New Roman"/>
                        </a:rPr>
                        <a:t>MCC</a:t>
                      </a:r>
                    </a:p>
                  </a:txBody>
                  <a:tcPr>
                    <a:solidFill>
                      <a:srgbClr val="1B5026"/>
                    </a:solidFill>
                  </a:tcPr>
                </a:tc>
                <a:tc>
                  <a:txBody>
                    <a:bodyPr/>
                    <a:lstStyle/>
                    <a:p>
                      <a:pPr algn="ctr"/>
                      <a:r>
                        <a:rPr sz="1100" b="1">
                          <a:solidFill>
                            <a:srgbClr val="FFFFFF"/>
                          </a:solidFill>
                          <a:latin typeface="Times New Roman"/>
                        </a:rPr>
                        <a:t>ROC-AUC</a:t>
                      </a:r>
                    </a:p>
                  </a:txBody>
                  <a:tcPr>
                    <a:solidFill>
                      <a:srgbClr val="1B5026"/>
                    </a:solidFill>
                  </a:tcPr>
                </a:tc>
                <a:tc>
                  <a:txBody>
                    <a:bodyPr/>
                    <a:lstStyle/>
                    <a:p>
                      <a:pPr algn="ctr"/>
                      <a:r>
                        <a:rPr sz="1100" b="1">
                          <a:solidFill>
                            <a:srgbClr val="FFFFFF"/>
                          </a:solidFill>
                          <a:latin typeface="Times New Roman"/>
                        </a:rPr>
                        <a:t>ECE</a:t>
                      </a:r>
                    </a:p>
                  </a:txBody>
                  <a:tcPr>
                    <a:solidFill>
                      <a:srgbClr val="1B5026"/>
                    </a:solidFill>
                  </a:tcPr>
                </a:tc>
                <a:extLst>
                  <a:ext uri="{0D108BD9-81ED-4DB2-BD59-A6C34878D82A}">
                    <a16:rowId xmlns:a16="http://schemas.microsoft.com/office/drawing/2014/main" val="10000"/>
                  </a:ext>
                </a:extLst>
              </a:tr>
              <a:tr h="468629">
                <a:tc>
                  <a:txBody>
                    <a:bodyPr/>
                    <a:lstStyle/>
                    <a:p>
                      <a:pPr algn="ctr"/>
                      <a:r>
                        <a:rPr sz="1000">
                          <a:latin typeface="Times New Roman"/>
                        </a:rPr>
                        <a:t>1 🏆</a:t>
                      </a:r>
                    </a:p>
                  </a:txBody>
                  <a:tcPr>
                    <a:solidFill>
                      <a:srgbClr val="D4EDD8"/>
                    </a:solidFill>
                  </a:tcPr>
                </a:tc>
                <a:tc>
                  <a:txBody>
                    <a:bodyPr/>
                    <a:lstStyle/>
                    <a:p>
                      <a:pPr algn="ctr"/>
                      <a:r>
                        <a:rPr sz="1000">
                          <a:latin typeface="Times New Roman"/>
                        </a:rPr>
                        <a:t>LightGBM</a:t>
                      </a:r>
                    </a:p>
                  </a:txBody>
                  <a:tcPr>
                    <a:solidFill>
                      <a:srgbClr val="D4EDD8"/>
                    </a:solidFill>
                  </a:tcPr>
                </a:tc>
                <a:tc>
                  <a:txBody>
                    <a:bodyPr/>
                    <a:lstStyle/>
                    <a:p>
                      <a:pPr algn="ctr"/>
                      <a:r>
                        <a:rPr sz="1000">
                          <a:latin typeface="Times New Roman"/>
                        </a:rPr>
                        <a:t>79.90%</a:t>
                      </a:r>
                    </a:p>
                  </a:txBody>
                  <a:tcPr>
                    <a:solidFill>
                      <a:srgbClr val="D4EDD8"/>
                    </a:solidFill>
                  </a:tcPr>
                </a:tc>
                <a:tc>
                  <a:txBody>
                    <a:bodyPr/>
                    <a:lstStyle/>
                    <a:p>
                      <a:pPr algn="ctr"/>
                      <a:r>
                        <a:rPr sz="1000">
                          <a:latin typeface="Times New Roman"/>
                        </a:rPr>
                        <a:t>80.85%</a:t>
                      </a:r>
                    </a:p>
                  </a:txBody>
                  <a:tcPr>
                    <a:solidFill>
                      <a:srgbClr val="D4EDD8"/>
                    </a:solidFill>
                  </a:tcPr>
                </a:tc>
                <a:tc>
                  <a:txBody>
                    <a:bodyPr/>
                    <a:lstStyle/>
                    <a:p>
                      <a:pPr algn="ctr"/>
                      <a:r>
                        <a:rPr sz="1000">
                          <a:latin typeface="Times New Roman"/>
                        </a:rPr>
                        <a:t>0.742</a:t>
                      </a:r>
                    </a:p>
                  </a:txBody>
                  <a:tcPr>
                    <a:solidFill>
                      <a:srgbClr val="D4EDD8"/>
                    </a:solidFill>
                  </a:tcPr>
                </a:tc>
                <a:tc>
                  <a:txBody>
                    <a:bodyPr/>
                    <a:lstStyle/>
                    <a:p>
                      <a:pPr algn="ctr"/>
                      <a:r>
                        <a:rPr sz="1000">
                          <a:latin typeface="Times New Roman"/>
                        </a:rPr>
                        <a:t>0.948</a:t>
                      </a:r>
                    </a:p>
                  </a:txBody>
                  <a:tcPr>
                    <a:solidFill>
                      <a:srgbClr val="D4EDD8"/>
                    </a:solidFill>
                  </a:tcPr>
                </a:tc>
                <a:tc>
                  <a:txBody>
                    <a:bodyPr/>
                    <a:lstStyle/>
                    <a:p>
                      <a:pPr algn="ctr"/>
                      <a:r>
                        <a:rPr sz="1000">
                          <a:latin typeface="Times New Roman"/>
                        </a:rPr>
                        <a:t>0.092</a:t>
                      </a:r>
                    </a:p>
                  </a:txBody>
                  <a:tcPr>
                    <a:solidFill>
                      <a:srgbClr val="D4EDD8"/>
                    </a:solidFill>
                  </a:tcPr>
                </a:tc>
                <a:extLst>
                  <a:ext uri="{0D108BD9-81ED-4DB2-BD59-A6C34878D82A}">
                    <a16:rowId xmlns:a16="http://schemas.microsoft.com/office/drawing/2014/main" val="10001"/>
                  </a:ext>
                </a:extLst>
              </a:tr>
              <a:tr h="468629">
                <a:tc>
                  <a:txBody>
                    <a:bodyPr/>
                    <a:lstStyle/>
                    <a:p>
                      <a:pPr algn="ctr"/>
                      <a:r>
                        <a:rPr sz="1000">
                          <a:latin typeface="Times New Roman"/>
                        </a:rPr>
                        <a:t>2</a:t>
                      </a:r>
                    </a:p>
                  </a:txBody>
                  <a:tcPr/>
                </a:tc>
                <a:tc>
                  <a:txBody>
                    <a:bodyPr/>
                    <a:lstStyle/>
                    <a:p>
                      <a:pPr algn="ctr"/>
                      <a:r>
                        <a:rPr sz="1000">
                          <a:latin typeface="Times New Roman"/>
                        </a:rPr>
                        <a:t>XGBoost</a:t>
                      </a:r>
                    </a:p>
                  </a:txBody>
                  <a:tcPr/>
                </a:tc>
                <a:tc>
                  <a:txBody>
                    <a:bodyPr/>
                    <a:lstStyle/>
                    <a:p>
                      <a:pPr algn="ctr"/>
                      <a:r>
                        <a:rPr sz="1000">
                          <a:latin typeface="Times New Roman"/>
                        </a:rPr>
                        <a:t>79.40%</a:t>
                      </a:r>
                    </a:p>
                  </a:txBody>
                  <a:tcPr/>
                </a:tc>
                <a:tc>
                  <a:txBody>
                    <a:bodyPr/>
                    <a:lstStyle/>
                    <a:p>
                      <a:pPr algn="ctr"/>
                      <a:r>
                        <a:rPr sz="1000">
                          <a:latin typeface="Times New Roman"/>
                        </a:rPr>
                        <a:t>80.92%</a:t>
                      </a:r>
                    </a:p>
                  </a:txBody>
                  <a:tcPr/>
                </a:tc>
                <a:tc>
                  <a:txBody>
                    <a:bodyPr/>
                    <a:lstStyle/>
                    <a:p>
                      <a:pPr algn="ctr"/>
                      <a:r>
                        <a:rPr sz="1000">
                          <a:latin typeface="Times New Roman"/>
                        </a:rPr>
                        <a:t>0.737</a:t>
                      </a:r>
                    </a:p>
                  </a:txBody>
                  <a:tcPr/>
                </a:tc>
                <a:tc>
                  <a:txBody>
                    <a:bodyPr/>
                    <a:lstStyle/>
                    <a:p>
                      <a:pPr algn="ctr"/>
                      <a:r>
                        <a:rPr sz="1000">
                          <a:latin typeface="Times New Roman"/>
                        </a:rPr>
                        <a:t>0.950</a:t>
                      </a:r>
                    </a:p>
                  </a:txBody>
                  <a:tcPr/>
                </a:tc>
                <a:tc>
                  <a:txBody>
                    <a:bodyPr/>
                    <a:lstStyle/>
                    <a:p>
                      <a:pPr algn="ctr"/>
                      <a:r>
                        <a:rPr sz="1000">
                          <a:latin typeface="Times New Roman"/>
                        </a:rPr>
                        <a:t>0.061</a:t>
                      </a:r>
                    </a:p>
                  </a:txBody>
                  <a:tcPr/>
                </a:tc>
                <a:extLst>
                  <a:ext uri="{0D108BD9-81ED-4DB2-BD59-A6C34878D82A}">
                    <a16:rowId xmlns:a16="http://schemas.microsoft.com/office/drawing/2014/main" val="10002"/>
                  </a:ext>
                </a:extLst>
              </a:tr>
              <a:tr h="468629">
                <a:tc>
                  <a:txBody>
                    <a:bodyPr/>
                    <a:lstStyle/>
                    <a:p>
                      <a:pPr algn="ctr"/>
                      <a:r>
                        <a:rPr sz="1000">
                          <a:latin typeface="Times New Roman"/>
                        </a:rPr>
                        <a:t>3</a:t>
                      </a:r>
                    </a:p>
                  </a:txBody>
                  <a:tcPr>
                    <a:solidFill>
                      <a:srgbClr val="D4EDD8"/>
                    </a:solidFill>
                  </a:tcPr>
                </a:tc>
                <a:tc>
                  <a:txBody>
                    <a:bodyPr/>
                    <a:lstStyle/>
                    <a:p>
                      <a:pPr algn="ctr"/>
                      <a:r>
                        <a:rPr sz="1000">
                          <a:latin typeface="Times New Roman"/>
                        </a:rPr>
                        <a:t>Random Forest</a:t>
                      </a:r>
                    </a:p>
                  </a:txBody>
                  <a:tcPr>
                    <a:solidFill>
                      <a:srgbClr val="D4EDD8"/>
                    </a:solidFill>
                  </a:tcPr>
                </a:tc>
                <a:tc>
                  <a:txBody>
                    <a:bodyPr/>
                    <a:lstStyle/>
                    <a:p>
                      <a:pPr algn="ctr"/>
                      <a:r>
                        <a:rPr sz="1000">
                          <a:latin typeface="Times New Roman"/>
                        </a:rPr>
                        <a:t>79.05%</a:t>
                      </a:r>
                    </a:p>
                  </a:txBody>
                  <a:tcPr>
                    <a:solidFill>
                      <a:srgbClr val="D4EDD8"/>
                    </a:solidFill>
                  </a:tcPr>
                </a:tc>
                <a:tc>
                  <a:txBody>
                    <a:bodyPr/>
                    <a:lstStyle/>
                    <a:p>
                      <a:pPr algn="ctr"/>
                      <a:r>
                        <a:rPr sz="1000">
                          <a:latin typeface="Times New Roman"/>
                        </a:rPr>
                        <a:t>81.07%</a:t>
                      </a:r>
                    </a:p>
                  </a:txBody>
                  <a:tcPr>
                    <a:solidFill>
                      <a:srgbClr val="D4EDD8"/>
                    </a:solidFill>
                  </a:tcPr>
                </a:tc>
                <a:tc>
                  <a:txBody>
                    <a:bodyPr/>
                    <a:lstStyle/>
                    <a:p>
                      <a:pPr algn="ctr"/>
                      <a:r>
                        <a:rPr sz="1000">
                          <a:latin typeface="Times New Roman"/>
                        </a:rPr>
                        <a:t>0.735</a:t>
                      </a:r>
                    </a:p>
                  </a:txBody>
                  <a:tcPr>
                    <a:solidFill>
                      <a:srgbClr val="D4EDD8"/>
                    </a:solidFill>
                  </a:tcPr>
                </a:tc>
                <a:tc>
                  <a:txBody>
                    <a:bodyPr/>
                    <a:lstStyle/>
                    <a:p>
                      <a:pPr algn="ctr"/>
                      <a:r>
                        <a:rPr sz="1000">
                          <a:latin typeface="Times New Roman"/>
                        </a:rPr>
                        <a:t>0.931</a:t>
                      </a:r>
                    </a:p>
                  </a:txBody>
                  <a:tcPr>
                    <a:solidFill>
                      <a:srgbClr val="D4EDD8"/>
                    </a:solidFill>
                  </a:tcPr>
                </a:tc>
                <a:tc>
                  <a:txBody>
                    <a:bodyPr/>
                    <a:lstStyle/>
                    <a:p>
                      <a:pPr algn="ctr"/>
                      <a:r>
                        <a:rPr sz="1000">
                          <a:latin typeface="Times New Roman"/>
                        </a:rPr>
                        <a:t>0.174</a:t>
                      </a:r>
                    </a:p>
                  </a:txBody>
                  <a:tcPr>
                    <a:solidFill>
                      <a:srgbClr val="D4EDD8"/>
                    </a:solidFill>
                  </a:tcPr>
                </a:tc>
                <a:extLst>
                  <a:ext uri="{0D108BD9-81ED-4DB2-BD59-A6C34878D82A}">
                    <a16:rowId xmlns:a16="http://schemas.microsoft.com/office/drawing/2014/main" val="10003"/>
                  </a:ext>
                </a:extLst>
              </a:tr>
              <a:tr h="468629">
                <a:tc>
                  <a:txBody>
                    <a:bodyPr/>
                    <a:lstStyle/>
                    <a:p>
                      <a:pPr algn="ctr"/>
                      <a:r>
                        <a:rPr sz="1000">
                          <a:latin typeface="Times New Roman"/>
                        </a:rPr>
                        <a:t>4</a:t>
                      </a:r>
                    </a:p>
                  </a:txBody>
                  <a:tcPr/>
                </a:tc>
                <a:tc>
                  <a:txBody>
                    <a:bodyPr/>
                    <a:lstStyle/>
                    <a:p>
                      <a:pPr algn="ctr"/>
                      <a:r>
                        <a:rPr sz="1000">
                          <a:latin typeface="Times New Roman"/>
                        </a:rPr>
                        <a:t>Decision Tree</a:t>
                      </a:r>
                    </a:p>
                  </a:txBody>
                  <a:tcPr/>
                </a:tc>
                <a:tc>
                  <a:txBody>
                    <a:bodyPr/>
                    <a:lstStyle/>
                    <a:p>
                      <a:pPr algn="ctr"/>
                      <a:r>
                        <a:rPr sz="1000">
                          <a:latin typeface="Times New Roman"/>
                        </a:rPr>
                        <a:t>74.05%</a:t>
                      </a:r>
                    </a:p>
                  </a:txBody>
                  <a:tcPr/>
                </a:tc>
                <a:tc>
                  <a:txBody>
                    <a:bodyPr/>
                    <a:lstStyle/>
                    <a:p>
                      <a:pPr algn="ctr"/>
                      <a:r>
                        <a:rPr sz="1000">
                          <a:latin typeface="Times New Roman"/>
                        </a:rPr>
                        <a:t>76.69%</a:t>
                      </a:r>
                    </a:p>
                  </a:txBody>
                  <a:tcPr/>
                </a:tc>
                <a:tc>
                  <a:txBody>
                    <a:bodyPr/>
                    <a:lstStyle/>
                    <a:p>
                      <a:pPr algn="ctr"/>
                      <a:r>
                        <a:rPr sz="1000">
                          <a:latin typeface="Times New Roman"/>
                        </a:rPr>
                        <a:t>0.673</a:t>
                      </a:r>
                    </a:p>
                  </a:txBody>
                  <a:tcPr/>
                </a:tc>
                <a:tc>
                  <a:txBody>
                    <a:bodyPr/>
                    <a:lstStyle/>
                    <a:p>
                      <a:pPr algn="ctr"/>
                      <a:r>
                        <a:rPr sz="1000">
                          <a:latin typeface="Times New Roman"/>
                        </a:rPr>
                        <a:t>0.752</a:t>
                      </a:r>
                    </a:p>
                  </a:txBody>
                  <a:tcPr/>
                </a:tc>
                <a:tc>
                  <a:txBody>
                    <a:bodyPr/>
                    <a:lstStyle/>
                    <a:p>
                      <a:pPr algn="ctr"/>
                      <a:r>
                        <a:rPr sz="1000">
                          <a:latin typeface="Times New Roman"/>
                        </a:rPr>
                        <a:t>0.216</a:t>
                      </a:r>
                    </a:p>
                  </a:txBody>
                  <a:tcPr/>
                </a:tc>
                <a:extLst>
                  <a:ext uri="{0D108BD9-81ED-4DB2-BD59-A6C34878D82A}">
                    <a16:rowId xmlns:a16="http://schemas.microsoft.com/office/drawing/2014/main" val="10004"/>
                  </a:ext>
                </a:extLst>
              </a:tr>
              <a:tr h="468629">
                <a:tc>
                  <a:txBody>
                    <a:bodyPr/>
                    <a:lstStyle/>
                    <a:p>
                      <a:pPr algn="ctr"/>
                      <a:r>
                        <a:rPr sz="1000">
                          <a:latin typeface="Times New Roman"/>
                        </a:rPr>
                        <a:t>5</a:t>
                      </a:r>
                    </a:p>
                  </a:txBody>
                  <a:tcPr>
                    <a:solidFill>
                      <a:srgbClr val="D4EDD8"/>
                    </a:solidFill>
                  </a:tcPr>
                </a:tc>
                <a:tc>
                  <a:txBody>
                    <a:bodyPr/>
                    <a:lstStyle/>
                    <a:p>
                      <a:pPr algn="ctr"/>
                      <a:r>
                        <a:rPr sz="1000">
                          <a:latin typeface="Times New Roman"/>
                        </a:rPr>
                        <a:t>SVM</a:t>
                      </a:r>
                    </a:p>
                  </a:txBody>
                  <a:tcPr>
                    <a:solidFill>
                      <a:srgbClr val="D4EDD8"/>
                    </a:solidFill>
                  </a:tcPr>
                </a:tc>
                <a:tc>
                  <a:txBody>
                    <a:bodyPr/>
                    <a:lstStyle/>
                    <a:p>
                      <a:pPr algn="ctr"/>
                      <a:r>
                        <a:rPr sz="1000">
                          <a:latin typeface="Times New Roman"/>
                        </a:rPr>
                        <a:t>70.35%</a:t>
                      </a:r>
                    </a:p>
                  </a:txBody>
                  <a:tcPr>
                    <a:solidFill>
                      <a:srgbClr val="D4EDD8"/>
                    </a:solidFill>
                  </a:tcPr>
                </a:tc>
                <a:tc>
                  <a:txBody>
                    <a:bodyPr/>
                    <a:lstStyle/>
                    <a:p>
                      <a:pPr algn="ctr"/>
                      <a:r>
                        <a:rPr sz="1000">
                          <a:latin typeface="Times New Roman"/>
                        </a:rPr>
                        <a:t>66.06%</a:t>
                      </a:r>
                    </a:p>
                  </a:txBody>
                  <a:tcPr>
                    <a:solidFill>
                      <a:srgbClr val="D4EDD8"/>
                    </a:solidFill>
                  </a:tcPr>
                </a:tc>
                <a:tc>
                  <a:txBody>
                    <a:bodyPr/>
                    <a:lstStyle/>
                    <a:p>
                      <a:pPr algn="ctr"/>
                      <a:r>
                        <a:rPr sz="1000">
                          <a:latin typeface="Times New Roman"/>
                        </a:rPr>
                        <a:t>0.604</a:t>
                      </a:r>
                    </a:p>
                  </a:txBody>
                  <a:tcPr>
                    <a:solidFill>
                      <a:srgbClr val="D4EDD8"/>
                    </a:solidFill>
                  </a:tcPr>
                </a:tc>
                <a:tc>
                  <a:txBody>
                    <a:bodyPr/>
                    <a:lstStyle/>
                    <a:p>
                      <a:pPr algn="ctr"/>
                      <a:r>
                        <a:rPr sz="1000">
                          <a:latin typeface="Times New Roman"/>
                        </a:rPr>
                        <a:t>0.856</a:t>
                      </a:r>
                    </a:p>
                  </a:txBody>
                  <a:tcPr>
                    <a:solidFill>
                      <a:srgbClr val="D4EDD8"/>
                    </a:solidFill>
                  </a:tcPr>
                </a:tc>
                <a:tc>
                  <a:txBody>
                    <a:bodyPr/>
                    <a:lstStyle/>
                    <a:p>
                      <a:pPr algn="ctr"/>
                      <a:r>
                        <a:rPr sz="1000">
                          <a:latin typeface="Times New Roman"/>
                        </a:rPr>
                        <a:t>0.121</a:t>
                      </a:r>
                    </a:p>
                  </a:txBody>
                  <a:tcPr>
                    <a:solidFill>
                      <a:srgbClr val="D4EDD8"/>
                    </a:solidFill>
                  </a:tcPr>
                </a:tc>
                <a:extLst>
                  <a:ext uri="{0D108BD9-81ED-4DB2-BD59-A6C34878D82A}">
                    <a16:rowId xmlns:a16="http://schemas.microsoft.com/office/drawing/2014/main" val="10005"/>
                  </a:ext>
                </a:extLst>
              </a:tr>
              <a:tr h="468629">
                <a:tc>
                  <a:txBody>
                    <a:bodyPr/>
                    <a:lstStyle/>
                    <a:p>
                      <a:pPr algn="ctr"/>
                      <a:r>
                        <a:rPr sz="1000">
                          <a:latin typeface="Times New Roman"/>
                        </a:rPr>
                        <a:t>6</a:t>
                      </a:r>
                    </a:p>
                  </a:txBody>
                  <a:tcPr/>
                </a:tc>
                <a:tc>
                  <a:txBody>
                    <a:bodyPr/>
                    <a:lstStyle/>
                    <a:p>
                      <a:pPr algn="ctr"/>
                      <a:r>
                        <a:rPr sz="1000">
                          <a:latin typeface="Times New Roman"/>
                        </a:rPr>
                        <a:t>Naïve Bayes</a:t>
                      </a:r>
                    </a:p>
                  </a:txBody>
                  <a:tcPr/>
                </a:tc>
                <a:tc>
                  <a:txBody>
                    <a:bodyPr/>
                    <a:lstStyle/>
                    <a:p>
                      <a:pPr algn="ctr"/>
                      <a:r>
                        <a:rPr sz="1000">
                          <a:latin typeface="Times New Roman"/>
                        </a:rPr>
                        <a:t>66.00%</a:t>
                      </a:r>
                    </a:p>
                  </a:txBody>
                  <a:tcPr/>
                </a:tc>
                <a:tc>
                  <a:txBody>
                    <a:bodyPr/>
                    <a:lstStyle/>
                    <a:p>
                      <a:pPr algn="ctr"/>
                      <a:r>
                        <a:rPr sz="1000">
                          <a:latin typeface="Times New Roman"/>
                        </a:rPr>
                        <a:t>67.17%</a:t>
                      </a:r>
                    </a:p>
                  </a:txBody>
                  <a:tcPr/>
                </a:tc>
                <a:tc>
                  <a:txBody>
                    <a:bodyPr/>
                    <a:lstStyle/>
                    <a:p>
                      <a:pPr algn="ctr"/>
                      <a:r>
                        <a:rPr sz="1000">
                          <a:latin typeface="Times New Roman"/>
                        </a:rPr>
                        <a:t>0.577</a:t>
                      </a:r>
                    </a:p>
                  </a:txBody>
                  <a:tcPr/>
                </a:tc>
                <a:tc>
                  <a:txBody>
                    <a:bodyPr/>
                    <a:lstStyle/>
                    <a:p>
                      <a:pPr algn="ctr"/>
                      <a:r>
                        <a:rPr sz="1000">
                          <a:latin typeface="Times New Roman"/>
                        </a:rPr>
                        <a:t>0.840</a:t>
                      </a:r>
                    </a:p>
                  </a:txBody>
                  <a:tcPr/>
                </a:tc>
                <a:tc>
                  <a:txBody>
                    <a:bodyPr/>
                    <a:lstStyle/>
                    <a:p>
                      <a:pPr algn="ctr"/>
                      <a:r>
                        <a:rPr sz="1000">
                          <a:latin typeface="Times New Roman"/>
                        </a:rPr>
                        <a:t>0.118</a:t>
                      </a:r>
                    </a:p>
                  </a:txBody>
                  <a:tcPr/>
                </a:tc>
                <a:extLst>
                  <a:ext uri="{0D108BD9-81ED-4DB2-BD59-A6C34878D82A}">
                    <a16:rowId xmlns:a16="http://schemas.microsoft.com/office/drawing/2014/main" val="10006"/>
                  </a:ext>
                </a:extLst>
              </a:tr>
              <a:tr h="468636">
                <a:tc>
                  <a:txBody>
                    <a:bodyPr/>
                    <a:lstStyle/>
                    <a:p>
                      <a:pPr algn="ctr"/>
                      <a:r>
                        <a:rPr sz="1000">
                          <a:latin typeface="Times New Roman"/>
                        </a:rPr>
                        <a:t>7</a:t>
                      </a:r>
                    </a:p>
                  </a:txBody>
                  <a:tcPr>
                    <a:solidFill>
                      <a:srgbClr val="D4EDD8"/>
                    </a:solidFill>
                  </a:tcPr>
                </a:tc>
                <a:tc>
                  <a:txBody>
                    <a:bodyPr/>
                    <a:lstStyle/>
                    <a:p>
                      <a:pPr algn="ctr"/>
                      <a:r>
                        <a:rPr sz="1000">
                          <a:latin typeface="Times New Roman"/>
                        </a:rPr>
                        <a:t>KNN</a:t>
                      </a:r>
                    </a:p>
                  </a:txBody>
                  <a:tcPr>
                    <a:solidFill>
                      <a:srgbClr val="D4EDD8"/>
                    </a:solidFill>
                  </a:tcPr>
                </a:tc>
                <a:tc>
                  <a:txBody>
                    <a:bodyPr/>
                    <a:lstStyle/>
                    <a:p>
                      <a:pPr algn="ctr"/>
                      <a:r>
                        <a:rPr sz="1000">
                          <a:latin typeface="Times New Roman"/>
                        </a:rPr>
                        <a:t>30.20%</a:t>
                      </a:r>
                    </a:p>
                  </a:txBody>
                  <a:tcPr>
                    <a:solidFill>
                      <a:srgbClr val="D4EDD8"/>
                    </a:solidFill>
                  </a:tcPr>
                </a:tc>
                <a:tc>
                  <a:txBody>
                    <a:bodyPr/>
                    <a:lstStyle/>
                    <a:p>
                      <a:pPr algn="ctr"/>
                      <a:r>
                        <a:rPr sz="1000">
                          <a:latin typeface="Times New Roman"/>
                        </a:rPr>
                        <a:t>37.93%</a:t>
                      </a:r>
                    </a:p>
                  </a:txBody>
                  <a:tcPr>
                    <a:solidFill>
                      <a:srgbClr val="D4EDD8"/>
                    </a:solidFill>
                  </a:tcPr>
                </a:tc>
                <a:tc>
                  <a:txBody>
                    <a:bodyPr/>
                    <a:lstStyle/>
                    <a:p>
                      <a:pPr algn="ctr"/>
                      <a:r>
                        <a:rPr sz="1000">
                          <a:latin typeface="Times New Roman"/>
                        </a:rPr>
                        <a:t>0.224</a:t>
                      </a:r>
                    </a:p>
                  </a:txBody>
                  <a:tcPr>
                    <a:solidFill>
                      <a:srgbClr val="D4EDD8"/>
                    </a:solidFill>
                  </a:tcPr>
                </a:tc>
                <a:tc>
                  <a:txBody>
                    <a:bodyPr/>
                    <a:lstStyle/>
                    <a:p>
                      <a:pPr algn="ctr"/>
                      <a:r>
                        <a:rPr sz="1000">
                          <a:latin typeface="Times New Roman"/>
                        </a:rPr>
                        <a:t>0.625</a:t>
                      </a:r>
                    </a:p>
                  </a:txBody>
                  <a:tcPr>
                    <a:solidFill>
                      <a:srgbClr val="D4EDD8"/>
                    </a:solidFill>
                  </a:tcPr>
                </a:tc>
                <a:tc>
                  <a:txBody>
                    <a:bodyPr/>
                    <a:lstStyle/>
                    <a:p>
                      <a:pPr algn="ctr"/>
                      <a:r>
                        <a:rPr sz="1000">
                          <a:latin typeface="Times New Roman"/>
                        </a:rPr>
                        <a:t>0.373</a:t>
                      </a:r>
                    </a:p>
                  </a:txBody>
                  <a:tcPr>
                    <a:solidFill>
                      <a:srgbClr val="D4EDD8"/>
                    </a:solidFill>
                  </a:tcPr>
                </a:tc>
                <a:extLst>
                  <a:ext uri="{0D108BD9-81ED-4DB2-BD59-A6C34878D82A}">
                    <a16:rowId xmlns:a16="http://schemas.microsoft.com/office/drawing/2014/main" val="10007"/>
                  </a:ext>
                </a:extLst>
              </a:tr>
            </a:tbl>
          </a:graphicData>
        </a:graphic>
      </p:graphicFrame>
      <p:pic>
        <p:nvPicPr>
          <p:cNvPr id="6" name="Picture 5" descr="04_model_comparison.png"/>
          <p:cNvPicPr>
            <a:picLocks noChangeAspect="1"/>
          </p:cNvPicPr>
          <p:nvPr/>
        </p:nvPicPr>
        <p:blipFill>
          <a:blip r:embed="rId2"/>
          <a:stretch>
            <a:fillRect/>
          </a:stretch>
        </p:blipFill>
        <p:spPr>
          <a:xfrm>
            <a:off x="274320" y="4983480"/>
            <a:ext cx="11640312" cy="160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dirty="0">
                <a:solidFill>
                  <a:srgbClr val="FFFFFF"/>
                </a:solidFill>
                <a:latin typeface="Times New Roman"/>
              </a:rPr>
              <a:t>Best Base Model — </a:t>
            </a:r>
            <a:r>
              <a:rPr sz="2800" b="1" i="0" dirty="0" err="1">
                <a:solidFill>
                  <a:srgbClr val="FFFFFF"/>
                </a:solidFill>
                <a:latin typeface="Times New Roman"/>
              </a:rPr>
              <a:t>LightGBM</a:t>
            </a:r>
            <a:r>
              <a:rPr sz="2800" b="1" i="0" dirty="0">
                <a:solidFill>
                  <a:srgbClr val="FFFFFF"/>
                </a:solidFill>
                <a:latin typeface="Times New Roman"/>
              </a:rPr>
              <a:t> Analysis</a:t>
            </a:r>
          </a:p>
        </p:txBody>
      </p:sp>
      <p:pic>
        <p:nvPicPr>
          <p:cNvPr id="5" name="Picture 4" descr="05_confusion_matrix_best.png"/>
          <p:cNvPicPr>
            <a:picLocks noChangeAspect="1"/>
          </p:cNvPicPr>
          <p:nvPr/>
        </p:nvPicPr>
        <p:blipFill>
          <a:blip r:embed="rId2"/>
          <a:stretch>
            <a:fillRect/>
          </a:stretch>
        </p:blipFill>
        <p:spPr>
          <a:xfrm>
            <a:off x="274320" y="1097280"/>
            <a:ext cx="5669280" cy="3657600"/>
          </a:xfrm>
          <a:prstGeom prst="rect">
            <a:avLst/>
          </a:prstGeom>
        </p:spPr>
      </p:pic>
      <p:pic>
        <p:nvPicPr>
          <p:cNvPr id="6" name="Picture 5" descr="06_roc_curves_best.png"/>
          <p:cNvPicPr>
            <a:picLocks noChangeAspect="1"/>
          </p:cNvPicPr>
          <p:nvPr/>
        </p:nvPicPr>
        <p:blipFill>
          <a:blip r:embed="rId3"/>
          <a:stretch>
            <a:fillRect/>
          </a:stretch>
        </p:blipFill>
        <p:spPr>
          <a:xfrm>
            <a:off x="6217920" y="1097280"/>
            <a:ext cx="5669280" cy="3657600"/>
          </a:xfrm>
          <a:prstGeom prst="rect">
            <a:avLst/>
          </a:prstGeom>
        </p:spPr>
      </p:pic>
      <p:pic>
        <p:nvPicPr>
          <p:cNvPr id="7" name="Picture 6" descr="07_calibration_best.png"/>
          <p:cNvPicPr>
            <a:picLocks noChangeAspect="1"/>
          </p:cNvPicPr>
          <p:nvPr/>
        </p:nvPicPr>
        <p:blipFill>
          <a:blip r:embed="rId4"/>
          <a:stretch>
            <a:fillRect/>
          </a:stretch>
        </p:blipFill>
        <p:spPr>
          <a:xfrm>
            <a:off x="274320" y="4800600"/>
            <a:ext cx="5669280" cy="1828800"/>
          </a:xfrm>
          <a:prstGeom prst="rect">
            <a:avLst/>
          </a:prstGeom>
        </p:spPr>
      </p:pic>
      <p:sp>
        <p:nvSpPr>
          <p:cNvPr id="8" name="Rectangle 7"/>
          <p:cNvSpPr/>
          <p:nvPr/>
        </p:nvSpPr>
        <p:spPr>
          <a:xfrm>
            <a:off x="6217920" y="4800600"/>
            <a:ext cx="566928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4846320"/>
            <a:ext cx="5303520" cy="365760"/>
          </a:xfrm>
          <a:prstGeom prst="rect">
            <a:avLst/>
          </a:prstGeom>
          <a:noFill/>
        </p:spPr>
        <p:txBody>
          <a:bodyPr wrap="square">
            <a:spAutoFit/>
          </a:bodyPr>
          <a:lstStyle/>
          <a:p>
            <a:pPr algn="l"/>
            <a:r>
              <a:rPr sz="1400" b="1" i="0">
                <a:solidFill>
                  <a:srgbClr val="277A3A"/>
                </a:solidFill>
                <a:latin typeface="Times New Roman"/>
              </a:rPr>
              <a:t>LightGBM Key Metrics</a:t>
            </a:r>
          </a:p>
        </p:txBody>
      </p:sp>
      <p:sp>
        <p:nvSpPr>
          <p:cNvPr id="10" name="TextBox 9"/>
          <p:cNvSpPr txBox="1"/>
          <p:nvPr/>
        </p:nvSpPr>
        <p:spPr>
          <a:xfrm>
            <a:off x="6400800" y="5257800"/>
            <a:ext cx="5303520" cy="1280160"/>
          </a:xfrm>
          <a:prstGeom prst="rect">
            <a:avLst/>
          </a:prstGeom>
          <a:noFill/>
        </p:spPr>
        <p:txBody>
          <a:bodyPr wrap="square">
            <a:spAutoFit/>
          </a:bodyPr>
          <a:lstStyle/>
          <a:p>
            <a:pPr algn="l"/>
            <a:r>
              <a:rPr sz="1300" b="0" i="0" dirty="0">
                <a:solidFill>
                  <a:srgbClr val="1A1A2E"/>
                </a:solidFill>
                <a:latin typeface="Times New Roman"/>
              </a:rPr>
              <a:t>  •  Accuracy:  79.90%
  •  F1 Weighted:  80.85%
  •  MCC:  0.742
  •  ROC-AUC:  0.948
  •  Inference time:  0.87 </a:t>
            </a:r>
            <a:r>
              <a:rPr sz="1300" b="0" i="0" dirty="0" err="1">
                <a:solidFill>
                  <a:srgbClr val="1A1A2E"/>
                </a:solidFill>
                <a:latin typeface="Times New Roman"/>
              </a:rPr>
              <a:t>ms</a:t>
            </a:r>
            <a:endParaRPr sz="1300" b="0" i="0" dirty="0">
              <a:solidFill>
                <a:srgbClr val="1A1A2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Stacked Ensemble — Final Results</a:t>
            </a:r>
          </a:p>
        </p:txBody>
      </p:sp>
      <p:sp>
        <p:nvSpPr>
          <p:cNvPr id="5" name="Rectangle 4"/>
          <p:cNvSpPr/>
          <p:nvPr/>
        </p:nvSpPr>
        <p:spPr>
          <a:xfrm>
            <a:off x="365760" y="1143000"/>
            <a:ext cx="5303520" cy="32004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88720"/>
            <a:ext cx="5120640" cy="457200"/>
          </a:xfrm>
          <a:prstGeom prst="rect">
            <a:avLst/>
          </a:prstGeom>
          <a:noFill/>
        </p:spPr>
        <p:txBody>
          <a:bodyPr wrap="square">
            <a:spAutoFit/>
          </a:bodyPr>
          <a:lstStyle/>
          <a:p>
            <a:pPr algn="ctr"/>
            <a:r>
              <a:rPr sz="1600" b="1" i="0">
                <a:solidFill>
                  <a:srgbClr val="D4AF37"/>
                </a:solidFill>
                <a:latin typeface="Times New Roman"/>
              </a:rPr>
              <a:t>STACKED ENSEMBLE RESULTS</a:t>
            </a:r>
          </a:p>
        </p:txBody>
      </p:sp>
      <p:sp>
        <p:nvSpPr>
          <p:cNvPr id="7" name="Rectangle 6"/>
          <p:cNvSpPr/>
          <p:nvPr/>
        </p:nvSpPr>
        <p:spPr>
          <a:xfrm>
            <a:off x="502920" y="1737360"/>
            <a:ext cx="5029200" cy="45720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764792"/>
            <a:ext cx="2743200" cy="384048"/>
          </a:xfrm>
          <a:prstGeom prst="rect">
            <a:avLst/>
          </a:prstGeom>
          <a:noFill/>
        </p:spPr>
        <p:txBody>
          <a:bodyPr wrap="square">
            <a:spAutoFit/>
          </a:bodyPr>
          <a:lstStyle/>
          <a:p>
            <a:pPr algn="l"/>
            <a:r>
              <a:rPr sz="1400" b="1" i="0">
                <a:solidFill>
                  <a:srgbClr val="FFFFFF"/>
                </a:solidFill>
                <a:latin typeface="Times New Roman"/>
              </a:rPr>
              <a:t>Accuracy</a:t>
            </a:r>
          </a:p>
        </p:txBody>
      </p:sp>
      <p:sp>
        <p:nvSpPr>
          <p:cNvPr id="9" name="TextBox 8"/>
          <p:cNvSpPr txBox="1"/>
          <p:nvPr/>
        </p:nvSpPr>
        <p:spPr>
          <a:xfrm>
            <a:off x="3429000" y="1764792"/>
            <a:ext cx="1828800" cy="384048"/>
          </a:xfrm>
          <a:prstGeom prst="rect">
            <a:avLst/>
          </a:prstGeom>
          <a:noFill/>
        </p:spPr>
        <p:txBody>
          <a:bodyPr wrap="square">
            <a:spAutoFit/>
          </a:bodyPr>
          <a:lstStyle/>
          <a:p>
            <a:pPr algn="r"/>
            <a:r>
              <a:rPr sz="1400" b="1" i="0">
                <a:solidFill>
                  <a:srgbClr val="D4AF37"/>
                </a:solidFill>
                <a:latin typeface="Times New Roman"/>
              </a:rPr>
              <a:t>80.35%</a:t>
            </a:r>
          </a:p>
        </p:txBody>
      </p:sp>
      <p:sp>
        <p:nvSpPr>
          <p:cNvPr id="10" name="Rectangle 9"/>
          <p:cNvSpPr/>
          <p:nvPr/>
        </p:nvSpPr>
        <p:spPr>
          <a:xfrm>
            <a:off x="502920" y="2249424"/>
            <a:ext cx="5029200" cy="45720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276856"/>
            <a:ext cx="2743200" cy="384048"/>
          </a:xfrm>
          <a:prstGeom prst="rect">
            <a:avLst/>
          </a:prstGeom>
          <a:noFill/>
        </p:spPr>
        <p:txBody>
          <a:bodyPr wrap="square">
            <a:spAutoFit/>
          </a:bodyPr>
          <a:lstStyle/>
          <a:p>
            <a:pPr algn="l"/>
            <a:r>
              <a:rPr sz="1400" b="1" i="0">
                <a:solidFill>
                  <a:srgbClr val="FFFFFF"/>
                </a:solidFill>
                <a:latin typeface="Times New Roman"/>
              </a:rPr>
              <a:t>F1 (Weighted)</a:t>
            </a:r>
          </a:p>
        </p:txBody>
      </p:sp>
      <p:sp>
        <p:nvSpPr>
          <p:cNvPr id="12" name="TextBox 11"/>
          <p:cNvSpPr txBox="1"/>
          <p:nvPr/>
        </p:nvSpPr>
        <p:spPr>
          <a:xfrm>
            <a:off x="3429000" y="2276856"/>
            <a:ext cx="1828800" cy="384048"/>
          </a:xfrm>
          <a:prstGeom prst="rect">
            <a:avLst/>
          </a:prstGeom>
          <a:noFill/>
        </p:spPr>
        <p:txBody>
          <a:bodyPr wrap="square">
            <a:spAutoFit/>
          </a:bodyPr>
          <a:lstStyle/>
          <a:p>
            <a:pPr algn="r"/>
            <a:r>
              <a:rPr sz="1400" b="1" i="0">
                <a:solidFill>
                  <a:srgbClr val="FFFFFF"/>
                </a:solidFill>
                <a:latin typeface="Times New Roman"/>
              </a:rPr>
              <a:t>77.25%</a:t>
            </a:r>
          </a:p>
        </p:txBody>
      </p:sp>
      <p:sp>
        <p:nvSpPr>
          <p:cNvPr id="13" name="Rectangle 12"/>
          <p:cNvSpPr/>
          <p:nvPr/>
        </p:nvSpPr>
        <p:spPr>
          <a:xfrm>
            <a:off x="502920" y="2761488"/>
            <a:ext cx="5029200" cy="45720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788920"/>
            <a:ext cx="2743200" cy="384048"/>
          </a:xfrm>
          <a:prstGeom prst="rect">
            <a:avLst/>
          </a:prstGeom>
          <a:noFill/>
        </p:spPr>
        <p:txBody>
          <a:bodyPr wrap="square">
            <a:spAutoFit/>
          </a:bodyPr>
          <a:lstStyle/>
          <a:p>
            <a:pPr algn="l"/>
            <a:r>
              <a:rPr sz="1400" b="1" i="0">
                <a:solidFill>
                  <a:srgbClr val="FFFFFF"/>
                </a:solidFill>
                <a:latin typeface="Times New Roman"/>
              </a:rPr>
              <a:t>MCC</a:t>
            </a:r>
          </a:p>
        </p:txBody>
      </p:sp>
      <p:sp>
        <p:nvSpPr>
          <p:cNvPr id="15" name="TextBox 14"/>
          <p:cNvSpPr txBox="1"/>
          <p:nvPr/>
        </p:nvSpPr>
        <p:spPr>
          <a:xfrm>
            <a:off x="3429000" y="2788920"/>
            <a:ext cx="1828800" cy="384048"/>
          </a:xfrm>
          <a:prstGeom prst="rect">
            <a:avLst/>
          </a:prstGeom>
          <a:noFill/>
        </p:spPr>
        <p:txBody>
          <a:bodyPr wrap="square">
            <a:spAutoFit/>
          </a:bodyPr>
          <a:lstStyle/>
          <a:p>
            <a:pPr algn="r"/>
            <a:r>
              <a:rPr sz="1400" b="1" i="0">
                <a:solidFill>
                  <a:srgbClr val="FFFFFF"/>
                </a:solidFill>
                <a:latin typeface="Times New Roman"/>
              </a:rPr>
              <a:t>0.7404</a:t>
            </a:r>
          </a:p>
        </p:txBody>
      </p:sp>
      <p:sp>
        <p:nvSpPr>
          <p:cNvPr id="16" name="Rectangle 15"/>
          <p:cNvSpPr/>
          <p:nvPr/>
        </p:nvSpPr>
        <p:spPr>
          <a:xfrm>
            <a:off x="502920" y="3273552"/>
            <a:ext cx="5029200" cy="45720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300984"/>
            <a:ext cx="2743200" cy="384048"/>
          </a:xfrm>
          <a:prstGeom prst="rect">
            <a:avLst/>
          </a:prstGeom>
          <a:noFill/>
        </p:spPr>
        <p:txBody>
          <a:bodyPr wrap="square">
            <a:spAutoFit/>
          </a:bodyPr>
          <a:lstStyle/>
          <a:p>
            <a:pPr algn="l"/>
            <a:r>
              <a:rPr sz="1400" b="1" i="0">
                <a:solidFill>
                  <a:srgbClr val="FFFFFF"/>
                </a:solidFill>
                <a:latin typeface="Times New Roman"/>
              </a:rPr>
              <a:t>Training Time</a:t>
            </a:r>
          </a:p>
        </p:txBody>
      </p:sp>
      <p:sp>
        <p:nvSpPr>
          <p:cNvPr id="18" name="TextBox 17"/>
          <p:cNvSpPr txBox="1"/>
          <p:nvPr/>
        </p:nvSpPr>
        <p:spPr>
          <a:xfrm>
            <a:off x="3429000" y="3300984"/>
            <a:ext cx="1828800" cy="384048"/>
          </a:xfrm>
          <a:prstGeom prst="rect">
            <a:avLst/>
          </a:prstGeom>
          <a:noFill/>
        </p:spPr>
        <p:txBody>
          <a:bodyPr wrap="square">
            <a:spAutoFit/>
          </a:bodyPr>
          <a:lstStyle/>
          <a:p>
            <a:pPr algn="r"/>
            <a:r>
              <a:rPr sz="1400" b="1" i="0">
                <a:solidFill>
                  <a:srgbClr val="FFFFFF"/>
                </a:solidFill>
                <a:latin typeface="Times New Roman"/>
              </a:rPr>
              <a:t>56.4 seconds</a:t>
            </a:r>
          </a:p>
        </p:txBody>
      </p:sp>
      <p:sp>
        <p:nvSpPr>
          <p:cNvPr id="19" name="Rectangle 18"/>
          <p:cNvSpPr/>
          <p:nvPr/>
        </p:nvSpPr>
        <p:spPr>
          <a:xfrm>
            <a:off x="502920" y="3785616"/>
            <a:ext cx="5029200" cy="45720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813048"/>
            <a:ext cx="2743200" cy="384048"/>
          </a:xfrm>
          <a:prstGeom prst="rect">
            <a:avLst/>
          </a:prstGeom>
          <a:noFill/>
        </p:spPr>
        <p:txBody>
          <a:bodyPr wrap="square">
            <a:spAutoFit/>
          </a:bodyPr>
          <a:lstStyle/>
          <a:p>
            <a:pPr algn="l"/>
            <a:r>
              <a:rPr sz="1400" b="1" i="0">
                <a:solidFill>
                  <a:srgbClr val="FFFFFF"/>
                </a:solidFill>
                <a:latin typeface="Times New Roman"/>
              </a:rPr>
              <a:t>Pipeline Time</a:t>
            </a:r>
          </a:p>
        </p:txBody>
      </p:sp>
      <p:sp>
        <p:nvSpPr>
          <p:cNvPr id="21" name="TextBox 20"/>
          <p:cNvSpPr txBox="1"/>
          <p:nvPr/>
        </p:nvSpPr>
        <p:spPr>
          <a:xfrm>
            <a:off x="3429000" y="3813048"/>
            <a:ext cx="1828800" cy="384048"/>
          </a:xfrm>
          <a:prstGeom prst="rect">
            <a:avLst/>
          </a:prstGeom>
          <a:noFill/>
        </p:spPr>
        <p:txBody>
          <a:bodyPr wrap="square">
            <a:spAutoFit/>
          </a:bodyPr>
          <a:lstStyle/>
          <a:p>
            <a:pPr algn="r"/>
            <a:r>
              <a:rPr sz="1400" b="1" i="0">
                <a:solidFill>
                  <a:srgbClr val="FFFFFF"/>
                </a:solidFill>
                <a:latin typeface="Times New Roman"/>
              </a:rPr>
              <a:t>206.9 seconds</a:t>
            </a:r>
          </a:p>
        </p:txBody>
      </p:sp>
      <p:sp>
        <p:nvSpPr>
          <p:cNvPr id="22" name="Rectangle 21"/>
          <p:cNvSpPr/>
          <p:nvPr/>
        </p:nvSpPr>
        <p:spPr>
          <a:xfrm>
            <a:off x="365760" y="4434840"/>
            <a:ext cx="5303520" cy="82296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526280"/>
            <a:ext cx="5120640" cy="594360"/>
          </a:xfrm>
          <a:prstGeom prst="rect">
            <a:avLst/>
          </a:prstGeom>
          <a:noFill/>
        </p:spPr>
        <p:txBody>
          <a:bodyPr wrap="square">
            <a:spAutoFit/>
          </a:bodyPr>
          <a:lstStyle/>
          <a:p>
            <a:pPr algn="ctr"/>
            <a:r>
              <a:rPr sz="1200" b="1" i="0">
                <a:solidFill>
                  <a:srgbClr val="FFFFFF"/>
                </a:solidFill>
                <a:latin typeface="Times New Roman"/>
              </a:rPr>
              <a:t>Ensemble outperforms best single model (LightGBM 79.9%) by +0.45% accuracy</a:t>
            </a:r>
          </a:p>
        </p:txBody>
      </p:sp>
      <p:pic>
        <p:nvPicPr>
          <p:cNvPr id="24" name="Picture 23" descr="08_confusion_matrix_ensemble.png"/>
          <p:cNvPicPr>
            <a:picLocks noChangeAspect="1"/>
          </p:cNvPicPr>
          <p:nvPr/>
        </p:nvPicPr>
        <p:blipFill>
          <a:blip r:embed="rId2"/>
          <a:stretch>
            <a:fillRect/>
          </a:stretch>
        </p:blipFill>
        <p:spPr>
          <a:xfrm>
            <a:off x="5943600" y="1143000"/>
            <a:ext cx="3017520" cy="2560320"/>
          </a:xfrm>
          <a:prstGeom prst="rect">
            <a:avLst/>
          </a:prstGeom>
        </p:spPr>
      </p:pic>
      <p:pic>
        <p:nvPicPr>
          <p:cNvPr id="25" name="Picture 24" descr="09_roc_curves_ensemble.png"/>
          <p:cNvPicPr>
            <a:picLocks noChangeAspect="1"/>
          </p:cNvPicPr>
          <p:nvPr/>
        </p:nvPicPr>
        <p:blipFill>
          <a:blip r:embed="rId3"/>
          <a:stretch>
            <a:fillRect/>
          </a:stretch>
        </p:blipFill>
        <p:spPr>
          <a:xfrm>
            <a:off x="9098280" y="1143000"/>
            <a:ext cx="2834640" cy="2560320"/>
          </a:xfrm>
          <a:prstGeom prst="rect">
            <a:avLst/>
          </a:prstGeom>
        </p:spPr>
      </p:pic>
      <p:pic>
        <p:nvPicPr>
          <p:cNvPr id="26" name="Picture 25" descr="feat_importance_Random_Forest.png"/>
          <p:cNvPicPr>
            <a:picLocks noChangeAspect="1"/>
          </p:cNvPicPr>
          <p:nvPr/>
        </p:nvPicPr>
        <p:blipFill>
          <a:blip r:embed="rId4"/>
          <a:stretch>
            <a:fillRect/>
          </a:stretch>
        </p:blipFill>
        <p:spPr>
          <a:xfrm>
            <a:off x="5943600" y="3840480"/>
            <a:ext cx="5943600" cy="28346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XAI Results — SHAP Analysis (Global &amp; Local)</a:t>
            </a:r>
          </a:p>
        </p:txBody>
      </p:sp>
      <p:sp>
        <p:nvSpPr>
          <p:cNvPr id="5" name="TextBox 4"/>
          <p:cNvSpPr txBox="1"/>
          <p:nvPr/>
        </p:nvSpPr>
        <p:spPr>
          <a:xfrm>
            <a:off x="274320" y="1097280"/>
            <a:ext cx="5760720" cy="365760"/>
          </a:xfrm>
          <a:prstGeom prst="rect">
            <a:avLst/>
          </a:prstGeom>
          <a:noFill/>
        </p:spPr>
        <p:txBody>
          <a:bodyPr wrap="square">
            <a:spAutoFit/>
          </a:bodyPr>
          <a:lstStyle/>
          <a:p>
            <a:pPr algn="l"/>
            <a:r>
              <a:rPr sz="1400" b="1" i="0">
                <a:solidFill>
                  <a:srgbClr val="277A3A"/>
                </a:solidFill>
                <a:latin typeface="Times New Roman"/>
              </a:rPr>
              <a:t>Global SHAP Beeswarm Plot</a:t>
            </a:r>
          </a:p>
        </p:txBody>
      </p:sp>
      <p:pic>
        <p:nvPicPr>
          <p:cNvPr id="6" name="Picture 5" descr="10_shap_summary.png"/>
          <p:cNvPicPr>
            <a:picLocks noChangeAspect="1"/>
          </p:cNvPicPr>
          <p:nvPr/>
        </p:nvPicPr>
        <p:blipFill>
          <a:blip r:embed="rId2"/>
          <a:stretch>
            <a:fillRect/>
          </a:stretch>
        </p:blipFill>
        <p:spPr>
          <a:xfrm>
            <a:off x="274320" y="1508760"/>
            <a:ext cx="5760720" cy="3017520"/>
          </a:xfrm>
          <a:prstGeom prst="rect">
            <a:avLst/>
          </a:prstGeom>
        </p:spPr>
      </p:pic>
      <p:sp>
        <p:nvSpPr>
          <p:cNvPr id="7" name="TextBox 6"/>
          <p:cNvSpPr txBox="1"/>
          <p:nvPr/>
        </p:nvSpPr>
        <p:spPr>
          <a:xfrm>
            <a:off x="6217920" y="1097280"/>
            <a:ext cx="5669280" cy="365760"/>
          </a:xfrm>
          <a:prstGeom prst="rect">
            <a:avLst/>
          </a:prstGeom>
          <a:noFill/>
        </p:spPr>
        <p:txBody>
          <a:bodyPr wrap="square">
            <a:spAutoFit/>
          </a:bodyPr>
          <a:lstStyle/>
          <a:p>
            <a:pPr algn="l"/>
            <a:r>
              <a:rPr sz="1400" b="1" i="0">
                <a:solidFill>
                  <a:srgbClr val="277A3A"/>
                </a:solidFill>
                <a:latin typeface="Times New Roman"/>
              </a:rPr>
              <a:t>Local SHAP Waterfall Plot</a:t>
            </a:r>
          </a:p>
        </p:txBody>
      </p:sp>
      <p:pic>
        <p:nvPicPr>
          <p:cNvPr id="8" name="Picture 7" descr="11_shap_local.png"/>
          <p:cNvPicPr>
            <a:picLocks noChangeAspect="1"/>
          </p:cNvPicPr>
          <p:nvPr/>
        </p:nvPicPr>
        <p:blipFill>
          <a:blip r:embed="rId3"/>
          <a:stretch>
            <a:fillRect/>
          </a:stretch>
        </p:blipFill>
        <p:spPr>
          <a:xfrm>
            <a:off x="6217920" y="1508760"/>
            <a:ext cx="5669280" cy="3017520"/>
          </a:xfrm>
          <a:prstGeom prst="rect">
            <a:avLst/>
          </a:prstGeom>
        </p:spPr>
      </p:pic>
      <p:sp>
        <p:nvSpPr>
          <p:cNvPr id="9" name="Rectangle 8"/>
          <p:cNvSpPr/>
          <p:nvPr/>
        </p:nvSpPr>
        <p:spPr>
          <a:xfrm>
            <a:off x="274320" y="4663440"/>
            <a:ext cx="11640312" cy="192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681728"/>
            <a:ext cx="11247120" cy="347472"/>
          </a:xfrm>
          <a:prstGeom prst="rect">
            <a:avLst/>
          </a:prstGeom>
          <a:noFill/>
        </p:spPr>
        <p:txBody>
          <a:bodyPr wrap="square">
            <a:spAutoFit/>
          </a:bodyPr>
          <a:lstStyle/>
          <a:p>
            <a:pPr algn="l"/>
            <a:r>
              <a:rPr sz="1300" b="1" i="0">
                <a:solidFill>
                  <a:srgbClr val="277A3A"/>
                </a:solidFill>
                <a:latin typeface="Times New Roman"/>
              </a:rPr>
              <a:t>Top SHAP Feature Importances</a:t>
            </a:r>
          </a:p>
        </p:txBody>
      </p:sp>
      <p:sp>
        <p:nvSpPr>
          <p:cNvPr id="11" name="TextBox 10"/>
          <p:cNvSpPr txBox="1"/>
          <p:nvPr/>
        </p:nvSpPr>
        <p:spPr>
          <a:xfrm>
            <a:off x="457200" y="5074920"/>
            <a:ext cx="3749039" cy="384048"/>
          </a:xfrm>
          <a:prstGeom prst="rect">
            <a:avLst/>
          </a:prstGeom>
          <a:noFill/>
        </p:spPr>
        <p:txBody>
          <a:bodyPr wrap="square">
            <a:spAutoFit/>
          </a:bodyPr>
          <a:lstStyle/>
          <a:p>
            <a:pPr algn="l"/>
            <a:r>
              <a:rPr sz="1200" b="0" i="0">
                <a:solidFill>
                  <a:srgbClr val="1A1A2E"/>
                </a:solidFill>
                <a:latin typeface="Times New Roman"/>
              </a:rPr>
              <a:t>  1. Rainfall &gt; 0.41  →  0.229</a:t>
            </a:r>
          </a:p>
        </p:txBody>
      </p:sp>
      <p:sp>
        <p:nvSpPr>
          <p:cNvPr id="12" name="TextBox 11"/>
          <p:cNvSpPr txBox="1"/>
          <p:nvPr/>
        </p:nvSpPr>
        <p:spPr>
          <a:xfrm>
            <a:off x="457200" y="5504688"/>
            <a:ext cx="3749039" cy="384048"/>
          </a:xfrm>
          <a:prstGeom prst="rect">
            <a:avLst/>
          </a:prstGeom>
          <a:noFill/>
        </p:spPr>
        <p:txBody>
          <a:bodyPr wrap="square">
            <a:spAutoFit/>
          </a:bodyPr>
          <a:lstStyle/>
          <a:p>
            <a:pPr algn="l"/>
            <a:r>
              <a:rPr sz="1200" b="0" i="0">
                <a:solidFill>
                  <a:srgbClr val="1A1A2E"/>
                </a:solidFill>
                <a:latin typeface="Times New Roman"/>
              </a:rPr>
              <a:t>  2. Feature_89 (Soil Moisture)  →  0.155</a:t>
            </a:r>
          </a:p>
        </p:txBody>
      </p:sp>
      <p:sp>
        <p:nvSpPr>
          <p:cNvPr id="13" name="TextBox 12"/>
          <p:cNvSpPr txBox="1"/>
          <p:nvPr/>
        </p:nvSpPr>
        <p:spPr>
          <a:xfrm>
            <a:off x="4389120" y="5074920"/>
            <a:ext cx="3749039" cy="384048"/>
          </a:xfrm>
          <a:prstGeom prst="rect">
            <a:avLst/>
          </a:prstGeom>
          <a:noFill/>
        </p:spPr>
        <p:txBody>
          <a:bodyPr wrap="square">
            <a:spAutoFit/>
          </a:bodyPr>
          <a:lstStyle/>
          <a:p>
            <a:pPr algn="l"/>
            <a:r>
              <a:rPr sz="1200" b="0" i="0">
                <a:solidFill>
                  <a:srgbClr val="1A1A2E"/>
                </a:solidFill>
                <a:latin typeface="Times New Roman"/>
              </a:rPr>
              <a:t>  3. Feature_86 (pH)  →  0.136</a:t>
            </a:r>
          </a:p>
        </p:txBody>
      </p:sp>
      <p:sp>
        <p:nvSpPr>
          <p:cNvPr id="14" name="TextBox 13"/>
          <p:cNvSpPr txBox="1"/>
          <p:nvPr/>
        </p:nvSpPr>
        <p:spPr>
          <a:xfrm>
            <a:off x="4389120" y="5504688"/>
            <a:ext cx="3749039" cy="384048"/>
          </a:xfrm>
          <a:prstGeom prst="rect">
            <a:avLst/>
          </a:prstGeom>
          <a:noFill/>
        </p:spPr>
        <p:txBody>
          <a:bodyPr wrap="square">
            <a:spAutoFit/>
          </a:bodyPr>
          <a:lstStyle/>
          <a:p>
            <a:pPr algn="l"/>
            <a:r>
              <a:rPr sz="1200" b="0" i="0">
                <a:solidFill>
                  <a:srgbClr val="1A1A2E"/>
                </a:solidFill>
                <a:latin typeface="Times New Roman"/>
              </a:rPr>
              <a:t>  4. Temperature  →  0.129</a:t>
            </a:r>
          </a:p>
        </p:txBody>
      </p:sp>
      <p:sp>
        <p:nvSpPr>
          <p:cNvPr id="15" name="TextBox 14"/>
          <p:cNvSpPr txBox="1"/>
          <p:nvPr/>
        </p:nvSpPr>
        <p:spPr>
          <a:xfrm>
            <a:off x="8321040" y="5074920"/>
            <a:ext cx="3749039" cy="384048"/>
          </a:xfrm>
          <a:prstGeom prst="rect">
            <a:avLst/>
          </a:prstGeom>
          <a:noFill/>
        </p:spPr>
        <p:txBody>
          <a:bodyPr wrap="square">
            <a:spAutoFit/>
          </a:bodyPr>
          <a:lstStyle/>
          <a:p>
            <a:pPr algn="l"/>
            <a:r>
              <a:rPr sz="1200" b="0" i="0">
                <a:solidFill>
                  <a:srgbClr val="1A1A2E"/>
                </a:solidFill>
                <a:latin typeface="Times New Roman"/>
              </a:rPr>
              <a:t>  5. Feature_7 (K)  →  0.109</a:t>
            </a:r>
          </a:p>
        </p:txBody>
      </p:sp>
      <p:sp>
        <p:nvSpPr>
          <p:cNvPr id="16" name="TextBox 15"/>
          <p:cNvSpPr txBox="1"/>
          <p:nvPr/>
        </p:nvSpPr>
        <p:spPr>
          <a:xfrm>
            <a:off x="8321040" y="5504688"/>
            <a:ext cx="3749039" cy="384048"/>
          </a:xfrm>
          <a:prstGeom prst="rect">
            <a:avLst/>
          </a:prstGeom>
          <a:noFill/>
        </p:spPr>
        <p:txBody>
          <a:bodyPr wrap="square">
            <a:spAutoFit/>
          </a:bodyPr>
          <a:lstStyle/>
          <a:p>
            <a:pPr algn="l"/>
            <a:r>
              <a:rPr sz="1200" b="0" i="0">
                <a:solidFill>
                  <a:srgbClr val="1A1A2E"/>
                </a:solidFill>
                <a:latin typeface="Times New Roman"/>
              </a:rPr>
              <a:t>  6. Feature_39 (N)  →  0.105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XAI Results — LIME Analysis (Local Explanations)</a:t>
            </a:r>
          </a:p>
        </p:txBody>
      </p:sp>
      <p:pic>
        <p:nvPicPr>
          <p:cNvPr id="5" name="Picture 4" descr="12_lime_explanation.png"/>
          <p:cNvPicPr>
            <a:picLocks noChangeAspect="1"/>
          </p:cNvPicPr>
          <p:nvPr/>
        </p:nvPicPr>
        <p:blipFill>
          <a:blip r:embed="rId2"/>
          <a:stretch>
            <a:fillRect/>
          </a:stretch>
        </p:blipFill>
        <p:spPr>
          <a:xfrm>
            <a:off x="274320" y="1097280"/>
            <a:ext cx="6400800" cy="5303520"/>
          </a:xfrm>
          <a:prstGeom prst="rect">
            <a:avLst/>
          </a:prstGeom>
        </p:spPr>
      </p:pic>
      <p:sp>
        <p:nvSpPr>
          <p:cNvPr id="6" name="Rectangle 5"/>
          <p:cNvSpPr/>
          <p:nvPr/>
        </p:nvSpPr>
        <p:spPr>
          <a:xfrm>
            <a:off x="6949440" y="1097280"/>
            <a:ext cx="493776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49440" y="1097280"/>
            <a:ext cx="4937760" cy="41148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0" y="1115568"/>
            <a:ext cx="4754880" cy="365760"/>
          </a:xfrm>
          <a:prstGeom prst="rect">
            <a:avLst/>
          </a:prstGeom>
          <a:noFill/>
        </p:spPr>
        <p:txBody>
          <a:bodyPr wrap="square">
            <a:spAutoFit/>
          </a:bodyPr>
          <a:lstStyle/>
          <a:p>
            <a:pPr algn="l"/>
            <a:r>
              <a:rPr sz="1300" b="1" i="0">
                <a:solidFill>
                  <a:srgbClr val="FFFFFF"/>
                </a:solidFill>
                <a:latin typeface="Times New Roman"/>
              </a:rPr>
              <a:t>Top LIME Feature Contributions</a:t>
            </a:r>
          </a:p>
        </p:txBody>
      </p:sp>
      <p:sp>
        <p:nvSpPr>
          <p:cNvPr id="9" name="Rectangle 8"/>
          <p:cNvSpPr/>
          <p:nvPr/>
        </p:nvSpPr>
        <p:spPr>
          <a:xfrm>
            <a:off x="6995160" y="1600200"/>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95160" y="1645920"/>
            <a:ext cx="411480" cy="365760"/>
          </a:xfrm>
          <a:prstGeom prst="rect">
            <a:avLst/>
          </a:prstGeom>
          <a:noFill/>
        </p:spPr>
        <p:txBody>
          <a:bodyPr wrap="square">
            <a:spAutoFit/>
          </a:bodyPr>
          <a:lstStyle/>
          <a:p>
            <a:pPr algn="ctr"/>
            <a:r>
              <a:rPr sz="1200" b="1" i="0">
                <a:solidFill>
                  <a:srgbClr val="FFFFFF"/>
                </a:solidFill>
                <a:latin typeface="Times New Roman"/>
              </a:rPr>
              <a:t>1</a:t>
            </a:r>
          </a:p>
        </p:txBody>
      </p:sp>
      <p:sp>
        <p:nvSpPr>
          <p:cNvPr id="11" name="TextBox 10"/>
          <p:cNvSpPr txBox="1"/>
          <p:nvPr/>
        </p:nvSpPr>
        <p:spPr>
          <a:xfrm>
            <a:off x="7479792" y="1645920"/>
            <a:ext cx="2468880" cy="411480"/>
          </a:xfrm>
          <a:prstGeom prst="rect">
            <a:avLst/>
          </a:prstGeom>
          <a:noFill/>
        </p:spPr>
        <p:txBody>
          <a:bodyPr wrap="square">
            <a:spAutoFit/>
          </a:bodyPr>
          <a:lstStyle/>
          <a:p>
            <a:pPr algn="l"/>
            <a:r>
              <a:rPr sz="1100" b="0" i="0">
                <a:solidFill>
                  <a:srgbClr val="1A1A2E"/>
                </a:solidFill>
                <a:latin typeface="Times New Roman"/>
              </a:rPr>
              <a:t>Rainfall &gt; 0.41</a:t>
            </a:r>
          </a:p>
        </p:txBody>
      </p:sp>
      <p:sp>
        <p:nvSpPr>
          <p:cNvPr id="12" name="TextBox 11"/>
          <p:cNvSpPr txBox="1"/>
          <p:nvPr/>
        </p:nvSpPr>
        <p:spPr>
          <a:xfrm>
            <a:off x="10058400" y="1645920"/>
            <a:ext cx="731520" cy="411480"/>
          </a:xfrm>
          <a:prstGeom prst="rect">
            <a:avLst/>
          </a:prstGeom>
          <a:noFill/>
        </p:spPr>
        <p:txBody>
          <a:bodyPr wrap="square">
            <a:spAutoFit/>
          </a:bodyPr>
          <a:lstStyle/>
          <a:p>
            <a:pPr algn="r"/>
            <a:r>
              <a:rPr sz="1100" b="1" i="0">
                <a:solidFill>
                  <a:srgbClr val="1B5026"/>
                </a:solidFill>
                <a:latin typeface="Times New Roman"/>
              </a:rPr>
              <a:t>+0.443</a:t>
            </a:r>
          </a:p>
        </p:txBody>
      </p:sp>
      <p:sp>
        <p:nvSpPr>
          <p:cNvPr id="13" name="Rectangle 12"/>
          <p:cNvSpPr/>
          <p:nvPr/>
        </p:nvSpPr>
        <p:spPr>
          <a:xfrm>
            <a:off x="6995160" y="2167128"/>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60" y="2212848"/>
            <a:ext cx="411480" cy="365760"/>
          </a:xfrm>
          <a:prstGeom prst="rect">
            <a:avLst/>
          </a:prstGeom>
          <a:noFill/>
        </p:spPr>
        <p:txBody>
          <a:bodyPr wrap="square">
            <a:spAutoFit/>
          </a:bodyPr>
          <a:lstStyle/>
          <a:p>
            <a:pPr algn="ctr"/>
            <a:r>
              <a:rPr sz="1200" b="1" i="0">
                <a:solidFill>
                  <a:srgbClr val="FFFFFF"/>
                </a:solidFill>
                <a:latin typeface="Times New Roman"/>
              </a:rPr>
              <a:t>2</a:t>
            </a:r>
          </a:p>
        </p:txBody>
      </p:sp>
      <p:sp>
        <p:nvSpPr>
          <p:cNvPr id="15" name="TextBox 14"/>
          <p:cNvSpPr txBox="1"/>
          <p:nvPr/>
        </p:nvSpPr>
        <p:spPr>
          <a:xfrm>
            <a:off x="7479792" y="2212848"/>
            <a:ext cx="2468880" cy="411480"/>
          </a:xfrm>
          <a:prstGeom prst="rect">
            <a:avLst/>
          </a:prstGeom>
          <a:noFill/>
        </p:spPr>
        <p:txBody>
          <a:bodyPr wrap="square">
            <a:spAutoFit/>
          </a:bodyPr>
          <a:lstStyle/>
          <a:p>
            <a:pPr algn="l"/>
            <a:r>
              <a:rPr sz="1100" b="0" i="0">
                <a:solidFill>
                  <a:srgbClr val="1A1A2E"/>
                </a:solidFill>
                <a:latin typeface="Times New Roman"/>
              </a:rPr>
              <a:t>Temperature</a:t>
            </a:r>
          </a:p>
        </p:txBody>
      </p:sp>
      <p:sp>
        <p:nvSpPr>
          <p:cNvPr id="16" name="TextBox 15"/>
          <p:cNvSpPr txBox="1"/>
          <p:nvPr/>
        </p:nvSpPr>
        <p:spPr>
          <a:xfrm>
            <a:off x="10058400" y="2212848"/>
            <a:ext cx="731520" cy="411480"/>
          </a:xfrm>
          <a:prstGeom prst="rect">
            <a:avLst/>
          </a:prstGeom>
          <a:noFill/>
        </p:spPr>
        <p:txBody>
          <a:bodyPr wrap="square">
            <a:spAutoFit/>
          </a:bodyPr>
          <a:lstStyle/>
          <a:p>
            <a:pPr algn="r"/>
            <a:r>
              <a:rPr sz="1100" b="1" i="0">
                <a:solidFill>
                  <a:srgbClr val="C02020"/>
                </a:solidFill>
                <a:latin typeface="Times New Roman"/>
              </a:rPr>
              <a:t>-0.024</a:t>
            </a:r>
          </a:p>
        </p:txBody>
      </p:sp>
      <p:sp>
        <p:nvSpPr>
          <p:cNvPr id="17" name="Rectangle 16"/>
          <p:cNvSpPr/>
          <p:nvPr/>
        </p:nvSpPr>
        <p:spPr>
          <a:xfrm>
            <a:off x="6995160" y="2734056"/>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5160" y="2779776"/>
            <a:ext cx="411480" cy="365760"/>
          </a:xfrm>
          <a:prstGeom prst="rect">
            <a:avLst/>
          </a:prstGeom>
          <a:noFill/>
        </p:spPr>
        <p:txBody>
          <a:bodyPr wrap="square">
            <a:spAutoFit/>
          </a:bodyPr>
          <a:lstStyle/>
          <a:p>
            <a:pPr algn="ctr"/>
            <a:r>
              <a:rPr sz="1200" b="1" i="0">
                <a:solidFill>
                  <a:srgbClr val="FFFFFF"/>
                </a:solidFill>
                <a:latin typeface="Times New Roman"/>
              </a:rPr>
              <a:t>3</a:t>
            </a:r>
          </a:p>
        </p:txBody>
      </p:sp>
      <p:sp>
        <p:nvSpPr>
          <p:cNvPr id="19" name="TextBox 18"/>
          <p:cNvSpPr txBox="1"/>
          <p:nvPr/>
        </p:nvSpPr>
        <p:spPr>
          <a:xfrm>
            <a:off x="7479792" y="2779776"/>
            <a:ext cx="2468880" cy="411480"/>
          </a:xfrm>
          <a:prstGeom prst="rect">
            <a:avLst/>
          </a:prstGeom>
          <a:noFill/>
        </p:spPr>
        <p:txBody>
          <a:bodyPr wrap="square">
            <a:spAutoFit/>
          </a:bodyPr>
          <a:lstStyle/>
          <a:p>
            <a:pPr algn="l"/>
            <a:r>
              <a:rPr sz="1100" b="0" i="0">
                <a:solidFill>
                  <a:srgbClr val="1A1A2E"/>
                </a:solidFill>
                <a:latin typeface="Times New Roman"/>
              </a:rPr>
              <a:t>Wind Speed &gt; 0.81</a:t>
            </a:r>
          </a:p>
        </p:txBody>
      </p:sp>
      <p:sp>
        <p:nvSpPr>
          <p:cNvPr id="20" name="TextBox 19"/>
          <p:cNvSpPr txBox="1"/>
          <p:nvPr/>
        </p:nvSpPr>
        <p:spPr>
          <a:xfrm>
            <a:off x="10058400" y="2779776"/>
            <a:ext cx="731520" cy="411480"/>
          </a:xfrm>
          <a:prstGeom prst="rect">
            <a:avLst/>
          </a:prstGeom>
          <a:noFill/>
        </p:spPr>
        <p:txBody>
          <a:bodyPr wrap="square">
            <a:spAutoFit/>
          </a:bodyPr>
          <a:lstStyle/>
          <a:p>
            <a:pPr algn="r"/>
            <a:r>
              <a:rPr sz="1100" b="1" i="0">
                <a:solidFill>
                  <a:srgbClr val="1B5026"/>
                </a:solidFill>
                <a:latin typeface="Times New Roman"/>
              </a:rPr>
              <a:t>+0.016</a:t>
            </a:r>
          </a:p>
        </p:txBody>
      </p:sp>
      <p:sp>
        <p:nvSpPr>
          <p:cNvPr id="21" name="Rectangle 20"/>
          <p:cNvSpPr/>
          <p:nvPr/>
        </p:nvSpPr>
        <p:spPr>
          <a:xfrm>
            <a:off x="6995160" y="3300984"/>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3346703"/>
            <a:ext cx="411480" cy="365760"/>
          </a:xfrm>
          <a:prstGeom prst="rect">
            <a:avLst/>
          </a:prstGeom>
          <a:noFill/>
        </p:spPr>
        <p:txBody>
          <a:bodyPr wrap="square">
            <a:spAutoFit/>
          </a:bodyPr>
          <a:lstStyle/>
          <a:p>
            <a:pPr algn="ctr"/>
            <a:r>
              <a:rPr sz="1200" b="1" i="0">
                <a:solidFill>
                  <a:srgbClr val="FFFFFF"/>
                </a:solidFill>
                <a:latin typeface="Times New Roman"/>
              </a:rPr>
              <a:t>4</a:t>
            </a:r>
          </a:p>
        </p:txBody>
      </p:sp>
      <p:sp>
        <p:nvSpPr>
          <p:cNvPr id="23" name="TextBox 22"/>
          <p:cNvSpPr txBox="1"/>
          <p:nvPr/>
        </p:nvSpPr>
        <p:spPr>
          <a:xfrm>
            <a:off x="7479792" y="3346703"/>
            <a:ext cx="2468880" cy="411480"/>
          </a:xfrm>
          <a:prstGeom prst="rect">
            <a:avLst/>
          </a:prstGeom>
          <a:noFill/>
        </p:spPr>
        <p:txBody>
          <a:bodyPr wrap="square">
            <a:spAutoFit/>
          </a:bodyPr>
          <a:lstStyle/>
          <a:p>
            <a:pPr algn="l"/>
            <a:r>
              <a:rPr sz="1100" b="0" i="0">
                <a:solidFill>
                  <a:srgbClr val="1A1A2E"/>
                </a:solidFill>
                <a:latin typeface="Times New Roman"/>
              </a:rPr>
              <a:t>Irrigation Type</a:t>
            </a:r>
          </a:p>
        </p:txBody>
      </p:sp>
      <p:sp>
        <p:nvSpPr>
          <p:cNvPr id="24" name="TextBox 23"/>
          <p:cNvSpPr txBox="1"/>
          <p:nvPr/>
        </p:nvSpPr>
        <p:spPr>
          <a:xfrm>
            <a:off x="10058400" y="3346703"/>
            <a:ext cx="731520" cy="411480"/>
          </a:xfrm>
          <a:prstGeom prst="rect">
            <a:avLst/>
          </a:prstGeom>
          <a:noFill/>
        </p:spPr>
        <p:txBody>
          <a:bodyPr wrap="square">
            <a:spAutoFit/>
          </a:bodyPr>
          <a:lstStyle/>
          <a:p>
            <a:pPr algn="r"/>
            <a:r>
              <a:rPr sz="1100" b="1" i="0">
                <a:solidFill>
                  <a:srgbClr val="1B5026"/>
                </a:solidFill>
                <a:latin typeface="Times New Roman"/>
              </a:rPr>
              <a:t>+0.015</a:t>
            </a:r>
          </a:p>
        </p:txBody>
      </p:sp>
      <p:sp>
        <p:nvSpPr>
          <p:cNvPr id="25" name="Rectangle 24"/>
          <p:cNvSpPr/>
          <p:nvPr/>
        </p:nvSpPr>
        <p:spPr>
          <a:xfrm>
            <a:off x="6995160" y="3867912"/>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95160" y="3913632"/>
            <a:ext cx="411480" cy="365760"/>
          </a:xfrm>
          <a:prstGeom prst="rect">
            <a:avLst/>
          </a:prstGeom>
          <a:noFill/>
        </p:spPr>
        <p:txBody>
          <a:bodyPr wrap="square">
            <a:spAutoFit/>
          </a:bodyPr>
          <a:lstStyle/>
          <a:p>
            <a:pPr algn="ctr"/>
            <a:r>
              <a:rPr sz="1200" b="1" i="0">
                <a:solidFill>
                  <a:srgbClr val="FFFFFF"/>
                </a:solidFill>
                <a:latin typeface="Times New Roman"/>
              </a:rPr>
              <a:t>5</a:t>
            </a:r>
          </a:p>
        </p:txBody>
      </p:sp>
      <p:sp>
        <p:nvSpPr>
          <p:cNvPr id="27" name="TextBox 26"/>
          <p:cNvSpPr txBox="1"/>
          <p:nvPr/>
        </p:nvSpPr>
        <p:spPr>
          <a:xfrm>
            <a:off x="7479792" y="3913632"/>
            <a:ext cx="2468880" cy="411480"/>
          </a:xfrm>
          <a:prstGeom prst="rect">
            <a:avLst/>
          </a:prstGeom>
          <a:noFill/>
        </p:spPr>
        <p:txBody>
          <a:bodyPr wrap="square">
            <a:spAutoFit/>
          </a:bodyPr>
          <a:lstStyle/>
          <a:p>
            <a:pPr algn="l"/>
            <a:r>
              <a:rPr sz="1100" b="0" i="0">
                <a:solidFill>
                  <a:srgbClr val="1A1A2E"/>
                </a:solidFill>
                <a:latin typeface="Times New Roman"/>
              </a:rPr>
              <a:t>K (Potassium)</a:t>
            </a:r>
          </a:p>
        </p:txBody>
      </p:sp>
      <p:sp>
        <p:nvSpPr>
          <p:cNvPr id="28" name="TextBox 27"/>
          <p:cNvSpPr txBox="1"/>
          <p:nvPr/>
        </p:nvSpPr>
        <p:spPr>
          <a:xfrm>
            <a:off x="10058400" y="3913632"/>
            <a:ext cx="731520" cy="411480"/>
          </a:xfrm>
          <a:prstGeom prst="rect">
            <a:avLst/>
          </a:prstGeom>
          <a:noFill/>
        </p:spPr>
        <p:txBody>
          <a:bodyPr wrap="square">
            <a:spAutoFit/>
          </a:bodyPr>
          <a:lstStyle/>
          <a:p>
            <a:pPr algn="r"/>
            <a:r>
              <a:rPr sz="1100" b="1" i="0">
                <a:solidFill>
                  <a:srgbClr val="1B5026"/>
                </a:solidFill>
                <a:latin typeface="Times New Roman"/>
              </a:rPr>
              <a:t>+0.010</a:t>
            </a:r>
          </a:p>
        </p:txBody>
      </p:sp>
      <p:sp>
        <p:nvSpPr>
          <p:cNvPr id="29" name="Rectangle 28"/>
          <p:cNvSpPr/>
          <p:nvPr/>
        </p:nvSpPr>
        <p:spPr>
          <a:xfrm>
            <a:off x="6995160" y="4434840"/>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95160" y="4480559"/>
            <a:ext cx="411480" cy="365760"/>
          </a:xfrm>
          <a:prstGeom prst="rect">
            <a:avLst/>
          </a:prstGeom>
          <a:noFill/>
        </p:spPr>
        <p:txBody>
          <a:bodyPr wrap="square">
            <a:spAutoFit/>
          </a:bodyPr>
          <a:lstStyle/>
          <a:p>
            <a:pPr algn="ctr"/>
            <a:r>
              <a:rPr sz="1200" b="1" i="0">
                <a:solidFill>
                  <a:srgbClr val="FFFFFF"/>
                </a:solidFill>
                <a:latin typeface="Times New Roman"/>
              </a:rPr>
              <a:t>6</a:t>
            </a:r>
          </a:p>
        </p:txBody>
      </p:sp>
      <p:sp>
        <p:nvSpPr>
          <p:cNvPr id="31" name="TextBox 30"/>
          <p:cNvSpPr txBox="1"/>
          <p:nvPr/>
        </p:nvSpPr>
        <p:spPr>
          <a:xfrm>
            <a:off x="7479792" y="4480559"/>
            <a:ext cx="2468880" cy="411480"/>
          </a:xfrm>
          <a:prstGeom prst="rect">
            <a:avLst/>
          </a:prstGeom>
          <a:noFill/>
        </p:spPr>
        <p:txBody>
          <a:bodyPr wrap="square">
            <a:spAutoFit/>
          </a:bodyPr>
          <a:lstStyle/>
          <a:p>
            <a:pPr algn="l"/>
            <a:r>
              <a:rPr sz="1100" b="0" i="0">
                <a:solidFill>
                  <a:srgbClr val="1A1A2E"/>
                </a:solidFill>
                <a:latin typeface="Times New Roman"/>
              </a:rPr>
              <a:t>P (Phosphorus)</a:t>
            </a:r>
          </a:p>
        </p:txBody>
      </p:sp>
      <p:sp>
        <p:nvSpPr>
          <p:cNvPr id="32" name="TextBox 31"/>
          <p:cNvSpPr txBox="1"/>
          <p:nvPr/>
        </p:nvSpPr>
        <p:spPr>
          <a:xfrm>
            <a:off x="10058400" y="4480559"/>
            <a:ext cx="731520" cy="411480"/>
          </a:xfrm>
          <a:prstGeom prst="rect">
            <a:avLst/>
          </a:prstGeom>
          <a:noFill/>
        </p:spPr>
        <p:txBody>
          <a:bodyPr wrap="square">
            <a:spAutoFit/>
          </a:bodyPr>
          <a:lstStyle/>
          <a:p>
            <a:pPr algn="r"/>
            <a:r>
              <a:rPr sz="1100" b="1" i="0">
                <a:solidFill>
                  <a:srgbClr val="C02020"/>
                </a:solidFill>
                <a:latin typeface="Times New Roman"/>
              </a:rPr>
              <a:t>-0.008</a:t>
            </a:r>
          </a:p>
        </p:txBody>
      </p:sp>
      <p:sp>
        <p:nvSpPr>
          <p:cNvPr id="33" name="Rectangle 32"/>
          <p:cNvSpPr/>
          <p:nvPr/>
        </p:nvSpPr>
        <p:spPr>
          <a:xfrm>
            <a:off x="6995160" y="5001768"/>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5047488"/>
            <a:ext cx="411480" cy="365760"/>
          </a:xfrm>
          <a:prstGeom prst="rect">
            <a:avLst/>
          </a:prstGeom>
          <a:noFill/>
        </p:spPr>
        <p:txBody>
          <a:bodyPr wrap="square">
            <a:spAutoFit/>
          </a:bodyPr>
          <a:lstStyle/>
          <a:p>
            <a:pPr algn="ctr"/>
            <a:r>
              <a:rPr sz="1200" b="1" i="0">
                <a:solidFill>
                  <a:srgbClr val="FFFFFF"/>
                </a:solidFill>
                <a:latin typeface="Times New Roman"/>
              </a:rPr>
              <a:t>7</a:t>
            </a:r>
          </a:p>
        </p:txBody>
      </p:sp>
      <p:sp>
        <p:nvSpPr>
          <p:cNvPr id="35" name="TextBox 34"/>
          <p:cNvSpPr txBox="1"/>
          <p:nvPr/>
        </p:nvSpPr>
        <p:spPr>
          <a:xfrm>
            <a:off x="7479792" y="5047488"/>
            <a:ext cx="2468880" cy="411480"/>
          </a:xfrm>
          <a:prstGeom prst="rect">
            <a:avLst/>
          </a:prstGeom>
          <a:noFill/>
        </p:spPr>
        <p:txBody>
          <a:bodyPr wrap="square">
            <a:spAutoFit/>
          </a:bodyPr>
          <a:lstStyle/>
          <a:p>
            <a:pPr algn="l"/>
            <a:r>
              <a:rPr sz="1100" b="0" i="0">
                <a:solidFill>
                  <a:srgbClr val="1A1A2E"/>
                </a:solidFill>
                <a:latin typeface="Times New Roman"/>
              </a:rPr>
              <a:t>Soil Moisture</a:t>
            </a:r>
          </a:p>
        </p:txBody>
      </p:sp>
      <p:sp>
        <p:nvSpPr>
          <p:cNvPr id="36" name="TextBox 35"/>
          <p:cNvSpPr txBox="1"/>
          <p:nvPr/>
        </p:nvSpPr>
        <p:spPr>
          <a:xfrm>
            <a:off x="10058400" y="5047488"/>
            <a:ext cx="731520" cy="411480"/>
          </a:xfrm>
          <a:prstGeom prst="rect">
            <a:avLst/>
          </a:prstGeom>
          <a:noFill/>
        </p:spPr>
        <p:txBody>
          <a:bodyPr wrap="square">
            <a:spAutoFit/>
          </a:bodyPr>
          <a:lstStyle/>
          <a:p>
            <a:pPr algn="r"/>
            <a:r>
              <a:rPr sz="1100" b="1" i="0">
                <a:solidFill>
                  <a:srgbClr val="1B5026"/>
                </a:solidFill>
                <a:latin typeface="Times New Roman"/>
              </a:rPr>
              <a:t>+0.008</a:t>
            </a:r>
          </a:p>
        </p:txBody>
      </p:sp>
      <p:sp>
        <p:nvSpPr>
          <p:cNvPr id="37" name="Rectangle 36"/>
          <p:cNvSpPr/>
          <p:nvPr/>
        </p:nvSpPr>
        <p:spPr>
          <a:xfrm>
            <a:off x="6995160" y="5568696"/>
            <a:ext cx="41148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995160" y="5614416"/>
            <a:ext cx="411480" cy="365760"/>
          </a:xfrm>
          <a:prstGeom prst="rect">
            <a:avLst/>
          </a:prstGeom>
          <a:noFill/>
        </p:spPr>
        <p:txBody>
          <a:bodyPr wrap="square">
            <a:spAutoFit/>
          </a:bodyPr>
          <a:lstStyle/>
          <a:p>
            <a:pPr algn="ctr"/>
            <a:r>
              <a:rPr sz="1200" b="1" i="0">
                <a:solidFill>
                  <a:srgbClr val="FFFFFF"/>
                </a:solidFill>
                <a:latin typeface="Times New Roman"/>
              </a:rPr>
              <a:t>8</a:t>
            </a:r>
          </a:p>
        </p:txBody>
      </p:sp>
      <p:sp>
        <p:nvSpPr>
          <p:cNvPr id="39" name="TextBox 38"/>
          <p:cNvSpPr txBox="1"/>
          <p:nvPr/>
        </p:nvSpPr>
        <p:spPr>
          <a:xfrm>
            <a:off x="7479792" y="5614416"/>
            <a:ext cx="2468880" cy="411480"/>
          </a:xfrm>
          <a:prstGeom prst="rect">
            <a:avLst/>
          </a:prstGeom>
          <a:noFill/>
        </p:spPr>
        <p:txBody>
          <a:bodyPr wrap="square">
            <a:spAutoFit/>
          </a:bodyPr>
          <a:lstStyle/>
          <a:p>
            <a:pPr algn="l"/>
            <a:r>
              <a:rPr sz="1100" b="0" i="0">
                <a:solidFill>
                  <a:srgbClr val="1A1A2E"/>
                </a:solidFill>
                <a:latin typeface="Times New Roman"/>
              </a:rPr>
              <a:t>pH</a:t>
            </a:r>
          </a:p>
        </p:txBody>
      </p:sp>
      <p:sp>
        <p:nvSpPr>
          <p:cNvPr id="40" name="TextBox 39"/>
          <p:cNvSpPr txBox="1"/>
          <p:nvPr/>
        </p:nvSpPr>
        <p:spPr>
          <a:xfrm>
            <a:off x="10058400" y="5614416"/>
            <a:ext cx="731520" cy="411480"/>
          </a:xfrm>
          <a:prstGeom prst="rect">
            <a:avLst/>
          </a:prstGeom>
          <a:noFill/>
        </p:spPr>
        <p:txBody>
          <a:bodyPr wrap="square">
            <a:spAutoFit/>
          </a:bodyPr>
          <a:lstStyle/>
          <a:p>
            <a:pPr algn="r"/>
            <a:r>
              <a:rPr sz="1100" b="1" i="0">
                <a:solidFill>
                  <a:srgbClr val="C02020"/>
                </a:solidFill>
                <a:latin typeface="Times New Roman"/>
              </a:rPr>
              <a:t>-0.008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Evaluation Metrics &amp; Mathematical Framework</a:t>
            </a:r>
          </a:p>
        </p:txBody>
      </p:sp>
      <p:sp>
        <p:nvSpPr>
          <p:cNvPr id="5" name="Rectangle 4"/>
          <p:cNvSpPr/>
          <p:nvPr/>
        </p:nvSpPr>
        <p:spPr>
          <a:xfrm>
            <a:off x="274320" y="1097280"/>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207007"/>
            <a:ext cx="2103120" cy="457200"/>
          </a:xfrm>
          <a:prstGeom prst="rect">
            <a:avLst/>
          </a:prstGeom>
          <a:noFill/>
        </p:spPr>
        <p:txBody>
          <a:bodyPr wrap="square">
            <a:spAutoFit/>
          </a:bodyPr>
          <a:lstStyle/>
          <a:p>
            <a:pPr algn="ctr"/>
            <a:r>
              <a:rPr sz="1200" b="1" i="0">
                <a:solidFill>
                  <a:srgbClr val="FFFFFF"/>
                </a:solidFill>
                <a:latin typeface="Times New Roman"/>
              </a:rPr>
              <a:t>Accuracy</a:t>
            </a:r>
          </a:p>
        </p:txBody>
      </p:sp>
      <p:sp>
        <p:nvSpPr>
          <p:cNvPr id="7" name="Rectangle 6"/>
          <p:cNvSpPr/>
          <p:nvPr/>
        </p:nvSpPr>
        <p:spPr>
          <a:xfrm>
            <a:off x="2606040" y="1097280"/>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97480" y="1188720"/>
            <a:ext cx="4846320" cy="502920"/>
          </a:xfrm>
          <a:prstGeom prst="rect">
            <a:avLst/>
          </a:prstGeom>
          <a:noFill/>
        </p:spPr>
        <p:txBody>
          <a:bodyPr wrap="square">
            <a:spAutoFit/>
          </a:bodyPr>
          <a:lstStyle/>
          <a:p>
            <a:pPr algn="l"/>
            <a:r>
              <a:rPr sz="1100" b="0" i="1">
                <a:solidFill>
                  <a:srgbClr val="277A3A"/>
                </a:solidFill>
                <a:latin typeface="Times New Roman"/>
              </a:rPr>
              <a:t>Correct predictions / Total samples</a:t>
            </a:r>
          </a:p>
        </p:txBody>
      </p:sp>
      <p:sp>
        <p:nvSpPr>
          <p:cNvPr id="9" name="Rectangle 8"/>
          <p:cNvSpPr/>
          <p:nvPr/>
        </p:nvSpPr>
        <p:spPr>
          <a:xfrm>
            <a:off x="7680960" y="1097280"/>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0" y="1188720"/>
            <a:ext cx="4114800" cy="502920"/>
          </a:xfrm>
          <a:prstGeom prst="rect">
            <a:avLst/>
          </a:prstGeom>
          <a:noFill/>
        </p:spPr>
        <p:txBody>
          <a:bodyPr wrap="square">
            <a:spAutoFit/>
          </a:bodyPr>
          <a:lstStyle/>
          <a:p>
            <a:pPr algn="l"/>
            <a:r>
              <a:rPr sz="1100" b="0" i="0">
                <a:solidFill>
                  <a:srgbClr val="1A1A2E"/>
                </a:solidFill>
                <a:latin typeface="Times New Roman"/>
              </a:rPr>
              <a:t>Simple performance ratio — primary metric</a:t>
            </a:r>
          </a:p>
        </p:txBody>
      </p:sp>
      <p:sp>
        <p:nvSpPr>
          <p:cNvPr id="11" name="Rectangle 10"/>
          <p:cNvSpPr/>
          <p:nvPr/>
        </p:nvSpPr>
        <p:spPr>
          <a:xfrm>
            <a:off x="274320" y="1865376"/>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975104"/>
            <a:ext cx="2103120" cy="457200"/>
          </a:xfrm>
          <a:prstGeom prst="rect">
            <a:avLst/>
          </a:prstGeom>
          <a:noFill/>
        </p:spPr>
        <p:txBody>
          <a:bodyPr wrap="square">
            <a:spAutoFit/>
          </a:bodyPr>
          <a:lstStyle/>
          <a:p>
            <a:pPr algn="ctr"/>
            <a:r>
              <a:rPr sz="1200" b="1" i="0">
                <a:solidFill>
                  <a:srgbClr val="FFFFFF"/>
                </a:solidFill>
                <a:latin typeface="Times New Roman"/>
              </a:rPr>
              <a:t>Precision</a:t>
            </a:r>
          </a:p>
        </p:txBody>
      </p:sp>
      <p:sp>
        <p:nvSpPr>
          <p:cNvPr id="13" name="Rectangle 12"/>
          <p:cNvSpPr/>
          <p:nvPr/>
        </p:nvSpPr>
        <p:spPr>
          <a:xfrm>
            <a:off x="2606040" y="1865376"/>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97480" y="1956816"/>
            <a:ext cx="4846320" cy="502920"/>
          </a:xfrm>
          <a:prstGeom prst="rect">
            <a:avLst/>
          </a:prstGeom>
          <a:noFill/>
        </p:spPr>
        <p:txBody>
          <a:bodyPr wrap="square">
            <a:spAutoFit/>
          </a:bodyPr>
          <a:lstStyle/>
          <a:p>
            <a:pPr algn="l"/>
            <a:r>
              <a:rPr sz="1100" b="0" i="1">
                <a:solidFill>
                  <a:srgbClr val="277A3A"/>
                </a:solidFill>
                <a:latin typeface="Times New Roman"/>
              </a:rPr>
              <a:t>TP / (TP + FP)</a:t>
            </a:r>
          </a:p>
        </p:txBody>
      </p:sp>
      <p:sp>
        <p:nvSpPr>
          <p:cNvPr id="15" name="Rectangle 14"/>
          <p:cNvSpPr/>
          <p:nvPr/>
        </p:nvSpPr>
        <p:spPr>
          <a:xfrm>
            <a:off x="7680960" y="1865376"/>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0" y="1956816"/>
            <a:ext cx="4114800" cy="502920"/>
          </a:xfrm>
          <a:prstGeom prst="rect">
            <a:avLst/>
          </a:prstGeom>
          <a:noFill/>
        </p:spPr>
        <p:txBody>
          <a:bodyPr wrap="square">
            <a:spAutoFit/>
          </a:bodyPr>
          <a:lstStyle/>
          <a:p>
            <a:pPr algn="l"/>
            <a:r>
              <a:rPr sz="1100" b="0" i="0">
                <a:solidFill>
                  <a:srgbClr val="1A1A2E"/>
                </a:solidFill>
                <a:latin typeface="Times New Roman"/>
              </a:rPr>
              <a:t>Avoids false positives — important for rare crops</a:t>
            </a:r>
          </a:p>
        </p:txBody>
      </p:sp>
      <p:sp>
        <p:nvSpPr>
          <p:cNvPr id="17" name="Rectangle 16"/>
          <p:cNvSpPr/>
          <p:nvPr/>
        </p:nvSpPr>
        <p:spPr>
          <a:xfrm>
            <a:off x="274320" y="2633472"/>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743200"/>
            <a:ext cx="2103120" cy="457200"/>
          </a:xfrm>
          <a:prstGeom prst="rect">
            <a:avLst/>
          </a:prstGeom>
          <a:noFill/>
        </p:spPr>
        <p:txBody>
          <a:bodyPr wrap="square">
            <a:spAutoFit/>
          </a:bodyPr>
          <a:lstStyle/>
          <a:p>
            <a:pPr algn="ctr"/>
            <a:r>
              <a:rPr sz="1200" b="1" i="0">
                <a:solidFill>
                  <a:srgbClr val="FFFFFF"/>
                </a:solidFill>
                <a:latin typeface="Times New Roman"/>
              </a:rPr>
              <a:t>Recall</a:t>
            </a:r>
          </a:p>
        </p:txBody>
      </p:sp>
      <p:sp>
        <p:nvSpPr>
          <p:cNvPr id="19" name="Rectangle 18"/>
          <p:cNvSpPr/>
          <p:nvPr/>
        </p:nvSpPr>
        <p:spPr>
          <a:xfrm>
            <a:off x="2606040" y="2633472"/>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97480" y="2724912"/>
            <a:ext cx="4846320" cy="502920"/>
          </a:xfrm>
          <a:prstGeom prst="rect">
            <a:avLst/>
          </a:prstGeom>
          <a:noFill/>
        </p:spPr>
        <p:txBody>
          <a:bodyPr wrap="square">
            <a:spAutoFit/>
          </a:bodyPr>
          <a:lstStyle/>
          <a:p>
            <a:pPr algn="l"/>
            <a:r>
              <a:rPr sz="1100" b="0" i="1">
                <a:solidFill>
                  <a:srgbClr val="277A3A"/>
                </a:solidFill>
                <a:latin typeface="Times New Roman"/>
              </a:rPr>
              <a:t>TP / (TP + FN)</a:t>
            </a:r>
          </a:p>
        </p:txBody>
      </p:sp>
      <p:sp>
        <p:nvSpPr>
          <p:cNvPr id="21" name="Rectangle 20"/>
          <p:cNvSpPr/>
          <p:nvPr/>
        </p:nvSpPr>
        <p:spPr>
          <a:xfrm>
            <a:off x="7680960" y="2633472"/>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0" y="2724912"/>
            <a:ext cx="4114800" cy="502920"/>
          </a:xfrm>
          <a:prstGeom prst="rect">
            <a:avLst/>
          </a:prstGeom>
          <a:noFill/>
        </p:spPr>
        <p:txBody>
          <a:bodyPr wrap="square">
            <a:spAutoFit/>
          </a:bodyPr>
          <a:lstStyle/>
          <a:p>
            <a:pPr algn="l"/>
            <a:r>
              <a:rPr sz="1100" b="0" i="0">
                <a:solidFill>
                  <a:srgbClr val="1A1A2E"/>
                </a:solidFill>
                <a:latin typeface="Times New Roman"/>
              </a:rPr>
              <a:t>Avoids false negatives — critical for food security</a:t>
            </a:r>
          </a:p>
        </p:txBody>
      </p:sp>
      <p:sp>
        <p:nvSpPr>
          <p:cNvPr id="23" name="Rectangle 22"/>
          <p:cNvSpPr/>
          <p:nvPr/>
        </p:nvSpPr>
        <p:spPr>
          <a:xfrm>
            <a:off x="274320" y="3401568"/>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3511296"/>
            <a:ext cx="2103120" cy="457200"/>
          </a:xfrm>
          <a:prstGeom prst="rect">
            <a:avLst/>
          </a:prstGeom>
          <a:noFill/>
        </p:spPr>
        <p:txBody>
          <a:bodyPr wrap="square">
            <a:spAutoFit/>
          </a:bodyPr>
          <a:lstStyle/>
          <a:p>
            <a:pPr algn="ctr"/>
            <a:r>
              <a:rPr sz="1200" b="1" i="0">
                <a:solidFill>
                  <a:srgbClr val="FFFFFF"/>
                </a:solidFill>
                <a:latin typeface="Times New Roman"/>
              </a:rPr>
              <a:t>F1-Score (Weighted)</a:t>
            </a:r>
          </a:p>
        </p:txBody>
      </p:sp>
      <p:sp>
        <p:nvSpPr>
          <p:cNvPr id="25" name="Rectangle 24"/>
          <p:cNvSpPr/>
          <p:nvPr/>
        </p:nvSpPr>
        <p:spPr>
          <a:xfrm>
            <a:off x="2606040" y="3401568"/>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97480" y="3493008"/>
            <a:ext cx="4846320" cy="502920"/>
          </a:xfrm>
          <a:prstGeom prst="rect">
            <a:avLst/>
          </a:prstGeom>
          <a:noFill/>
        </p:spPr>
        <p:txBody>
          <a:bodyPr wrap="square">
            <a:spAutoFit/>
          </a:bodyPr>
          <a:lstStyle/>
          <a:p>
            <a:pPr algn="l"/>
            <a:r>
              <a:rPr sz="1100" b="0" i="1">
                <a:solidFill>
                  <a:srgbClr val="277A3A"/>
                </a:solidFill>
                <a:latin typeface="Times New Roman"/>
              </a:rPr>
              <a:t>2 × (Precision × Recall) / (P + R)</a:t>
            </a:r>
          </a:p>
        </p:txBody>
      </p:sp>
      <p:sp>
        <p:nvSpPr>
          <p:cNvPr id="27" name="Rectangle 26"/>
          <p:cNvSpPr/>
          <p:nvPr/>
        </p:nvSpPr>
        <p:spPr>
          <a:xfrm>
            <a:off x="7680960" y="3401568"/>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0" y="3493008"/>
            <a:ext cx="4114800" cy="502920"/>
          </a:xfrm>
          <a:prstGeom prst="rect">
            <a:avLst/>
          </a:prstGeom>
          <a:noFill/>
        </p:spPr>
        <p:txBody>
          <a:bodyPr wrap="square">
            <a:spAutoFit/>
          </a:bodyPr>
          <a:lstStyle/>
          <a:p>
            <a:pPr algn="l"/>
            <a:r>
              <a:rPr sz="1100" b="0" i="0">
                <a:solidFill>
                  <a:srgbClr val="1A1A2E"/>
                </a:solidFill>
                <a:latin typeface="Times New Roman"/>
              </a:rPr>
              <a:t>Harmonic mean — handles class imbalance</a:t>
            </a:r>
          </a:p>
        </p:txBody>
      </p:sp>
      <p:sp>
        <p:nvSpPr>
          <p:cNvPr id="29" name="Rectangle 28"/>
          <p:cNvSpPr/>
          <p:nvPr/>
        </p:nvSpPr>
        <p:spPr>
          <a:xfrm>
            <a:off x="274320" y="4169663"/>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279392"/>
            <a:ext cx="2103120" cy="457200"/>
          </a:xfrm>
          <a:prstGeom prst="rect">
            <a:avLst/>
          </a:prstGeom>
          <a:noFill/>
        </p:spPr>
        <p:txBody>
          <a:bodyPr wrap="square">
            <a:spAutoFit/>
          </a:bodyPr>
          <a:lstStyle/>
          <a:p>
            <a:pPr algn="ctr"/>
            <a:r>
              <a:rPr sz="1200" b="1" i="0">
                <a:solidFill>
                  <a:srgbClr val="FFFFFF"/>
                </a:solidFill>
                <a:latin typeface="Times New Roman"/>
              </a:rPr>
              <a:t>MCC</a:t>
            </a:r>
          </a:p>
        </p:txBody>
      </p:sp>
      <p:sp>
        <p:nvSpPr>
          <p:cNvPr id="31" name="Rectangle 30"/>
          <p:cNvSpPr/>
          <p:nvPr/>
        </p:nvSpPr>
        <p:spPr>
          <a:xfrm>
            <a:off x="2606040" y="4169663"/>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97480" y="4261103"/>
            <a:ext cx="4846320" cy="502920"/>
          </a:xfrm>
          <a:prstGeom prst="rect">
            <a:avLst/>
          </a:prstGeom>
          <a:noFill/>
        </p:spPr>
        <p:txBody>
          <a:bodyPr wrap="square">
            <a:spAutoFit/>
          </a:bodyPr>
          <a:lstStyle/>
          <a:p>
            <a:pPr algn="l"/>
            <a:r>
              <a:rPr sz="1100" b="0" i="1">
                <a:solidFill>
                  <a:srgbClr val="277A3A"/>
                </a:solidFill>
                <a:latin typeface="Times New Roman"/>
              </a:rPr>
              <a:t>(TP×TN − FP×FN) / √((TP+FP)(TP+FN)(TN+FP)(TN+FN))</a:t>
            </a:r>
          </a:p>
        </p:txBody>
      </p:sp>
      <p:sp>
        <p:nvSpPr>
          <p:cNvPr id="33" name="Rectangle 32"/>
          <p:cNvSpPr/>
          <p:nvPr/>
        </p:nvSpPr>
        <p:spPr>
          <a:xfrm>
            <a:off x="7680960" y="4169663"/>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72400" y="4261103"/>
            <a:ext cx="4114800" cy="502920"/>
          </a:xfrm>
          <a:prstGeom prst="rect">
            <a:avLst/>
          </a:prstGeom>
          <a:noFill/>
        </p:spPr>
        <p:txBody>
          <a:bodyPr wrap="square">
            <a:spAutoFit/>
          </a:bodyPr>
          <a:lstStyle/>
          <a:p>
            <a:pPr algn="l"/>
            <a:r>
              <a:rPr sz="1100" b="0" i="0">
                <a:solidFill>
                  <a:srgbClr val="1A1A2E"/>
                </a:solidFill>
                <a:latin typeface="Times New Roman"/>
              </a:rPr>
              <a:t>Best metric for imbalanced multi-class datasets</a:t>
            </a:r>
          </a:p>
        </p:txBody>
      </p:sp>
      <p:sp>
        <p:nvSpPr>
          <p:cNvPr id="35" name="Rectangle 34"/>
          <p:cNvSpPr/>
          <p:nvPr/>
        </p:nvSpPr>
        <p:spPr>
          <a:xfrm>
            <a:off x="274320" y="4937760"/>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5047488"/>
            <a:ext cx="2103120" cy="457200"/>
          </a:xfrm>
          <a:prstGeom prst="rect">
            <a:avLst/>
          </a:prstGeom>
          <a:noFill/>
        </p:spPr>
        <p:txBody>
          <a:bodyPr wrap="square">
            <a:spAutoFit/>
          </a:bodyPr>
          <a:lstStyle/>
          <a:p>
            <a:pPr algn="ctr"/>
            <a:r>
              <a:rPr sz="1200" b="1" i="0">
                <a:solidFill>
                  <a:srgbClr val="FFFFFF"/>
                </a:solidFill>
                <a:latin typeface="Times New Roman"/>
              </a:rPr>
              <a:t>ECE</a:t>
            </a:r>
          </a:p>
        </p:txBody>
      </p:sp>
      <p:sp>
        <p:nvSpPr>
          <p:cNvPr id="37" name="Rectangle 36"/>
          <p:cNvSpPr/>
          <p:nvPr/>
        </p:nvSpPr>
        <p:spPr>
          <a:xfrm>
            <a:off x="2606040" y="4937760"/>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697480" y="5029200"/>
            <a:ext cx="4846320" cy="502920"/>
          </a:xfrm>
          <a:prstGeom prst="rect">
            <a:avLst/>
          </a:prstGeom>
          <a:noFill/>
        </p:spPr>
        <p:txBody>
          <a:bodyPr wrap="square">
            <a:spAutoFit/>
          </a:bodyPr>
          <a:lstStyle/>
          <a:p>
            <a:pPr algn="l"/>
            <a:r>
              <a:rPr sz="1100" b="0" i="1">
                <a:solidFill>
                  <a:srgbClr val="277A3A"/>
                </a:solidFill>
                <a:latin typeface="Times New Roman"/>
              </a:rPr>
              <a:t>Σ |acc(Ib) − conf(Ib)| × |Ib|/n</a:t>
            </a:r>
          </a:p>
        </p:txBody>
      </p:sp>
      <p:sp>
        <p:nvSpPr>
          <p:cNvPr id="39" name="Rectangle 38"/>
          <p:cNvSpPr/>
          <p:nvPr/>
        </p:nvSpPr>
        <p:spPr>
          <a:xfrm>
            <a:off x="7680960" y="4937760"/>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0" y="5029200"/>
            <a:ext cx="4114800" cy="502920"/>
          </a:xfrm>
          <a:prstGeom prst="rect">
            <a:avLst/>
          </a:prstGeom>
          <a:noFill/>
        </p:spPr>
        <p:txBody>
          <a:bodyPr wrap="square">
            <a:spAutoFit/>
          </a:bodyPr>
          <a:lstStyle/>
          <a:p>
            <a:pPr algn="l"/>
            <a:r>
              <a:rPr sz="1100" b="0" i="0">
                <a:solidFill>
                  <a:srgbClr val="1A1A2E"/>
                </a:solidFill>
                <a:latin typeface="Times New Roman"/>
              </a:rPr>
              <a:t>Calibration quality — lower is better</a:t>
            </a:r>
          </a:p>
        </p:txBody>
      </p:sp>
      <p:sp>
        <p:nvSpPr>
          <p:cNvPr id="41" name="Rectangle 40"/>
          <p:cNvSpPr/>
          <p:nvPr/>
        </p:nvSpPr>
        <p:spPr>
          <a:xfrm>
            <a:off x="274320" y="5705856"/>
            <a:ext cx="2286000" cy="658368"/>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5815584"/>
            <a:ext cx="2103120" cy="457200"/>
          </a:xfrm>
          <a:prstGeom prst="rect">
            <a:avLst/>
          </a:prstGeom>
          <a:noFill/>
        </p:spPr>
        <p:txBody>
          <a:bodyPr wrap="square">
            <a:spAutoFit/>
          </a:bodyPr>
          <a:lstStyle/>
          <a:p>
            <a:pPr algn="ctr"/>
            <a:r>
              <a:rPr sz="1200" b="1" i="0">
                <a:solidFill>
                  <a:srgbClr val="FFFFFF"/>
                </a:solidFill>
                <a:latin typeface="Times New Roman"/>
              </a:rPr>
              <a:t>ROC-AUC</a:t>
            </a:r>
          </a:p>
        </p:txBody>
      </p:sp>
      <p:sp>
        <p:nvSpPr>
          <p:cNvPr id="43" name="Rectangle 42"/>
          <p:cNvSpPr/>
          <p:nvPr/>
        </p:nvSpPr>
        <p:spPr>
          <a:xfrm>
            <a:off x="2606040" y="5705856"/>
            <a:ext cx="50292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697480" y="5797296"/>
            <a:ext cx="4846320" cy="502920"/>
          </a:xfrm>
          <a:prstGeom prst="rect">
            <a:avLst/>
          </a:prstGeom>
          <a:noFill/>
        </p:spPr>
        <p:txBody>
          <a:bodyPr wrap="square">
            <a:spAutoFit/>
          </a:bodyPr>
          <a:lstStyle/>
          <a:p>
            <a:pPr algn="l"/>
            <a:r>
              <a:rPr sz="1100" b="0" i="1">
                <a:solidFill>
                  <a:srgbClr val="277A3A"/>
                </a:solidFill>
                <a:latin typeface="Times New Roman"/>
              </a:rPr>
              <a:t>Area under Receiver Operating Characteristic curve</a:t>
            </a:r>
          </a:p>
        </p:txBody>
      </p:sp>
      <p:sp>
        <p:nvSpPr>
          <p:cNvPr id="45" name="Rectangle 44"/>
          <p:cNvSpPr/>
          <p:nvPr/>
        </p:nvSpPr>
        <p:spPr>
          <a:xfrm>
            <a:off x="7680960" y="5705856"/>
            <a:ext cx="4297680" cy="658368"/>
          </a:xfrm>
          <a:prstGeom prst="rect">
            <a:avLst/>
          </a:prstGeom>
          <a:solidFill>
            <a:srgbClr val="D4E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0" y="5797296"/>
            <a:ext cx="4114800" cy="502920"/>
          </a:xfrm>
          <a:prstGeom prst="rect">
            <a:avLst/>
          </a:prstGeom>
          <a:noFill/>
        </p:spPr>
        <p:txBody>
          <a:bodyPr wrap="square">
            <a:spAutoFit/>
          </a:bodyPr>
          <a:lstStyle/>
          <a:p>
            <a:pPr algn="l"/>
            <a:r>
              <a:rPr sz="1100" b="0" i="0">
                <a:solidFill>
                  <a:srgbClr val="1A1A2E"/>
                </a:solidFill>
                <a:latin typeface="Times New Roman"/>
              </a:rPr>
              <a:t>Discrimination across all thresholds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Chapter 4 — System Design: Spiral Development Model</a:t>
            </a:r>
          </a:p>
        </p:txBody>
      </p:sp>
      <p:sp>
        <p:nvSpPr>
          <p:cNvPr id="5" name="TextBox 4"/>
          <p:cNvSpPr txBox="1"/>
          <p:nvPr/>
        </p:nvSpPr>
        <p:spPr>
          <a:xfrm>
            <a:off x="365760" y="1097280"/>
            <a:ext cx="11430000" cy="594360"/>
          </a:xfrm>
          <a:prstGeom prst="rect">
            <a:avLst/>
          </a:prstGeom>
          <a:noFill/>
        </p:spPr>
        <p:txBody>
          <a:bodyPr wrap="square">
            <a:spAutoFit/>
          </a:bodyPr>
          <a:lstStyle/>
          <a:p>
            <a:pPr algn="l"/>
            <a:r>
              <a:rPr sz="1300" b="0" i="1">
                <a:solidFill>
                  <a:srgbClr val="1A1A2E"/>
                </a:solidFill>
                <a:latin typeface="Times New Roman"/>
              </a:rPr>
              <a:t>The Spiral Model was chosen because ACRS is an iterative AI/ML research project requiring continuous risk analysis, model improvement, and evaluation cycles.</a:t>
            </a:r>
          </a:p>
        </p:txBody>
      </p:sp>
      <p:sp>
        <p:nvSpPr>
          <p:cNvPr id="6" name="Rectangle 5"/>
          <p:cNvSpPr/>
          <p:nvPr/>
        </p:nvSpPr>
        <p:spPr>
          <a:xfrm>
            <a:off x="274320" y="1828800"/>
            <a:ext cx="274320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828800"/>
            <a:ext cx="2743200" cy="6858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874519"/>
            <a:ext cx="2560320" cy="594360"/>
          </a:xfrm>
          <a:prstGeom prst="rect">
            <a:avLst/>
          </a:prstGeom>
          <a:noFill/>
        </p:spPr>
        <p:txBody>
          <a:bodyPr wrap="square">
            <a:spAutoFit/>
          </a:bodyPr>
          <a:lstStyle/>
          <a:p>
            <a:pPr algn="ctr"/>
            <a:r>
              <a:rPr sz="1200" b="1" i="0">
                <a:solidFill>
                  <a:srgbClr val="FFFFFF"/>
                </a:solidFill>
                <a:latin typeface="Times New Roman"/>
              </a:rPr>
              <a:t>Phase 1
Requirement Analysis</a:t>
            </a:r>
          </a:p>
        </p:txBody>
      </p:sp>
      <p:sp>
        <p:nvSpPr>
          <p:cNvPr id="9" name="TextBox 8"/>
          <p:cNvSpPr txBox="1"/>
          <p:nvPr/>
        </p:nvSpPr>
        <p:spPr>
          <a:xfrm>
            <a:off x="365760" y="2587752"/>
            <a:ext cx="2560320" cy="594360"/>
          </a:xfrm>
          <a:prstGeom prst="rect">
            <a:avLst/>
          </a:prstGeom>
          <a:noFill/>
        </p:spPr>
        <p:txBody>
          <a:bodyPr wrap="square">
            <a:spAutoFit/>
          </a:bodyPr>
          <a:lstStyle/>
          <a:p>
            <a:pPr algn="l"/>
            <a:r>
              <a:rPr sz="1100" b="0" i="0">
                <a:solidFill>
                  <a:srgbClr val="1A1A2E"/>
                </a:solidFill>
                <a:latin typeface="Times New Roman"/>
              </a:rPr>
              <a:t>  •  Identify objectives &amp; data requirements</a:t>
            </a:r>
          </a:p>
        </p:txBody>
      </p:sp>
      <p:sp>
        <p:nvSpPr>
          <p:cNvPr id="10" name="TextBox 9"/>
          <p:cNvSpPr txBox="1"/>
          <p:nvPr/>
        </p:nvSpPr>
        <p:spPr>
          <a:xfrm>
            <a:off x="365760" y="3236976"/>
            <a:ext cx="2560320" cy="594360"/>
          </a:xfrm>
          <a:prstGeom prst="rect">
            <a:avLst/>
          </a:prstGeom>
          <a:noFill/>
        </p:spPr>
        <p:txBody>
          <a:bodyPr wrap="square">
            <a:spAutoFit/>
          </a:bodyPr>
          <a:lstStyle/>
          <a:p>
            <a:pPr algn="l"/>
            <a:r>
              <a:rPr sz="1100" b="0" i="0">
                <a:solidFill>
                  <a:srgbClr val="1A1A2E"/>
                </a:solidFill>
                <a:latin typeface="Times New Roman"/>
              </a:rPr>
              <a:t>  •  Collect soil, climate, GPS &amp; market data</a:t>
            </a:r>
          </a:p>
        </p:txBody>
      </p:sp>
      <p:sp>
        <p:nvSpPr>
          <p:cNvPr id="11" name="TextBox 10"/>
          <p:cNvSpPr txBox="1"/>
          <p:nvPr/>
        </p:nvSpPr>
        <p:spPr>
          <a:xfrm>
            <a:off x="365760" y="3886200"/>
            <a:ext cx="2560320" cy="594360"/>
          </a:xfrm>
          <a:prstGeom prst="rect">
            <a:avLst/>
          </a:prstGeom>
          <a:noFill/>
        </p:spPr>
        <p:txBody>
          <a:bodyPr wrap="square">
            <a:spAutoFit/>
          </a:bodyPr>
          <a:lstStyle/>
          <a:p>
            <a:pPr algn="l"/>
            <a:r>
              <a:rPr sz="1100" b="0" i="0">
                <a:solidFill>
                  <a:srgbClr val="1A1A2E"/>
                </a:solidFill>
                <a:latin typeface="Times New Roman"/>
              </a:rPr>
              <a:t>  •  Define 12-feature prediction schema</a:t>
            </a:r>
          </a:p>
        </p:txBody>
      </p:sp>
      <p:sp>
        <p:nvSpPr>
          <p:cNvPr id="12" name="TextBox 11"/>
          <p:cNvSpPr txBox="1"/>
          <p:nvPr/>
        </p:nvSpPr>
        <p:spPr>
          <a:xfrm>
            <a:off x="365760" y="4535424"/>
            <a:ext cx="2560320" cy="594360"/>
          </a:xfrm>
          <a:prstGeom prst="rect">
            <a:avLst/>
          </a:prstGeom>
          <a:noFill/>
        </p:spPr>
        <p:txBody>
          <a:bodyPr wrap="square">
            <a:spAutoFit/>
          </a:bodyPr>
          <a:lstStyle/>
          <a:p>
            <a:pPr algn="l"/>
            <a:r>
              <a:rPr sz="1100" b="0" i="0">
                <a:solidFill>
                  <a:srgbClr val="1A1A2E"/>
                </a:solidFill>
                <a:latin typeface="Times New Roman"/>
              </a:rPr>
              <a:t>  •  Gather crop recommendation dataset (CRD)</a:t>
            </a:r>
          </a:p>
        </p:txBody>
      </p:sp>
      <p:sp>
        <p:nvSpPr>
          <p:cNvPr id="13" name="Rectangle 12"/>
          <p:cNvSpPr/>
          <p:nvPr/>
        </p:nvSpPr>
        <p:spPr>
          <a:xfrm>
            <a:off x="3200400" y="1828800"/>
            <a:ext cx="274320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1828800"/>
            <a:ext cx="2743200" cy="6858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91840" y="1874519"/>
            <a:ext cx="2560320" cy="594360"/>
          </a:xfrm>
          <a:prstGeom prst="rect">
            <a:avLst/>
          </a:prstGeom>
          <a:noFill/>
        </p:spPr>
        <p:txBody>
          <a:bodyPr wrap="square">
            <a:spAutoFit/>
          </a:bodyPr>
          <a:lstStyle/>
          <a:p>
            <a:pPr algn="ctr"/>
            <a:r>
              <a:rPr sz="1200" b="1" i="0">
                <a:solidFill>
                  <a:srgbClr val="FFFFFF"/>
                </a:solidFill>
                <a:latin typeface="Times New Roman"/>
              </a:rPr>
              <a:t>Phase 2
Risk Analysis</a:t>
            </a:r>
          </a:p>
        </p:txBody>
      </p:sp>
      <p:sp>
        <p:nvSpPr>
          <p:cNvPr id="16" name="TextBox 15"/>
          <p:cNvSpPr txBox="1"/>
          <p:nvPr/>
        </p:nvSpPr>
        <p:spPr>
          <a:xfrm>
            <a:off x="3291840" y="2587752"/>
            <a:ext cx="2560320" cy="594360"/>
          </a:xfrm>
          <a:prstGeom prst="rect">
            <a:avLst/>
          </a:prstGeom>
          <a:noFill/>
        </p:spPr>
        <p:txBody>
          <a:bodyPr wrap="square">
            <a:spAutoFit/>
          </a:bodyPr>
          <a:lstStyle/>
          <a:p>
            <a:pPr algn="l"/>
            <a:r>
              <a:rPr sz="1100" b="0" i="0">
                <a:solidFill>
                  <a:srgbClr val="1A1A2E"/>
                </a:solidFill>
                <a:latin typeface="Times New Roman"/>
              </a:rPr>
              <a:t>  •  Identify: imbalanced datasets, noisy sensors</a:t>
            </a:r>
          </a:p>
        </p:txBody>
      </p:sp>
      <p:sp>
        <p:nvSpPr>
          <p:cNvPr id="17" name="TextBox 16"/>
          <p:cNvSpPr txBox="1"/>
          <p:nvPr/>
        </p:nvSpPr>
        <p:spPr>
          <a:xfrm>
            <a:off x="3291840" y="3236976"/>
            <a:ext cx="2560320" cy="594360"/>
          </a:xfrm>
          <a:prstGeom prst="rect">
            <a:avLst/>
          </a:prstGeom>
          <a:noFill/>
        </p:spPr>
        <p:txBody>
          <a:bodyPr wrap="square">
            <a:spAutoFit/>
          </a:bodyPr>
          <a:lstStyle/>
          <a:p>
            <a:pPr algn="l"/>
            <a:r>
              <a:rPr sz="1100" b="0" i="0">
                <a:solidFill>
                  <a:srgbClr val="1A1A2E"/>
                </a:solidFill>
                <a:latin typeface="Times New Roman"/>
              </a:rPr>
              <a:t>  •  Choose SMOTE-Tomek preprocessing</a:t>
            </a:r>
          </a:p>
        </p:txBody>
      </p:sp>
      <p:sp>
        <p:nvSpPr>
          <p:cNvPr id="18" name="TextBox 17"/>
          <p:cNvSpPr txBox="1"/>
          <p:nvPr/>
        </p:nvSpPr>
        <p:spPr>
          <a:xfrm>
            <a:off x="3291840" y="3886200"/>
            <a:ext cx="2560320" cy="594360"/>
          </a:xfrm>
          <a:prstGeom prst="rect">
            <a:avLst/>
          </a:prstGeom>
          <a:noFill/>
        </p:spPr>
        <p:txBody>
          <a:bodyPr wrap="square">
            <a:spAutoFit/>
          </a:bodyPr>
          <a:lstStyle/>
          <a:p>
            <a:pPr algn="l"/>
            <a:r>
              <a:rPr sz="1100" b="0" i="0">
                <a:solidFill>
                  <a:srgbClr val="1A1A2E"/>
                </a:solidFill>
                <a:latin typeface="Times New Roman"/>
              </a:rPr>
              <a:t>  •  Select ML and DL algorithms</a:t>
            </a:r>
          </a:p>
        </p:txBody>
      </p:sp>
      <p:sp>
        <p:nvSpPr>
          <p:cNvPr id="19" name="TextBox 18"/>
          <p:cNvSpPr txBox="1"/>
          <p:nvPr/>
        </p:nvSpPr>
        <p:spPr>
          <a:xfrm>
            <a:off x="3291840" y="4535424"/>
            <a:ext cx="2560320" cy="594360"/>
          </a:xfrm>
          <a:prstGeom prst="rect">
            <a:avLst/>
          </a:prstGeom>
          <a:noFill/>
        </p:spPr>
        <p:txBody>
          <a:bodyPr wrap="square">
            <a:spAutoFit/>
          </a:bodyPr>
          <a:lstStyle/>
          <a:p>
            <a:pPr algn="l"/>
            <a:r>
              <a:rPr sz="1100" b="0" i="0">
                <a:solidFill>
                  <a:srgbClr val="1A1A2E"/>
                </a:solidFill>
                <a:latin typeface="Times New Roman"/>
              </a:rPr>
              <a:t>  •  Plan stacked ensemble architecture</a:t>
            </a:r>
          </a:p>
        </p:txBody>
      </p:sp>
      <p:sp>
        <p:nvSpPr>
          <p:cNvPr id="20" name="Rectangle 19"/>
          <p:cNvSpPr/>
          <p:nvPr/>
        </p:nvSpPr>
        <p:spPr>
          <a:xfrm>
            <a:off x="6126480" y="1828800"/>
            <a:ext cx="274320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26480" y="1828800"/>
            <a:ext cx="2743200" cy="685800"/>
          </a:xfrm>
          <a:prstGeom prst="rect">
            <a:avLst/>
          </a:prstGeom>
          <a:solidFill>
            <a:srgbClr val="156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0" y="1874519"/>
            <a:ext cx="2560320" cy="594360"/>
          </a:xfrm>
          <a:prstGeom prst="rect">
            <a:avLst/>
          </a:prstGeom>
          <a:noFill/>
        </p:spPr>
        <p:txBody>
          <a:bodyPr wrap="square">
            <a:spAutoFit/>
          </a:bodyPr>
          <a:lstStyle/>
          <a:p>
            <a:pPr algn="ctr"/>
            <a:r>
              <a:rPr sz="1200" b="1" i="0">
                <a:solidFill>
                  <a:srgbClr val="FFFFFF"/>
                </a:solidFill>
                <a:latin typeface="Times New Roman"/>
              </a:rPr>
              <a:t>Phase 3
Development</a:t>
            </a:r>
          </a:p>
        </p:txBody>
      </p:sp>
      <p:sp>
        <p:nvSpPr>
          <p:cNvPr id="23" name="TextBox 22"/>
          <p:cNvSpPr txBox="1"/>
          <p:nvPr/>
        </p:nvSpPr>
        <p:spPr>
          <a:xfrm>
            <a:off x="6217920" y="2587752"/>
            <a:ext cx="2560320" cy="594360"/>
          </a:xfrm>
          <a:prstGeom prst="rect">
            <a:avLst/>
          </a:prstGeom>
          <a:noFill/>
        </p:spPr>
        <p:txBody>
          <a:bodyPr wrap="square">
            <a:spAutoFit/>
          </a:bodyPr>
          <a:lstStyle/>
          <a:p>
            <a:pPr algn="l"/>
            <a:r>
              <a:rPr sz="1100" b="0" i="0">
                <a:solidFill>
                  <a:srgbClr val="1A1A2E"/>
                </a:solidFill>
                <a:latin typeface="Times New Roman"/>
              </a:rPr>
              <a:t>  •  Build 12-feature enrichment module</a:t>
            </a:r>
          </a:p>
        </p:txBody>
      </p:sp>
      <p:sp>
        <p:nvSpPr>
          <p:cNvPr id="24" name="TextBox 23"/>
          <p:cNvSpPr txBox="1"/>
          <p:nvPr/>
        </p:nvSpPr>
        <p:spPr>
          <a:xfrm>
            <a:off x="6217920" y="3236976"/>
            <a:ext cx="2560320" cy="594360"/>
          </a:xfrm>
          <a:prstGeom prst="rect">
            <a:avLst/>
          </a:prstGeom>
          <a:noFill/>
        </p:spPr>
        <p:txBody>
          <a:bodyPr wrap="square">
            <a:spAutoFit/>
          </a:bodyPr>
          <a:lstStyle/>
          <a:p>
            <a:pPr algn="l"/>
            <a:r>
              <a:rPr sz="1100" b="0" i="0">
                <a:solidFill>
                  <a:srgbClr val="1A1A2E"/>
                </a:solidFill>
                <a:latin typeface="Times New Roman"/>
              </a:rPr>
              <a:t>  •  Train 7 ML base classifiers</a:t>
            </a:r>
          </a:p>
        </p:txBody>
      </p:sp>
      <p:sp>
        <p:nvSpPr>
          <p:cNvPr id="25" name="TextBox 24"/>
          <p:cNvSpPr txBox="1"/>
          <p:nvPr/>
        </p:nvSpPr>
        <p:spPr>
          <a:xfrm>
            <a:off x="6217920" y="3886200"/>
            <a:ext cx="2560320" cy="594360"/>
          </a:xfrm>
          <a:prstGeom prst="rect">
            <a:avLst/>
          </a:prstGeom>
          <a:noFill/>
        </p:spPr>
        <p:txBody>
          <a:bodyPr wrap="square">
            <a:spAutoFit/>
          </a:bodyPr>
          <a:lstStyle/>
          <a:p>
            <a:pPr algn="l"/>
            <a:r>
              <a:rPr sz="1100" b="0" i="0">
                <a:solidFill>
                  <a:srgbClr val="1A1A2E"/>
                </a:solidFill>
                <a:latin typeface="Times New Roman"/>
              </a:rPr>
              <a:t>  •  Develop CNN-BiLSTM model</a:t>
            </a:r>
          </a:p>
        </p:txBody>
      </p:sp>
      <p:sp>
        <p:nvSpPr>
          <p:cNvPr id="26" name="TextBox 25"/>
          <p:cNvSpPr txBox="1"/>
          <p:nvPr/>
        </p:nvSpPr>
        <p:spPr>
          <a:xfrm>
            <a:off x="6217920" y="4535424"/>
            <a:ext cx="2560320" cy="594360"/>
          </a:xfrm>
          <a:prstGeom prst="rect">
            <a:avLst/>
          </a:prstGeom>
          <a:noFill/>
        </p:spPr>
        <p:txBody>
          <a:bodyPr wrap="square">
            <a:spAutoFit/>
          </a:bodyPr>
          <a:lstStyle/>
          <a:p>
            <a:pPr algn="l"/>
            <a:r>
              <a:rPr sz="1100" b="0" i="0">
                <a:solidFill>
                  <a:srgbClr val="1A1A2E"/>
                </a:solidFill>
                <a:latin typeface="Times New Roman"/>
              </a:rPr>
              <a:t>  •  Implement stacking + MLP meta-learner</a:t>
            </a:r>
          </a:p>
        </p:txBody>
      </p:sp>
      <p:sp>
        <p:nvSpPr>
          <p:cNvPr id="27" name="TextBox 26"/>
          <p:cNvSpPr txBox="1"/>
          <p:nvPr/>
        </p:nvSpPr>
        <p:spPr>
          <a:xfrm>
            <a:off x="6217920" y="5184648"/>
            <a:ext cx="2560320" cy="594360"/>
          </a:xfrm>
          <a:prstGeom prst="rect">
            <a:avLst/>
          </a:prstGeom>
          <a:noFill/>
        </p:spPr>
        <p:txBody>
          <a:bodyPr wrap="square">
            <a:spAutoFit/>
          </a:bodyPr>
          <a:lstStyle/>
          <a:p>
            <a:pPr algn="l"/>
            <a:r>
              <a:rPr sz="1100" b="0" i="0">
                <a:solidFill>
                  <a:srgbClr val="1A1A2E"/>
                </a:solidFill>
                <a:latin typeface="Times New Roman"/>
              </a:rPr>
              <a:t>  •  Integrate SHAP, LIME, DiCE</a:t>
            </a:r>
          </a:p>
        </p:txBody>
      </p:sp>
      <p:sp>
        <p:nvSpPr>
          <p:cNvPr id="28" name="Rectangle 27"/>
          <p:cNvSpPr/>
          <p:nvPr/>
        </p:nvSpPr>
        <p:spPr>
          <a:xfrm>
            <a:off x="9052560" y="1828800"/>
            <a:ext cx="274320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52560" y="1828800"/>
            <a:ext cx="2743200" cy="6858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0" y="1874519"/>
            <a:ext cx="2560320" cy="594360"/>
          </a:xfrm>
          <a:prstGeom prst="rect">
            <a:avLst/>
          </a:prstGeom>
          <a:noFill/>
        </p:spPr>
        <p:txBody>
          <a:bodyPr wrap="square">
            <a:spAutoFit/>
          </a:bodyPr>
          <a:lstStyle/>
          <a:p>
            <a:pPr algn="ctr"/>
            <a:r>
              <a:rPr sz="1200" b="1" i="0">
                <a:solidFill>
                  <a:srgbClr val="FFFFFF"/>
                </a:solidFill>
                <a:latin typeface="Times New Roman"/>
              </a:rPr>
              <a:t>Phase 4
Testing &amp; Deployment</a:t>
            </a:r>
          </a:p>
        </p:txBody>
      </p:sp>
      <p:sp>
        <p:nvSpPr>
          <p:cNvPr id="31" name="TextBox 30"/>
          <p:cNvSpPr txBox="1"/>
          <p:nvPr/>
        </p:nvSpPr>
        <p:spPr>
          <a:xfrm>
            <a:off x="9144000" y="2587752"/>
            <a:ext cx="2560320" cy="594360"/>
          </a:xfrm>
          <a:prstGeom prst="rect">
            <a:avLst/>
          </a:prstGeom>
          <a:noFill/>
        </p:spPr>
        <p:txBody>
          <a:bodyPr wrap="square">
            <a:spAutoFit/>
          </a:bodyPr>
          <a:lstStyle/>
          <a:p>
            <a:pPr algn="l"/>
            <a:r>
              <a:rPr sz="1100" b="0" i="0">
                <a:solidFill>
                  <a:srgbClr val="1A1A2E"/>
                </a:solidFill>
                <a:latin typeface="Times New Roman"/>
              </a:rPr>
              <a:t>  •  Evaluate Accuracy, F1, MCC, ECE</a:t>
            </a:r>
          </a:p>
        </p:txBody>
      </p:sp>
      <p:sp>
        <p:nvSpPr>
          <p:cNvPr id="32" name="TextBox 31"/>
          <p:cNvSpPr txBox="1"/>
          <p:nvPr/>
        </p:nvSpPr>
        <p:spPr>
          <a:xfrm>
            <a:off x="9144000" y="3236976"/>
            <a:ext cx="2560320" cy="594360"/>
          </a:xfrm>
          <a:prstGeom prst="rect">
            <a:avLst/>
          </a:prstGeom>
          <a:noFill/>
        </p:spPr>
        <p:txBody>
          <a:bodyPr wrap="square">
            <a:spAutoFit/>
          </a:bodyPr>
          <a:lstStyle/>
          <a:p>
            <a:pPr algn="l"/>
            <a:r>
              <a:rPr sz="1100" b="0" i="0">
                <a:solidFill>
                  <a:srgbClr val="1A1A2E"/>
                </a:solidFill>
                <a:latin typeface="Times New Roman"/>
              </a:rPr>
              <a:t>  •  Perform 5-fold cross-validation</a:t>
            </a:r>
          </a:p>
        </p:txBody>
      </p:sp>
      <p:sp>
        <p:nvSpPr>
          <p:cNvPr id="33" name="TextBox 32"/>
          <p:cNvSpPr txBox="1"/>
          <p:nvPr/>
        </p:nvSpPr>
        <p:spPr>
          <a:xfrm>
            <a:off x="9144000" y="3886200"/>
            <a:ext cx="2560320" cy="594360"/>
          </a:xfrm>
          <a:prstGeom prst="rect">
            <a:avLst/>
          </a:prstGeom>
          <a:noFill/>
        </p:spPr>
        <p:txBody>
          <a:bodyPr wrap="square">
            <a:spAutoFit/>
          </a:bodyPr>
          <a:lstStyle/>
          <a:p>
            <a:pPr algn="l"/>
            <a:r>
              <a:rPr sz="1100" b="0" i="0">
                <a:solidFill>
                  <a:srgbClr val="1A1A2E"/>
                </a:solidFill>
                <a:latin typeface="Times New Roman"/>
              </a:rPr>
              <a:t>  •  Generate XAI visualizations</a:t>
            </a:r>
          </a:p>
        </p:txBody>
      </p:sp>
      <p:sp>
        <p:nvSpPr>
          <p:cNvPr id="34" name="TextBox 33"/>
          <p:cNvSpPr txBox="1"/>
          <p:nvPr/>
        </p:nvSpPr>
        <p:spPr>
          <a:xfrm>
            <a:off x="9144000" y="4535424"/>
            <a:ext cx="2560320" cy="594360"/>
          </a:xfrm>
          <a:prstGeom prst="rect">
            <a:avLst/>
          </a:prstGeom>
          <a:noFill/>
        </p:spPr>
        <p:txBody>
          <a:bodyPr wrap="square">
            <a:spAutoFit/>
          </a:bodyPr>
          <a:lstStyle/>
          <a:p>
            <a:pPr algn="l"/>
            <a:r>
              <a:rPr sz="1100" b="0" i="0">
                <a:solidFill>
                  <a:srgbClr val="1A1A2E"/>
                </a:solidFill>
                <a:latin typeface="Times New Roman"/>
              </a:rPr>
              <a:t>  •  Deploy for crop prediction CLI</a:t>
            </a:r>
          </a:p>
        </p:txBody>
      </p:sp>
      <p:sp>
        <p:nvSpPr>
          <p:cNvPr id="35" name="TextBox 34"/>
          <p:cNvSpPr txBox="1"/>
          <p:nvPr/>
        </p:nvSpPr>
        <p:spPr>
          <a:xfrm>
            <a:off x="9144000" y="5184648"/>
            <a:ext cx="2560320" cy="594360"/>
          </a:xfrm>
          <a:prstGeom prst="rect">
            <a:avLst/>
          </a:prstGeom>
          <a:noFill/>
        </p:spPr>
        <p:txBody>
          <a:bodyPr wrap="square">
            <a:spAutoFit/>
          </a:bodyPr>
          <a:lstStyle/>
          <a:p>
            <a:pPr algn="l"/>
            <a:r>
              <a:rPr sz="1100" b="0" i="0">
                <a:solidFill>
                  <a:srgbClr val="1A1A2E"/>
                </a:solidFill>
                <a:latin typeface="Times New Roman"/>
              </a:rPr>
              <a:t>  •  Periodic retraining with new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System Requirements &amp; Cost Estimation</a:t>
            </a:r>
          </a:p>
        </p:txBody>
      </p:sp>
      <p:sp>
        <p:nvSpPr>
          <p:cNvPr id="5" name="TextBox 4"/>
          <p:cNvSpPr txBox="1"/>
          <p:nvPr/>
        </p:nvSpPr>
        <p:spPr>
          <a:xfrm>
            <a:off x="365760" y="1097280"/>
            <a:ext cx="5486400" cy="365760"/>
          </a:xfrm>
          <a:prstGeom prst="rect">
            <a:avLst/>
          </a:prstGeom>
          <a:noFill/>
        </p:spPr>
        <p:txBody>
          <a:bodyPr wrap="square">
            <a:spAutoFit/>
          </a:bodyPr>
          <a:lstStyle/>
          <a:p>
            <a:pPr algn="l"/>
            <a:r>
              <a:rPr sz="1700" b="1" i="0">
                <a:solidFill>
                  <a:srgbClr val="277A3A"/>
                </a:solidFill>
                <a:latin typeface="Times New Roman"/>
              </a:rPr>
              <a:t>Hardware Requirements</a:t>
            </a:r>
          </a:p>
        </p:txBody>
      </p:sp>
      <p:sp>
        <p:nvSpPr>
          <p:cNvPr id="6" name="Rectangle 5"/>
          <p:cNvSpPr/>
          <p:nvPr/>
        </p:nvSpPr>
        <p:spPr>
          <a:xfrm>
            <a:off x="365760" y="1536192"/>
            <a:ext cx="1828800" cy="50292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54480"/>
            <a:ext cx="1737360" cy="411480"/>
          </a:xfrm>
          <a:prstGeom prst="rect">
            <a:avLst/>
          </a:prstGeom>
          <a:noFill/>
        </p:spPr>
        <p:txBody>
          <a:bodyPr wrap="square">
            <a:spAutoFit/>
          </a:bodyPr>
          <a:lstStyle/>
          <a:p>
            <a:pPr algn="ctr"/>
            <a:r>
              <a:rPr sz="1200" b="1" i="0">
                <a:solidFill>
                  <a:srgbClr val="FFFFFF"/>
                </a:solidFill>
                <a:latin typeface="Times New Roman"/>
              </a:rPr>
              <a:t>RAM</a:t>
            </a:r>
          </a:p>
        </p:txBody>
      </p:sp>
      <p:sp>
        <p:nvSpPr>
          <p:cNvPr id="8" name="TextBox 7"/>
          <p:cNvSpPr txBox="1"/>
          <p:nvPr/>
        </p:nvSpPr>
        <p:spPr>
          <a:xfrm>
            <a:off x="2286000" y="1572768"/>
            <a:ext cx="3657600" cy="411480"/>
          </a:xfrm>
          <a:prstGeom prst="rect">
            <a:avLst/>
          </a:prstGeom>
          <a:noFill/>
        </p:spPr>
        <p:txBody>
          <a:bodyPr wrap="square">
            <a:spAutoFit/>
          </a:bodyPr>
          <a:lstStyle/>
          <a:p>
            <a:pPr algn="l"/>
            <a:r>
              <a:rPr sz="1200" b="0" i="0">
                <a:solidFill>
                  <a:srgbClr val="1A1A2E"/>
                </a:solidFill>
                <a:latin typeface="Times New Roman"/>
              </a:rPr>
              <a:t>Minimum 4 GB  |  8 GB+ Recommended</a:t>
            </a:r>
          </a:p>
        </p:txBody>
      </p:sp>
      <p:sp>
        <p:nvSpPr>
          <p:cNvPr id="9" name="Rectangle 8"/>
          <p:cNvSpPr/>
          <p:nvPr/>
        </p:nvSpPr>
        <p:spPr>
          <a:xfrm>
            <a:off x="365760" y="2130552"/>
            <a:ext cx="1828800" cy="50292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148840"/>
            <a:ext cx="1737360" cy="411480"/>
          </a:xfrm>
          <a:prstGeom prst="rect">
            <a:avLst/>
          </a:prstGeom>
          <a:noFill/>
        </p:spPr>
        <p:txBody>
          <a:bodyPr wrap="square">
            <a:spAutoFit/>
          </a:bodyPr>
          <a:lstStyle/>
          <a:p>
            <a:pPr algn="ctr"/>
            <a:r>
              <a:rPr sz="1200" b="1" i="0">
                <a:solidFill>
                  <a:srgbClr val="FFFFFF"/>
                </a:solidFill>
                <a:latin typeface="Times New Roman"/>
              </a:rPr>
              <a:t>Processor</a:t>
            </a:r>
          </a:p>
        </p:txBody>
      </p:sp>
      <p:sp>
        <p:nvSpPr>
          <p:cNvPr id="11" name="TextBox 10"/>
          <p:cNvSpPr txBox="1"/>
          <p:nvPr/>
        </p:nvSpPr>
        <p:spPr>
          <a:xfrm>
            <a:off x="2286000" y="2167128"/>
            <a:ext cx="3657600" cy="411480"/>
          </a:xfrm>
          <a:prstGeom prst="rect">
            <a:avLst/>
          </a:prstGeom>
          <a:noFill/>
        </p:spPr>
        <p:txBody>
          <a:bodyPr wrap="square">
            <a:spAutoFit/>
          </a:bodyPr>
          <a:lstStyle/>
          <a:p>
            <a:pPr algn="l"/>
            <a:r>
              <a:rPr sz="1200" b="0" i="0">
                <a:solidFill>
                  <a:srgbClr val="1A1A2E"/>
                </a:solidFill>
                <a:latin typeface="Times New Roman"/>
              </a:rPr>
              <a:t>Intel i5 / AMD Ryzen 5 (4+ cores)</a:t>
            </a:r>
          </a:p>
        </p:txBody>
      </p:sp>
      <p:sp>
        <p:nvSpPr>
          <p:cNvPr id="12" name="Rectangle 11"/>
          <p:cNvSpPr/>
          <p:nvPr/>
        </p:nvSpPr>
        <p:spPr>
          <a:xfrm>
            <a:off x="365760" y="2724912"/>
            <a:ext cx="1828800" cy="50292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743200"/>
            <a:ext cx="1737360" cy="411480"/>
          </a:xfrm>
          <a:prstGeom prst="rect">
            <a:avLst/>
          </a:prstGeom>
          <a:noFill/>
        </p:spPr>
        <p:txBody>
          <a:bodyPr wrap="square">
            <a:spAutoFit/>
          </a:bodyPr>
          <a:lstStyle/>
          <a:p>
            <a:pPr algn="ctr"/>
            <a:r>
              <a:rPr sz="1200" b="1" i="0">
                <a:solidFill>
                  <a:srgbClr val="FFFFFF"/>
                </a:solidFill>
                <a:latin typeface="Times New Roman"/>
              </a:rPr>
              <a:t>Storage</a:t>
            </a:r>
          </a:p>
        </p:txBody>
      </p:sp>
      <p:sp>
        <p:nvSpPr>
          <p:cNvPr id="14" name="TextBox 13"/>
          <p:cNvSpPr txBox="1"/>
          <p:nvPr/>
        </p:nvSpPr>
        <p:spPr>
          <a:xfrm>
            <a:off x="2286000" y="2761488"/>
            <a:ext cx="3657600" cy="411480"/>
          </a:xfrm>
          <a:prstGeom prst="rect">
            <a:avLst/>
          </a:prstGeom>
          <a:noFill/>
        </p:spPr>
        <p:txBody>
          <a:bodyPr wrap="square">
            <a:spAutoFit/>
          </a:bodyPr>
          <a:lstStyle/>
          <a:p>
            <a:pPr algn="l"/>
            <a:r>
              <a:rPr sz="1200" b="0" i="0">
                <a:solidFill>
                  <a:srgbClr val="1A1A2E"/>
                </a:solidFill>
                <a:latin typeface="Times New Roman"/>
              </a:rPr>
              <a:t>Minimum 5 GB  |  10 GB Recommended</a:t>
            </a:r>
          </a:p>
        </p:txBody>
      </p:sp>
      <p:sp>
        <p:nvSpPr>
          <p:cNvPr id="15" name="Rectangle 14"/>
          <p:cNvSpPr/>
          <p:nvPr/>
        </p:nvSpPr>
        <p:spPr>
          <a:xfrm>
            <a:off x="365760" y="3319272"/>
            <a:ext cx="1828800" cy="50292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337560"/>
            <a:ext cx="1737360" cy="411480"/>
          </a:xfrm>
          <a:prstGeom prst="rect">
            <a:avLst/>
          </a:prstGeom>
          <a:noFill/>
        </p:spPr>
        <p:txBody>
          <a:bodyPr wrap="square">
            <a:spAutoFit/>
          </a:bodyPr>
          <a:lstStyle/>
          <a:p>
            <a:pPr algn="ctr"/>
            <a:r>
              <a:rPr sz="1200" b="1" i="0">
                <a:solidFill>
                  <a:srgbClr val="FFFFFF"/>
                </a:solidFill>
                <a:latin typeface="Times New Roman"/>
              </a:rPr>
              <a:t>GPU</a:t>
            </a:r>
          </a:p>
        </p:txBody>
      </p:sp>
      <p:sp>
        <p:nvSpPr>
          <p:cNvPr id="17" name="TextBox 16"/>
          <p:cNvSpPr txBox="1"/>
          <p:nvPr/>
        </p:nvSpPr>
        <p:spPr>
          <a:xfrm>
            <a:off x="2286000" y="3355848"/>
            <a:ext cx="3657600" cy="411480"/>
          </a:xfrm>
          <a:prstGeom prst="rect">
            <a:avLst/>
          </a:prstGeom>
          <a:noFill/>
        </p:spPr>
        <p:txBody>
          <a:bodyPr wrap="square">
            <a:spAutoFit/>
          </a:bodyPr>
          <a:lstStyle/>
          <a:p>
            <a:pPr algn="l"/>
            <a:r>
              <a:rPr sz="1200" b="0" i="0">
                <a:solidFill>
                  <a:srgbClr val="1A1A2E"/>
                </a:solidFill>
                <a:latin typeface="Times New Roman"/>
              </a:rPr>
              <a:t>Optional (NVIDIA CUDA for faster DL training)</a:t>
            </a:r>
          </a:p>
        </p:txBody>
      </p:sp>
      <p:sp>
        <p:nvSpPr>
          <p:cNvPr id="18" name="TextBox 17"/>
          <p:cNvSpPr txBox="1"/>
          <p:nvPr/>
        </p:nvSpPr>
        <p:spPr>
          <a:xfrm>
            <a:off x="365760" y="4023360"/>
            <a:ext cx="5486400" cy="365760"/>
          </a:xfrm>
          <a:prstGeom prst="rect">
            <a:avLst/>
          </a:prstGeom>
          <a:noFill/>
        </p:spPr>
        <p:txBody>
          <a:bodyPr wrap="square">
            <a:spAutoFit/>
          </a:bodyPr>
          <a:lstStyle/>
          <a:p>
            <a:pPr algn="l"/>
            <a:r>
              <a:rPr sz="1700" b="1" i="0">
                <a:solidFill>
                  <a:srgbClr val="277A3A"/>
                </a:solidFill>
                <a:latin typeface="Times New Roman"/>
              </a:rPr>
              <a:t>Software Requirements</a:t>
            </a:r>
          </a:p>
        </p:txBody>
      </p:sp>
      <p:sp>
        <p:nvSpPr>
          <p:cNvPr id="19" name="Rectangle 18"/>
          <p:cNvSpPr/>
          <p:nvPr/>
        </p:nvSpPr>
        <p:spPr>
          <a:xfrm>
            <a:off x="365760" y="4462272"/>
            <a:ext cx="1828800" cy="438912"/>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480560"/>
            <a:ext cx="1737360" cy="347472"/>
          </a:xfrm>
          <a:prstGeom prst="rect">
            <a:avLst/>
          </a:prstGeom>
          <a:noFill/>
        </p:spPr>
        <p:txBody>
          <a:bodyPr wrap="square">
            <a:spAutoFit/>
          </a:bodyPr>
          <a:lstStyle/>
          <a:p>
            <a:pPr algn="ctr"/>
            <a:r>
              <a:rPr sz="1200" b="1" i="0">
                <a:solidFill>
                  <a:srgbClr val="FFFFFF"/>
                </a:solidFill>
                <a:latin typeface="Times New Roman"/>
              </a:rPr>
              <a:t>OS</a:t>
            </a:r>
          </a:p>
        </p:txBody>
      </p:sp>
      <p:sp>
        <p:nvSpPr>
          <p:cNvPr id="21" name="TextBox 20"/>
          <p:cNvSpPr txBox="1"/>
          <p:nvPr/>
        </p:nvSpPr>
        <p:spPr>
          <a:xfrm>
            <a:off x="2286000" y="4480560"/>
            <a:ext cx="3657600" cy="347472"/>
          </a:xfrm>
          <a:prstGeom prst="rect">
            <a:avLst/>
          </a:prstGeom>
          <a:noFill/>
        </p:spPr>
        <p:txBody>
          <a:bodyPr wrap="square">
            <a:spAutoFit/>
          </a:bodyPr>
          <a:lstStyle/>
          <a:p>
            <a:pPr algn="l"/>
            <a:r>
              <a:rPr sz="1200" b="0" i="0">
                <a:solidFill>
                  <a:srgbClr val="1A1A2E"/>
                </a:solidFill>
                <a:latin typeface="Times New Roman"/>
              </a:rPr>
              <a:t>Windows 10/11, Linux (Ubuntu), macOS</a:t>
            </a:r>
          </a:p>
        </p:txBody>
      </p:sp>
      <p:sp>
        <p:nvSpPr>
          <p:cNvPr id="22" name="Rectangle 21"/>
          <p:cNvSpPr/>
          <p:nvPr/>
        </p:nvSpPr>
        <p:spPr>
          <a:xfrm>
            <a:off x="365760" y="4974336"/>
            <a:ext cx="1828800" cy="438912"/>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992624"/>
            <a:ext cx="1737360" cy="347472"/>
          </a:xfrm>
          <a:prstGeom prst="rect">
            <a:avLst/>
          </a:prstGeom>
          <a:noFill/>
        </p:spPr>
        <p:txBody>
          <a:bodyPr wrap="square">
            <a:spAutoFit/>
          </a:bodyPr>
          <a:lstStyle/>
          <a:p>
            <a:pPr algn="ctr"/>
            <a:r>
              <a:rPr sz="1200" b="1" i="0">
                <a:solidFill>
                  <a:srgbClr val="FFFFFF"/>
                </a:solidFill>
                <a:latin typeface="Times New Roman"/>
              </a:rPr>
              <a:t>Language</a:t>
            </a:r>
          </a:p>
        </p:txBody>
      </p:sp>
      <p:sp>
        <p:nvSpPr>
          <p:cNvPr id="24" name="TextBox 23"/>
          <p:cNvSpPr txBox="1"/>
          <p:nvPr/>
        </p:nvSpPr>
        <p:spPr>
          <a:xfrm>
            <a:off x="2286000" y="4992624"/>
            <a:ext cx="3657600" cy="347472"/>
          </a:xfrm>
          <a:prstGeom prst="rect">
            <a:avLst/>
          </a:prstGeom>
          <a:noFill/>
        </p:spPr>
        <p:txBody>
          <a:bodyPr wrap="square">
            <a:spAutoFit/>
          </a:bodyPr>
          <a:lstStyle/>
          <a:p>
            <a:pPr algn="l"/>
            <a:r>
              <a:rPr sz="1200" b="0" i="0">
                <a:solidFill>
                  <a:srgbClr val="1A1A2E"/>
                </a:solidFill>
                <a:latin typeface="Times New Roman"/>
              </a:rPr>
              <a:t>Python 3.9–3.12</a:t>
            </a:r>
          </a:p>
        </p:txBody>
      </p:sp>
      <p:sp>
        <p:nvSpPr>
          <p:cNvPr id="25" name="Rectangle 24"/>
          <p:cNvSpPr/>
          <p:nvPr/>
        </p:nvSpPr>
        <p:spPr>
          <a:xfrm>
            <a:off x="365760" y="5486400"/>
            <a:ext cx="1828800" cy="438912"/>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5504688"/>
            <a:ext cx="1737360" cy="347472"/>
          </a:xfrm>
          <a:prstGeom prst="rect">
            <a:avLst/>
          </a:prstGeom>
          <a:noFill/>
        </p:spPr>
        <p:txBody>
          <a:bodyPr wrap="square">
            <a:spAutoFit/>
          </a:bodyPr>
          <a:lstStyle/>
          <a:p>
            <a:pPr algn="ctr"/>
            <a:r>
              <a:rPr sz="1200" b="1" i="0">
                <a:solidFill>
                  <a:srgbClr val="FFFFFF"/>
                </a:solidFill>
                <a:latin typeface="Times New Roman"/>
              </a:rPr>
              <a:t>Libraries</a:t>
            </a:r>
          </a:p>
        </p:txBody>
      </p:sp>
      <p:sp>
        <p:nvSpPr>
          <p:cNvPr id="27" name="TextBox 26"/>
          <p:cNvSpPr txBox="1"/>
          <p:nvPr/>
        </p:nvSpPr>
        <p:spPr>
          <a:xfrm>
            <a:off x="2286000" y="5504688"/>
            <a:ext cx="3657600" cy="347472"/>
          </a:xfrm>
          <a:prstGeom prst="rect">
            <a:avLst/>
          </a:prstGeom>
          <a:noFill/>
        </p:spPr>
        <p:txBody>
          <a:bodyPr wrap="square">
            <a:spAutoFit/>
          </a:bodyPr>
          <a:lstStyle/>
          <a:p>
            <a:pPr algn="l"/>
            <a:r>
              <a:rPr sz="1200" b="0" i="0">
                <a:solidFill>
                  <a:srgbClr val="1A1A2E"/>
                </a:solidFill>
                <a:latin typeface="Times New Roman"/>
              </a:rPr>
              <a:t>NumPy, Pandas, Scikit-learn, TF/Keras, SHAP, LIME, DiCE</a:t>
            </a:r>
          </a:p>
        </p:txBody>
      </p:sp>
      <p:sp>
        <p:nvSpPr>
          <p:cNvPr id="28" name="Rectangle 27"/>
          <p:cNvSpPr/>
          <p:nvPr/>
        </p:nvSpPr>
        <p:spPr>
          <a:xfrm>
            <a:off x="365760" y="5998464"/>
            <a:ext cx="1828800" cy="438912"/>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016752"/>
            <a:ext cx="1737360" cy="347472"/>
          </a:xfrm>
          <a:prstGeom prst="rect">
            <a:avLst/>
          </a:prstGeom>
          <a:noFill/>
        </p:spPr>
        <p:txBody>
          <a:bodyPr wrap="square">
            <a:spAutoFit/>
          </a:bodyPr>
          <a:lstStyle/>
          <a:p>
            <a:pPr algn="ctr"/>
            <a:r>
              <a:rPr sz="1200" b="1" i="0">
                <a:solidFill>
                  <a:srgbClr val="FFFFFF"/>
                </a:solidFill>
                <a:latin typeface="Times New Roman"/>
              </a:rPr>
              <a:t>IDE</a:t>
            </a:r>
          </a:p>
        </p:txBody>
      </p:sp>
      <p:sp>
        <p:nvSpPr>
          <p:cNvPr id="30" name="TextBox 29"/>
          <p:cNvSpPr txBox="1"/>
          <p:nvPr/>
        </p:nvSpPr>
        <p:spPr>
          <a:xfrm>
            <a:off x="2286000" y="6016752"/>
            <a:ext cx="3657600" cy="347472"/>
          </a:xfrm>
          <a:prstGeom prst="rect">
            <a:avLst/>
          </a:prstGeom>
          <a:noFill/>
        </p:spPr>
        <p:txBody>
          <a:bodyPr wrap="square">
            <a:spAutoFit/>
          </a:bodyPr>
          <a:lstStyle/>
          <a:p>
            <a:pPr algn="l"/>
            <a:r>
              <a:rPr sz="1200" b="0" i="0">
                <a:solidFill>
                  <a:srgbClr val="1A1A2E"/>
                </a:solidFill>
                <a:latin typeface="Times New Roman"/>
              </a:rPr>
              <a:t>VS Code / Jupyter / Google Colab</a:t>
            </a:r>
          </a:p>
        </p:txBody>
      </p:sp>
      <p:sp>
        <p:nvSpPr>
          <p:cNvPr id="31" name="TextBox 30"/>
          <p:cNvSpPr txBox="1"/>
          <p:nvPr/>
        </p:nvSpPr>
        <p:spPr>
          <a:xfrm>
            <a:off x="6400800" y="1097280"/>
            <a:ext cx="5394960" cy="365760"/>
          </a:xfrm>
          <a:prstGeom prst="rect">
            <a:avLst/>
          </a:prstGeom>
          <a:noFill/>
        </p:spPr>
        <p:txBody>
          <a:bodyPr wrap="square">
            <a:spAutoFit/>
          </a:bodyPr>
          <a:lstStyle/>
          <a:p>
            <a:pPr algn="l"/>
            <a:r>
              <a:rPr sz="1700" b="1" i="0">
                <a:solidFill>
                  <a:srgbClr val="277A3A"/>
                </a:solidFill>
                <a:latin typeface="Times New Roman"/>
              </a:rPr>
              <a:t>Cost Estimation</a:t>
            </a:r>
          </a:p>
        </p:txBody>
      </p:sp>
      <p:graphicFrame>
        <p:nvGraphicFramePr>
          <p:cNvPr id="32" name="Table 31"/>
          <p:cNvGraphicFramePr>
            <a:graphicFrameLocks noGrp="1"/>
          </p:cNvGraphicFramePr>
          <p:nvPr/>
        </p:nvGraphicFramePr>
        <p:xfrm>
          <a:off x="6400800" y="1508760"/>
          <a:ext cx="5394960" cy="5029200"/>
        </p:xfrm>
        <a:graphic>
          <a:graphicData uri="http://schemas.openxmlformats.org/drawingml/2006/table">
            <a:tbl>
              <a:tblPr firstRow="1" bandRow="1">
                <a:tableStyleId>{5C22544A-7EE6-4342-B048-85BDC9FD1C3A}</a:tableStyleId>
              </a:tblPr>
              <a:tblGrid>
                <a:gridCol w="2697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718457">
                <a:tc>
                  <a:txBody>
                    <a:bodyPr/>
                    <a:lstStyle/>
                    <a:p>
                      <a:pPr algn="ctr"/>
                      <a:r>
                        <a:rPr sz="1100" b="1">
                          <a:solidFill>
                            <a:srgbClr val="FFFFFF"/>
                          </a:solidFill>
                          <a:latin typeface="Times New Roman"/>
                        </a:rPr>
                        <a:t>Component</a:t>
                      </a:r>
                    </a:p>
                  </a:txBody>
                  <a:tcPr>
                    <a:solidFill>
                      <a:srgbClr val="1B5026"/>
                    </a:solidFill>
                  </a:tcPr>
                </a:tc>
                <a:tc>
                  <a:txBody>
                    <a:bodyPr/>
                    <a:lstStyle/>
                    <a:p>
                      <a:pPr algn="ctr"/>
                      <a:r>
                        <a:rPr sz="1100" b="1">
                          <a:solidFill>
                            <a:srgbClr val="FFFFFF"/>
                          </a:solidFill>
                          <a:latin typeface="Times New Roman"/>
                        </a:rPr>
                        <a:t>Estimated Cost</a:t>
                      </a:r>
                    </a:p>
                  </a:txBody>
                  <a:tcPr>
                    <a:solidFill>
                      <a:srgbClr val="1B5026"/>
                    </a:solidFill>
                  </a:tcPr>
                </a:tc>
                <a:extLst>
                  <a:ext uri="{0D108BD9-81ED-4DB2-BD59-A6C34878D82A}">
                    <a16:rowId xmlns:a16="http://schemas.microsoft.com/office/drawing/2014/main" val="10000"/>
                  </a:ext>
                </a:extLst>
              </a:tr>
              <a:tr h="718457">
                <a:tc>
                  <a:txBody>
                    <a:bodyPr/>
                    <a:lstStyle/>
                    <a:p>
                      <a:pPr algn="ctr"/>
                      <a:r>
                        <a:rPr sz="1000">
                          <a:latin typeface="Times New Roman"/>
                        </a:rPr>
                        <a:t>Python + Open-source Libraries</a:t>
                      </a:r>
                    </a:p>
                  </a:txBody>
                  <a:tcPr>
                    <a:solidFill>
                      <a:srgbClr val="D4EDD8"/>
                    </a:solidFill>
                  </a:tcPr>
                </a:tc>
                <a:tc>
                  <a:txBody>
                    <a:bodyPr/>
                    <a:lstStyle/>
                    <a:p>
                      <a:pPr algn="ctr"/>
                      <a:r>
                        <a:rPr sz="1000">
                          <a:latin typeface="Times New Roman"/>
                        </a:rPr>
                        <a:t>Free (Open Source)</a:t>
                      </a:r>
                    </a:p>
                  </a:txBody>
                  <a:tcPr>
                    <a:solidFill>
                      <a:srgbClr val="D4EDD8"/>
                    </a:solidFill>
                  </a:tcPr>
                </a:tc>
                <a:extLst>
                  <a:ext uri="{0D108BD9-81ED-4DB2-BD59-A6C34878D82A}">
                    <a16:rowId xmlns:a16="http://schemas.microsoft.com/office/drawing/2014/main" val="10001"/>
                  </a:ext>
                </a:extLst>
              </a:tr>
              <a:tr h="718457">
                <a:tc>
                  <a:txBody>
                    <a:bodyPr/>
                    <a:lstStyle/>
                    <a:p>
                      <a:pPr algn="ctr"/>
                      <a:r>
                        <a:rPr sz="1000">
                          <a:latin typeface="Times New Roman"/>
                        </a:rPr>
                        <a:t>Google Colab (GPU Training)</a:t>
                      </a:r>
                    </a:p>
                  </a:txBody>
                  <a:tcPr/>
                </a:tc>
                <a:tc>
                  <a:txBody>
                    <a:bodyPr/>
                    <a:lstStyle/>
                    <a:p>
                      <a:pPr algn="ctr"/>
                      <a:r>
                        <a:rPr sz="1000">
                          <a:latin typeface="Times New Roman"/>
                        </a:rPr>
                        <a:t>Free / ₹2,000/month (Pro)</a:t>
                      </a:r>
                    </a:p>
                  </a:txBody>
                  <a:tcPr/>
                </a:tc>
                <a:extLst>
                  <a:ext uri="{0D108BD9-81ED-4DB2-BD59-A6C34878D82A}">
                    <a16:rowId xmlns:a16="http://schemas.microsoft.com/office/drawing/2014/main" val="10002"/>
                  </a:ext>
                </a:extLst>
              </a:tr>
              <a:tr h="718457">
                <a:tc>
                  <a:txBody>
                    <a:bodyPr/>
                    <a:lstStyle/>
                    <a:p>
                      <a:pPr algn="ctr"/>
                      <a:r>
                        <a:rPr sz="1000">
                          <a:latin typeface="Times New Roman"/>
                        </a:rPr>
                        <a:t>Agricultural Dataset (CRD)</a:t>
                      </a:r>
                    </a:p>
                  </a:txBody>
                  <a:tcPr>
                    <a:solidFill>
                      <a:srgbClr val="D4EDD8"/>
                    </a:solidFill>
                  </a:tcPr>
                </a:tc>
                <a:tc>
                  <a:txBody>
                    <a:bodyPr/>
                    <a:lstStyle/>
                    <a:p>
                      <a:pPr algn="ctr"/>
                      <a:r>
                        <a:rPr sz="1000">
                          <a:latin typeface="Times New Roman"/>
                        </a:rPr>
                        <a:t>Free (Kaggle)</a:t>
                      </a:r>
                    </a:p>
                  </a:txBody>
                  <a:tcPr>
                    <a:solidFill>
                      <a:srgbClr val="D4EDD8"/>
                    </a:solidFill>
                  </a:tcPr>
                </a:tc>
                <a:extLst>
                  <a:ext uri="{0D108BD9-81ED-4DB2-BD59-A6C34878D82A}">
                    <a16:rowId xmlns:a16="http://schemas.microsoft.com/office/drawing/2014/main" val="10003"/>
                  </a:ext>
                </a:extLst>
              </a:tr>
              <a:tr h="718457">
                <a:tc>
                  <a:txBody>
                    <a:bodyPr/>
                    <a:lstStyle/>
                    <a:p>
                      <a:pPr algn="ctr"/>
                      <a:r>
                        <a:rPr sz="1000">
                          <a:latin typeface="Times New Roman"/>
                        </a:rPr>
                        <a:t>Cloud Storage (AWS/GDrive)</a:t>
                      </a:r>
                    </a:p>
                  </a:txBody>
                  <a:tcPr/>
                </a:tc>
                <a:tc>
                  <a:txBody>
                    <a:bodyPr/>
                    <a:lstStyle/>
                    <a:p>
                      <a:pPr algn="ctr"/>
                      <a:r>
                        <a:rPr sz="1000">
                          <a:latin typeface="Times New Roman"/>
                        </a:rPr>
                        <a:t>₹500–₹2,000/month</a:t>
                      </a:r>
                    </a:p>
                  </a:txBody>
                  <a:tcPr/>
                </a:tc>
                <a:extLst>
                  <a:ext uri="{0D108BD9-81ED-4DB2-BD59-A6C34878D82A}">
                    <a16:rowId xmlns:a16="http://schemas.microsoft.com/office/drawing/2014/main" val="10004"/>
                  </a:ext>
                </a:extLst>
              </a:tr>
              <a:tr h="718457">
                <a:tc>
                  <a:txBody>
                    <a:bodyPr/>
                    <a:lstStyle/>
                    <a:p>
                      <a:pPr algn="ctr"/>
                      <a:r>
                        <a:rPr sz="1000">
                          <a:latin typeface="Times New Roman"/>
                        </a:rPr>
                        <a:t>Hardware (Lab System)</a:t>
                      </a:r>
                    </a:p>
                  </a:txBody>
                  <a:tcPr>
                    <a:solidFill>
                      <a:srgbClr val="D4EDD8"/>
                    </a:solidFill>
                  </a:tcPr>
                </a:tc>
                <a:tc>
                  <a:txBody>
                    <a:bodyPr/>
                    <a:lstStyle/>
                    <a:p>
                      <a:pPr algn="ctr"/>
                      <a:r>
                        <a:rPr sz="1000">
                          <a:latin typeface="Times New Roman"/>
                        </a:rPr>
                        <a:t>₹40,000–₹80,000</a:t>
                      </a:r>
                    </a:p>
                  </a:txBody>
                  <a:tcPr>
                    <a:solidFill>
                      <a:srgbClr val="D4EDD8"/>
                    </a:solidFill>
                  </a:tcPr>
                </a:tc>
                <a:extLst>
                  <a:ext uri="{0D108BD9-81ED-4DB2-BD59-A6C34878D82A}">
                    <a16:rowId xmlns:a16="http://schemas.microsoft.com/office/drawing/2014/main" val="10005"/>
                  </a:ext>
                </a:extLst>
              </a:tr>
              <a:tr h="718458">
                <a:tc>
                  <a:txBody>
                    <a:bodyPr/>
                    <a:lstStyle/>
                    <a:p>
                      <a:pPr algn="ctr"/>
                      <a:r>
                        <a:rPr sz="1000">
                          <a:latin typeface="Times New Roman"/>
                        </a:rPr>
                        <a:t>Total Development Cost</a:t>
                      </a:r>
                    </a:p>
                  </a:txBody>
                  <a:tcPr/>
                </a:tc>
                <a:tc>
                  <a:txBody>
                    <a:bodyPr/>
                    <a:lstStyle/>
                    <a:p>
                      <a:pPr algn="ctr"/>
                      <a:r>
                        <a:rPr sz="1000">
                          <a:latin typeface="Times New Roman"/>
                        </a:rPr>
                        <a:t>~₹1,00,000 (Academic)</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Chapter 5 — Testing &amp; Validation Strategy</a:t>
            </a:r>
          </a:p>
        </p:txBody>
      </p:sp>
      <p:sp>
        <p:nvSpPr>
          <p:cNvPr id="5" name="Rectangle 4"/>
          <p:cNvSpPr/>
          <p:nvPr/>
        </p:nvSpPr>
        <p:spPr>
          <a:xfrm>
            <a:off x="274320" y="1097280"/>
            <a:ext cx="27432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097280"/>
            <a:ext cx="2743200" cy="4572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24712"/>
            <a:ext cx="2560320" cy="365760"/>
          </a:xfrm>
          <a:prstGeom prst="rect">
            <a:avLst/>
          </a:prstGeom>
          <a:noFill/>
        </p:spPr>
        <p:txBody>
          <a:bodyPr wrap="square">
            <a:spAutoFit/>
          </a:bodyPr>
          <a:lstStyle/>
          <a:p>
            <a:pPr algn="ctr"/>
            <a:r>
              <a:rPr sz="1300" b="1" i="0">
                <a:solidFill>
                  <a:srgbClr val="FFFFFF"/>
                </a:solidFill>
                <a:latin typeface="Times New Roman"/>
              </a:rPr>
              <a:t>Unit Testing</a:t>
            </a:r>
          </a:p>
        </p:txBody>
      </p:sp>
      <p:sp>
        <p:nvSpPr>
          <p:cNvPr id="8" name="TextBox 7"/>
          <p:cNvSpPr txBox="1"/>
          <p:nvPr/>
        </p:nvSpPr>
        <p:spPr>
          <a:xfrm>
            <a:off x="365760" y="1627632"/>
            <a:ext cx="2560320" cy="694944"/>
          </a:xfrm>
          <a:prstGeom prst="rect">
            <a:avLst/>
          </a:prstGeom>
          <a:noFill/>
        </p:spPr>
        <p:txBody>
          <a:bodyPr wrap="square">
            <a:spAutoFit/>
          </a:bodyPr>
          <a:lstStyle/>
          <a:p>
            <a:pPr algn="l"/>
            <a:r>
              <a:rPr sz="1200" b="0" i="0">
                <a:solidFill>
                  <a:srgbClr val="1A1A2E"/>
                </a:solidFill>
                <a:latin typeface="Times New Roman"/>
              </a:rPr>
              <a:t>  •  Each module tested independently</a:t>
            </a:r>
          </a:p>
        </p:txBody>
      </p:sp>
      <p:sp>
        <p:nvSpPr>
          <p:cNvPr id="9" name="TextBox 8"/>
          <p:cNvSpPr txBox="1"/>
          <p:nvPr/>
        </p:nvSpPr>
        <p:spPr>
          <a:xfrm>
            <a:off x="365760" y="2377440"/>
            <a:ext cx="2560320" cy="694944"/>
          </a:xfrm>
          <a:prstGeom prst="rect">
            <a:avLst/>
          </a:prstGeom>
          <a:noFill/>
        </p:spPr>
        <p:txBody>
          <a:bodyPr wrap="square">
            <a:spAutoFit/>
          </a:bodyPr>
          <a:lstStyle/>
          <a:p>
            <a:pPr algn="l"/>
            <a:r>
              <a:rPr sz="1200" b="0" i="0">
                <a:solidFill>
                  <a:srgbClr val="1A1A2E"/>
                </a:solidFill>
                <a:latin typeface="Times New Roman"/>
              </a:rPr>
              <a:t>  •  dataset_loader.py: GMM synthesis verified</a:t>
            </a:r>
          </a:p>
        </p:txBody>
      </p:sp>
      <p:sp>
        <p:nvSpPr>
          <p:cNvPr id="10" name="TextBox 9"/>
          <p:cNvSpPr txBox="1"/>
          <p:nvPr/>
        </p:nvSpPr>
        <p:spPr>
          <a:xfrm>
            <a:off x="365760" y="3127248"/>
            <a:ext cx="2560320" cy="694944"/>
          </a:xfrm>
          <a:prstGeom prst="rect">
            <a:avLst/>
          </a:prstGeom>
          <a:noFill/>
        </p:spPr>
        <p:txBody>
          <a:bodyPr wrap="square">
            <a:spAutoFit/>
          </a:bodyPr>
          <a:lstStyle/>
          <a:p>
            <a:pPr algn="l"/>
            <a:r>
              <a:rPr sz="1200" b="0" i="0">
                <a:solidFill>
                  <a:srgbClr val="1A1A2E"/>
                </a:solidFill>
                <a:latin typeface="Times New Roman"/>
              </a:rPr>
              <a:t>  •  preprocessor.py: SMOTE ratio confirmed</a:t>
            </a:r>
          </a:p>
        </p:txBody>
      </p:sp>
      <p:sp>
        <p:nvSpPr>
          <p:cNvPr id="11" name="TextBox 10"/>
          <p:cNvSpPr txBox="1"/>
          <p:nvPr/>
        </p:nvSpPr>
        <p:spPr>
          <a:xfrm>
            <a:off x="365760" y="3877056"/>
            <a:ext cx="2560320" cy="694944"/>
          </a:xfrm>
          <a:prstGeom prst="rect">
            <a:avLst/>
          </a:prstGeom>
          <a:noFill/>
        </p:spPr>
        <p:txBody>
          <a:bodyPr wrap="square">
            <a:spAutoFit/>
          </a:bodyPr>
          <a:lstStyle/>
          <a:p>
            <a:pPr algn="l"/>
            <a:r>
              <a:rPr sz="1200" b="0" i="0">
                <a:solidFill>
                  <a:srgbClr val="1A1A2E"/>
                </a:solidFill>
                <a:latin typeface="Times New Roman"/>
              </a:rPr>
              <a:t>  •  metrics.py: formula cross-checked</a:t>
            </a:r>
          </a:p>
        </p:txBody>
      </p:sp>
      <p:sp>
        <p:nvSpPr>
          <p:cNvPr id="12" name="Rectangle 11"/>
          <p:cNvSpPr/>
          <p:nvPr/>
        </p:nvSpPr>
        <p:spPr>
          <a:xfrm>
            <a:off x="3200400" y="1097280"/>
            <a:ext cx="27432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0" y="1097280"/>
            <a:ext cx="274320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91840" y="1124712"/>
            <a:ext cx="2560320" cy="365760"/>
          </a:xfrm>
          <a:prstGeom prst="rect">
            <a:avLst/>
          </a:prstGeom>
          <a:noFill/>
        </p:spPr>
        <p:txBody>
          <a:bodyPr wrap="square">
            <a:spAutoFit/>
          </a:bodyPr>
          <a:lstStyle/>
          <a:p>
            <a:pPr algn="ctr"/>
            <a:r>
              <a:rPr sz="1300" b="1" i="0">
                <a:solidFill>
                  <a:srgbClr val="FFFFFF"/>
                </a:solidFill>
                <a:latin typeface="Times New Roman"/>
              </a:rPr>
              <a:t>Integration Testing</a:t>
            </a:r>
          </a:p>
        </p:txBody>
      </p:sp>
      <p:sp>
        <p:nvSpPr>
          <p:cNvPr id="15" name="TextBox 14"/>
          <p:cNvSpPr txBox="1"/>
          <p:nvPr/>
        </p:nvSpPr>
        <p:spPr>
          <a:xfrm>
            <a:off x="3291840" y="1627632"/>
            <a:ext cx="2560320" cy="694944"/>
          </a:xfrm>
          <a:prstGeom prst="rect">
            <a:avLst/>
          </a:prstGeom>
          <a:noFill/>
        </p:spPr>
        <p:txBody>
          <a:bodyPr wrap="square">
            <a:spAutoFit/>
          </a:bodyPr>
          <a:lstStyle/>
          <a:p>
            <a:pPr algn="l"/>
            <a:r>
              <a:rPr sz="1200" b="0" i="0">
                <a:solidFill>
                  <a:srgbClr val="1A1A2E"/>
                </a:solidFill>
                <a:latin typeface="Times New Roman"/>
              </a:rPr>
              <a:t>  •  End-to-end pipeline executed on CRD.csv</a:t>
            </a:r>
          </a:p>
        </p:txBody>
      </p:sp>
      <p:sp>
        <p:nvSpPr>
          <p:cNvPr id="16" name="TextBox 15"/>
          <p:cNvSpPr txBox="1"/>
          <p:nvPr/>
        </p:nvSpPr>
        <p:spPr>
          <a:xfrm>
            <a:off x="3291840" y="2377440"/>
            <a:ext cx="2560320" cy="694944"/>
          </a:xfrm>
          <a:prstGeom prst="rect">
            <a:avLst/>
          </a:prstGeom>
          <a:noFill/>
        </p:spPr>
        <p:txBody>
          <a:bodyPr wrap="square">
            <a:spAutoFit/>
          </a:bodyPr>
          <a:lstStyle/>
          <a:p>
            <a:pPr algn="l"/>
            <a:r>
              <a:rPr sz="1200" b="0" i="0">
                <a:solidFill>
                  <a:srgbClr val="1A1A2E"/>
                </a:solidFill>
                <a:latin typeface="Times New Roman"/>
              </a:rPr>
              <a:t>  •  Feature engineering → Training → Evaluation</a:t>
            </a:r>
          </a:p>
        </p:txBody>
      </p:sp>
      <p:sp>
        <p:nvSpPr>
          <p:cNvPr id="17" name="TextBox 16"/>
          <p:cNvSpPr txBox="1"/>
          <p:nvPr/>
        </p:nvSpPr>
        <p:spPr>
          <a:xfrm>
            <a:off x="3291840" y="3127248"/>
            <a:ext cx="2560320" cy="694944"/>
          </a:xfrm>
          <a:prstGeom prst="rect">
            <a:avLst/>
          </a:prstGeom>
          <a:noFill/>
        </p:spPr>
        <p:txBody>
          <a:bodyPr wrap="square">
            <a:spAutoFit/>
          </a:bodyPr>
          <a:lstStyle/>
          <a:p>
            <a:pPr algn="l"/>
            <a:r>
              <a:rPr sz="1200" b="0" i="0">
                <a:solidFill>
                  <a:srgbClr val="1A1A2E"/>
                </a:solidFill>
                <a:latin typeface="Times New Roman"/>
              </a:rPr>
              <a:t>  •  XAI output files verified (13 PNG + CSV)</a:t>
            </a:r>
          </a:p>
        </p:txBody>
      </p:sp>
      <p:sp>
        <p:nvSpPr>
          <p:cNvPr id="18" name="TextBox 17"/>
          <p:cNvSpPr txBox="1"/>
          <p:nvPr/>
        </p:nvSpPr>
        <p:spPr>
          <a:xfrm>
            <a:off x="3291840" y="3877056"/>
            <a:ext cx="2560320" cy="694944"/>
          </a:xfrm>
          <a:prstGeom prst="rect">
            <a:avLst/>
          </a:prstGeom>
          <a:noFill/>
        </p:spPr>
        <p:txBody>
          <a:bodyPr wrap="square">
            <a:spAutoFit/>
          </a:bodyPr>
          <a:lstStyle/>
          <a:p>
            <a:pPr algn="l"/>
            <a:r>
              <a:rPr sz="1200" b="0" i="0">
                <a:solidFill>
                  <a:srgbClr val="1A1A2E"/>
                </a:solidFill>
                <a:latin typeface="Times New Roman"/>
              </a:rPr>
              <a:t>  •  CLI modes tested: --quick, --predict, --csv</a:t>
            </a:r>
          </a:p>
        </p:txBody>
      </p:sp>
      <p:sp>
        <p:nvSpPr>
          <p:cNvPr id="19" name="Rectangle 18"/>
          <p:cNvSpPr/>
          <p:nvPr/>
        </p:nvSpPr>
        <p:spPr>
          <a:xfrm>
            <a:off x="6126480" y="1097280"/>
            <a:ext cx="27432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26480" y="1097280"/>
            <a:ext cx="2743200" cy="457200"/>
          </a:xfrm>
          <a:prstGeom prst="rect">
            <a:avLst/>
          </a:prstGeom>
          <a:solidFill>
            <a:srgbClr val="156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1124712"/>
            <a:ext cx="2560320" cy="365760"/>
          </a:xfrm>
          <a:prstGeom prst="rect">
            <a:avLst/>
          </a:prstGeom>
          <a:noFill/>
        </p:spPr>
        <p:txBody>
          <a:bodyPr wrap="square">
            <a:spAutoFit/>
          </a:bodyPr>
          <a:lstStyle/>
          <a:p>
            <a:pPr algn="ctr"/>
            <a:r>
              <a:rPr sz="1300" b="1" i="0">
                <a:solidFill>
                  <a:srgbClr val="FFFFFF"/>
                </a:solidFill>
                <a:latin typeface="Times New Roman"/>
              </a:rPr>
              <a:t>Model Validation</a:t>
            </a:r>
          </a:p>
        </p:txBody>
      </p:sp>
      <p:sp>
        <p:nvSpPr>
          <p:cNvPr id="22" name="TextBox 21"/>
          <p:cNvSpPr txBox="1"/>
          <p:nvPr/>
        </p:nvSpPr>
        <p:spPr>
          <a:xfrm>
            <a:off x="6217920" y="1627632"/>
            <a:ext cx="2560320" cy="694944"/>
          </a:xfrm>
          <a:prstGeom prst="rect">
            <a:avLst/>
          </a:prstGeom>
          <a:noFill/>
        </p:spPr>
        <p:txBody>
          <a:bodyPr wrap="square">
            <a:spAutoFit/>
          </a:bodyPr>
          <a:lstStyle/>
          <a:p>
            <a:pPr algn="l"/>
            <a:r>
              <a:rPr sz="1200" b="0" i="0">
                <a:solidFill>
                  <a:srgbClr val="1A1A2E"/>
                </a:solidFill>
                <a:latin typeface="Times New Roman"/>
              </a:rPr>
              <a:t>  •  Stratified 5-Fold Cross-Validation</a:t>
            </a:r>
          </a:p>
        </p:txBody>
      </p:sp>
      <p:sp>
        <p:nvSpPr>
          <p:cNvPr id="23" name="TextBox 22"/>
          <p:cNvSpPr txBox="1"/>
          <p:nvPr/>
        </p:nvSpPr>
        <p:spPr>
          <a:xfrm>
            <a:off x="6217920" y="2377440"/>
            <a:ext cx="2560320" cy="694944"/>
          </a:xfrm>
          <a:prstGeom prst="rect">
            <a:avLst/>
          </a:prstGeom>
          <a:noFill/>
        </p:spPr>
        <p:txBody>
          <a:bodyPr wrap="square">
            <a:spAutoFit/>
          </a:bodyPr>
          <a:lstStyle/>
          <a:p>
            <a:pPr algn="l"/>
            <a:r>
              <a:rPr sz="1200" b="0" i="0">
                <a:solidFill>
                  <a:srgbClr val="1A1A2E"/>
                </a:solidFill>
                <a:latin typeface="Times New Roman"/>
              </a:rPr>
              <a:t>  •  Train/test split: 80% / 20%</a:t>
            </a:r>
          </a:p>
        </p:txBody>
      </p:sp>
      <p:sp>
        <p:nvSpPr>
          <p:cNvPr id="24" name="TextBox 23"/>
          <p:cNvSpPr txBox="1"/>
          <p:nvPr/>
        </p:nvSpPr>
        <p:spPr>
          <a:xfrm>
            <a:off x="6217920" y="3127248"/>
            <a:ext cx="2560320" cy="694944"/>
          </a:xfrm>
          <a:prstGeom prst="rect">
            <a:avLst/>
          </a:prstGeom>
          <a:noFill/>
        </p:spPr>
        <p:txBody>
          <a:bodyPr wrap="square">
            <a:spAutoFit/>
          </a:bodyPr>
          <a:lstStyle/>
          <a:p>
            <a:pPr algn="l"/>
            <a:r>
              <a:rPr sz="1200" b="0" i="0">
                <a:solidFill>
                  <a:srgbClr val="1A1A2E"/>
                </a:solidFill>
                <a:latin typeface="Times New Roman"/>
              </a:rPr>
              <a:t>  •  SMOTE applied only on training folds</a:t>
            </a:r>
          </a:p>
        </p:txBody>
      </p:sp>
      <p:sp>
        <p:nvSpPr>
          <p:cNvPr id="25" name="TextBox 24"/>
          <p:cNvSpPr txBox="1"/>
          <p:nvPr/>
        </p:nvSpPr>
        <p:spPr>
          <a:xfrm>
            <a:off x="6217920" y="3877056"/>
            <a:ext cx="2560320" cy="694944"/>
          </a:xfrm>
          <a:prstGeom prst="rect">
            <a:avLst/>
          </a:prstGeom>
          <a:noFill/>
        </p:spPr>
        <p:txBody>
          <a:bodyPr wrap="square">
            <a:spAutoFit/>
          </a:bodyPr>
          <a:lstStyle/>
          <a:p>
            <a:pPr algn="l"/>
            <a:r>
              <a:rPr sz="1200" b="0" i="0">
                <a:solidFill>
                  <a:srgbClr val="1A1A2E"/>
                </a:solidFill>
                <a:latin typeface="Times New Roman"/>
              </a:rPr>
              <a:t>  •  ECE confirms calibration quality</a:t>
            </a:r>
          </a:p>
        </p:txBody>
      </p:sp>
      <p:sp>
        <p:nvSpPr>
          <p:cNvPr id="26" name="Rectangle 25"/>
          <p:cNvSpPr/>
          <p:nvPr/>
        </p:nvSpPr>
        <p:spPr>
          <a:xfrm>
            <a:off x="9052560" y="1097280"/>
            <a:ext cx="27432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52560" y="1097280"/>
            <a:ext cx="2743200" cy="457200"/>
          </a:xfrm>
          <a:prstGeom prst="rect">
            <a:avLst/>
          </a:prstGeom>
          <a:solidFill>
            <a:srgbClr val="27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0" y="1124712"/>
            <a:ext cx="2560320" cy="365760"/>
          </a:xfrm>
          <a:prstGeom prst="rect">
            <a:avLst/>
          </a:prstGeom>
          <a:noFill/>
        </p:spPr>
        <p:txBody>
          <a:bodyPr wrap="square">
            <a:spAutoFit/>
          </a:bodyPr>
          <a:lstStyle/>
          <a:p>
            <a:pPr algn="ctr"/>
            <a:r>
              <a:rPr sz="1300" b="1" i="0">
                <a:solidFill>
                  <a:srgbClr val="FFFFFF"/>
                </a:solidFill>
                <a:latin typeface="Times New Roman"/>
              </a:rPr>
              <a:t>Performance Testing</a:t>
            </a:r>
          </a:p>
        </p:txBody>
      </p:sp>
      <p:sp>
        <p:nvSpPr>
          <p:cNvPr id="29" name="TextBox 28"/>
          <p:cNvSpPr txBox="1"/>
          <p:nvPr/>
        </p:nvSpPr>
        <p:spPr>
          <a:xfrm>
            <a:off x="9144000" y="1627632"/>
            <a:ext cx="2560320" cy="694944"/>
          </a:xfrm>
          <a:prstGeom prst="rect">
            <a:avLst/>
          </a:prstGeom>
          <a:noFill/>
        </p:spPr>
        <p:txBody>
          <a:bodyPr wrap="square">
            <a:spAutoFit/>
          </a:bodyPr>
          <a:lstStyle/>
          <a:p>
            <a:pPr algn="l"/>
            <a:r>
              <a:rPr sz="1200" b="0" i="0">
                <a:solidFill>
                  <a:srgbClr val="1A1A2E"/>
                </a:solidFill>
                <a:latin typeface="Times New Roman"/>
              </a:rPr>
              <a:t>  •  Inference latency measured per model</a:t>
            </a:r>
          </a:p>
        </p:txBody>
      </p:sp>
      <p:sp>
        <p:nvSpPr>
          <p:cNvPr id="30" name="TextBox 29"/>
          <p:cNvSpPr txBox="1"/>
          <p:nvPr/>
        </p:nvSpPr>
        <p:spPr>
          <a:xfrm>
            <a:off x="9144000" y="2377440"/>
            <a:ext cx="2560320" cy="694944"/>
          </a:xfrm>
          <a:prstGeom prst="rect">
            <a:avLst/>
          </a:prstGeom>
          <a:noFill/>
        </p:spPr>
        <p:txBody>
          <a:bodyPr wrap="square">
            <a:spAutoFit/>
          </a:bodyPr>
          <a:lstStyle/>
          <a:p>
            <a:pPr algn="l"/>
            <a:r>
              <a:rPr sz="1200" b="0" i="0">
                <a:solidFill>
                  <a:srgbClr val="1A1A2E"/>
                </a:solidFill>
                <a:latin typeface="Times New Roman"/>
              </a:rPr>
              <a:t>  •  LightGBM: 0.87 ms</a:t>
            </a:r>
          </a:p>
        </p:txBody>
      </p:sp>
      <p:sp>
        <p:nvSpPr>
          <p:cNvPr id="31" name="TextBox 30"/>
          <p:cNvSpPr txBox="1"/>
          <p:nvPr/>
        </p:nvSpPr>
        <p:spPr>
          <a:xfrm>
            <a:off x="9144000" y="3127248"/>
            <a:ext cx="2560320" cy="694944"/>
          </a:xfrm>
          <a:prstGeom prst="rect">
            <a:avLst/>
          </a:prstGeom>
          <a:noFill/>
        </p:spPr>
        <p:txBody>
          <a:bodyPr wrap="square">
            <a:spAutoFit/>
          </a:bodyPr>
          <a:lstStyle/>
          <a:p>
            <a:pPr algn="l"/>
            <a:r>
              <a:rPr sz="1200" b="0" i="0">
                <a:solidFill>
                  <a:srgbClr val="1A1A2E"/>
                </a:solidFill>
                <a:latin typeface="Times New Roman"/>
              </a:rPr>
              <a:t>  •  RF: 28.6 ms</a:t>
            </a:r>
          </a:p>
        </p:txBody>
      </p:sp>
      <p:sp>
        <p:nvSpPr>
          <p:cNvPr id="32" name="TextBox 31"/>
          <p:cNvSpPr txBox="1"/>
          <p:nvPr/>
        </p:nvSpPr>
        <p:spPr>
          <a:xfrm>
            <a:off x="9144000" y="3877056"/>
            <a:ext cx="2560320" cy="694944"/>
          </a:xfrm>
          <a:prstGeom prst="rect">
            <a:avLst/>
          </a:prstGeom>
          <a:noFill/>
        </p:spPr>
        <p:txBody>
          <a:bodyPr wrap="square">
            <a:spAutoFit/>
          </a:bodyPr>
          <a:lstStyle/>
          <a:p>
            <a:pPr algn="l"/>
            <a:r>
              <a:rPr sz="1200" b="0" i="0">
                <a:solidFill>
                  <a:srgbClr val="1A1A2E"/>
                </a:solidFill>
                <a:latin typeface="Times New Roman"/>
              </a:rPr>
              <a:t>  •  Ensemble: 56.4s training, fast inference</a:t>
            </a:r>
          </a:p>
        </p:txBody>
      </p:sp>
      <p:sp>
        <p:nvSpPr>
          <p:cNvPr id="33" name="TextBox 32"/>
          <p:cNvSpPr txBox="1"/>
          <p:nvPr/>
        </p:nvSpPr>
        <p:spPr>
          <a:xfrm>
            <a:off x="365760" y="6263640"/>
            <a:ext cx="11430000" cy="457200"/>
          </a:xfrm>
          <a:prstGeom prst="rect">
            <a:avLst/>
          </a:prstGeom>
          <a:noFill/>
        </p:spPr>
        <p:txBody>
          <a:bodyPr wrap="square">
            <a:spAutoFit/>
          </a:bodyPr>
          <a:lstStyle/>
          <a:p>
            <a:pPr algn="ctr"/>
            <a:r>
              <a:rPr sz="1200" b="0" i="1">
                <a:solidFill>
                  <a:srgbClr val="277A3A"/>
                </a:solidFill>
                <a:latin typeface="Times New Roman"/>
              </a:rPr>
              <a:t>All 13 output plots and 5 CSV reports generated successfully. Total pipeline execution: 206.9 seconds on standard academic hardware.</a:t>
            </a:r>
          </a:p>
        </p:txBody>
      </p:sp>
      <p:sp>
        <p:nvSpPr>
          <p:cNvPr id="34" name="TextBox 33"/>
          <p:cNvSpPr txBox="1"/>
          <p:nvPr/>
        </p:nvSpPr>
        <p:spPr>
          <a:xfrm>
            <a:off x="182880" y="6583680"/>
            <a:ext cx="11795760" cy="256032"/>
          </a:xfrm>
          <a:prstGeom prst="rect">
            <a:avLst/>
          </a:prstGeom>
          <a:noFill/>
        </p:spPr>
        <p:txBody>
          <a:bodyPr wrap="square">
            <a:spAutoFit/>
          </a:bodyPr>
          <a:lstStyle/>
          <a:p>
            <a:pPr algn="ctr"/>
            <a:r>
              <a:rPr sz="800" b="0" i="0">
                <a:solidFill>
                  <a:srgbClr val="808080"/>
                </a:solidFill>
                <a:latin typeface="Times New Roman"/>
              </a:rPr>
              <a:t>Advanced Crop Recommendation System (ACRS)  |  TIT Agartala  |  M.Tech CSE 2026   |  Slide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Future Scope &amp; Conclusion</a:t>
            </a:r>
          </a:p>
        </p:txBody>
      </p:sp>
      <p:sp>
        <p:nvSpPr>
          <p:cNvPr id="5" name="TextBox 4"/>
          <p:cNvSpPr txBox="1"/>
          <p:nvPr/>
        </p:nvSpPr>
        <p:spPr>
          <a:xfrm>
            <a:off x="365760" y="1097280"/>
            <a:ext cx="5486400" cy="365760"/>
          </a:xfrm>
          <a:prstGeom prst="rect">
            <a:avLst/>
          </a:prstGeom>
          <a:noFill/>
        </p:spPr>
        <p:txBody>
          <a:bodyPr wrap="square">
            <a:spAutoFit/>
          </a:bodyPr>
          <a:lstStyle/>
          <a:p>
            <a:pPr algn="l"/>
            <a:r>
              <a:rPr sz="1700" b="1" i="0">
                <a:solidFill>
                  <a:srgbClr val="277A3A"/>
                </a:solidFill>
                <a:latin typeface="Times New Roman"/>
              </a:rPr>
              <a:t>Future Scope</a:t>
            </a:r>
          </a:p>
        </p:txBody>
      </p:sp>
      <p:sp>
        <p:nvSpPr>
          <p:cNvPr id="6" name="TextBox 5"/>
          <p:cNvSpPr txBox="1"/>
          <p:nvPr/>
        </p:nvSpPr>
        <p:spPr>
          <a:xfrm>
            <a:off x="457200" y="1508760"/>
            <a:ext cx="5486400" cy="4663440"/>
          </a:xfrm>
          <a:prstGeom prst="rect">
            <a:avLst/>
          </a:prstGeom>
          <a:noFill/>
        </p:spPr>
        <p:txBody>
          <a:bodyPr wrap="square">
            <a:spAutoFit/>
          </a:bodyPr>
          <a:lstStyle/>
          <a:p>
            <a:r>
              <a:rPr sz="1300">
                <a:solidFill>
                  <a:srgbClr val="1A1A2E"/>
                </a:solidFill>
                <a:latin typeface="Times New Roman"/>
              </a:rPr>
              <a:t>  •  Integrate real-time IoT sensors and satellite imagery</a:t>
            </a:r>
          </a:p>
          <a:p>
            <a:r>
              <a:rPr sz="1300">
                <a:solidFill>
                  <a:srgbClr val="1A1A2E"/>
                </a:solidFill>
                <a:latin typeface="Times New Roman"/>
              </a:rPr>
              <a:t>  •  Add weather forecasting API (OpenWeatherMap) for live predictions</a:t>
            </a:r>
          </a:p>
          <a:p>
            <a:r>
              <a:rPr sz="1300">
                <a:solidFill>
                  <a:srgbClr val="1A1A2E"/>
                </a:solidFill>
                <a:latin typeface="Times New Roman"/>
              </a:rPr>
              <a:t>  •  Deploy as mobile app / web service for farmer accessibility</a:t>
            </a:r>
          </a:p>
          <a:p>
            <a:r>
              <a:rPr sz="1300">
                <a:solidFill>
                  <a:srgbClr val="1A1A2E"/>
                </a:solidFill>
                <a:latin typeface="Times New Roman"/>
              </a:rPr>
              <a:t>  •  Extend to 50+ crop classes using larger datasets</a:t>
            </a:r>
          </a:p>
          <a:p>
            <a:r>
              <a:rPr sz="1300">
                <a:solidFill>
                  <a:srgbClr val="1A1A2E"/>
                </a:solidFill>
                <a:latin typeface="Times New Roman"/>
              </a:rPr>
              <a:t>  •  Apply Graph Neural Networks (GNNs) for soil-region relationships</a:t>
            </a:r>
          </a:p>
          <a:p>
            <a:r>
              <a:rPr sz="1300">
                <a:solidFill>
                  <a:srgbClr val="1A1A2E"/>
                </a:solidFill>
                <a:latin typeface="Times New Roman"/>
              </a:rPr>
              <a:t>  •  Federated learning for privacy-preserving multi-farm training</a:t>
            </a:r>
          </a:p>
          <a:p>
            <a:r>
              <a:rPr sz="1300">
                <a:solidFill>
                  <a:srgbClr val="1A1A2E"/>
                </a:solidFill>
                <a:latin typeface="Times New Roman"/>
              </a:rPr>
              <a:t>  •  DiCE integration with live optimization engine</a:t>
            </a:r>
          </a:p>
          <a:p>
            <a:r>
              <a:rPr sz="1300">
                <a:solidFill>
                  <a:srgbClr val="1A1A2E"/>
                </a:solidFill>
                <a:latin typeface="Times New Roman"/>
              </a:rPr>
              <a:t>  •  Publish to Q1 journals: Computers in Agriculture (Elsevier), IEEE Access</a:t>
            </a:r>
          </a:p>
        </p:txBody>
      </p:sp>
      <p:sp>
        <p:nvSpPr>
          <p:cNvPr id="7" name="Rectangle 6"/>
          <p:cNvSpPr/>
          <p:nvPr/>
        </p:nvSpPr>
        <p:spPr>
          <a:xfrm>
            <a:off x="6126480" y="1097280"/>
            <a:ext cx="5760720" cy="530352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1143000"/>
            <a:ext cx="5577840" cy="411480"/>
          </a:xfrm>
          <a:prstGeom prst="rect">
            <a:avLst/>
          </a:prstGeom>
          <a:noFill/>
        </p:spPr>
        <p:txBody>
          <a:bodyPr wrap="square">
            <a:spAutoFit/>
          </a:bodyPr>
          <a:lstStyle/>
          <a:p>
            <a:pPr algn="ctr"/>
            <a:r>
              <a:rPr sz="1800" b="1" i="0">
                <a:solidFill>
                  <a:srgbClr val="D4AF37"/>
                </a:solidFill>
                <a:latin typeface="Times New Roman"/>
              </a:rPr>
              <a:t>Conclusion</a:t>
            </a:r>
          </a:p>
        </p:txBody>
      </p:sp>
      <p:sp>
        <p:nvSpPr>
          <p:cNvPr id="9" name="Rectangle 8"/>
          <p:cNvSpPr/>
          <p:nvPr/>
        </p:nvSpPr>
        <p:spPr>
          <a:xfrm>
            <a:off x="6217920" y="16642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682496"/>
            <a:ext cx="5212080" cy="548640"/>
          </a:xfrm>
          <a:prstGeom prst="rect">
            <a:avLst/>
          </a:prstGeom>
          <a:noFill/>
        </p:spPr>
        <p:txBody>
          <a:bodyPr wrap="square">
            <a:spAutoFit/>
          </a:bodyPr>
          <a:lstStyle/>
          <a:p>
            <a:pPr algn="l"/>
            <a:r>
              <a:rPr sz="1200" b="0" i="0">
                <a:solidFill>
                  <a:srgbClr val="FFFFFF"/>
                </a:solidFill>
                <a:latin typeface="Times New Roman"/>
              </a:rPr>
              <a:t>  •  ACRS achieved 80.35% ensemble accuracy (MCC=0.74) on 10,000-sample CRD dataset</a:t>
            </a:r>
          </a:p>
        </p:txBody>
      </p:sp>
      <p:sp>
        <p:nvSpPr>
          <p:cNvPr id="11" name="Rectangle 10"/>
          <p:cNvSpPr/>
          <p:nvPr/>
        </p:nvSpPr>
        <p:spPr>
          <a:xfrm>
            <a:off x="6217920" y="23500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368296"/>
            <a:ext cx="5212080" cy="548640"/>
          </a:xfrm>
          <a:prstGeom prst="rect">
            <a:avLst/>
          </a:prstGeom>
          <a:noFill/>
        </p:spPr>
        <p:txBody>
          <a:bodyPr wrap="square">
            <a:spAutoFit/>
          </a:bodyPr>
          <a:lstStyle/>
          <a:p>
            <a:pPr algn="l"/>
            <a:r>
              <a:rPr sz="1200" b="0" i="0">
                <a:solidFill>
                  <a:srgbClr val="FFFFFF"/>
                </a:solidFill>
                <a:latin typeface="Times New Roman"/>
              </a:rPr>
              <a:t>  •  Extended from 7 to 12 features — geographic, biological &amp; economic enrichment</a:t>
            </a:r>
          </a:p>
        </p:txBody>
      </p:sp>
      <p:sp>
        <p:nvSpPr>
          <p:cNvPr id="13" name="Rectangle 12"/>
          <p:cNvSpPr/>
          <p:nvPr/>
        </p:nvSpPr>
        <p:spPr>
          <a:xfrm>
            <a:off x="6217920" y="30358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3054096"/>
            <a:ext cx="5212080" cy="548640"/>
          </a:xfrm>
          <a:prstGeom prst="rect">
            <a:avLst/>
          </a:prstGeom>
          <a:noFill/>
        </p:spPr>
        <p:txBody>
          <a:bodyPr wrap="square">
            <a:spAutoFit/>
          </a:bodyPr>
          <a:lstStyle/>
          <a:p>
            <a:pPr algn="l"/>
            <a:r>
              <a:rPr sz="1200" b="0" i="0">
                <a:solidFill>
                  <a:srgbClr val="FFFFFF"/>
                </a:solidFill>
                <a:latin typeface="Times New Roman"/>
              </a:rPr>
              <a:t>  •  Two-Tier Stacked Ensemble outperforms all 7 individual base classifiers</a:t>
            </a:r>
          </a:p>
        </p:txBody>
      </p:sp>
      <p:sp>
        <p:nvSpPr>
          <p:cNvPr id="15" name="Rectangle 14"/>
          <p:cNvSpPr/>
          <p:nvPr/>
        </p:nvSpPr>
        <p:spPr>
          <a:xfrm>
            <a:off x="6217920" y="37216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3739896"/>
            <a:ext cx="5212080" cy="548640"/>
          </a:xfrm>
          <a:prstGeom prst="rect">
            <a:avLst/>
          </a:prstGeom>
          <a:noFill/>
        </p:spPr>
        <p:txBody>
          <a:bodyPr wrap="square">
            <a:spAutoFit/>
          </a:bodyPr>
          <a:lstStyle/>
          <a:p>
            <a:pPr algn="l"/>
            <a:r>
              <a:rPr sz="1200" b="0" i="0">
                <a:solidFill>
                  <a:srgbClr val="FFFFFF"/>
                </a:solidFill>
                <a:latin typeface="Times New Roman"/>
              </a:rPr>
              <a:t>  •  Triple-Layer XAI (SHAP+LIME+DiCE) provides full model transparency</a:t>
            </a:r>
          </a:p>
        </p:txBody>
      </p:sp>
      <p:sp>
        <p:nvSpPr>
          <p:cNvPr id="17" name="Rectangle 16"/>
          <p:cNvSpPr/>
          <p:nvPr/>
        </p:nvSpPr>
        <p:spPr>
          <a:xfrm>
            <a:off x="6217920" y="44074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4425696"/>
            <a:ext cx="5212080" cy="548640"/>
          </a:xfrm>
          <a:prstGeom prst="rect">
            <a:avLst/>
          </a:prstGeom>
          <a:noFill/>
        </p:spPr>
        <p:txBody>
          <a:bodyPr wrap="square">
            <a:spAutoFit/>
          </a:bodyPr>
          <a:lstStyle/>
          <a:p>
            <a:pPr algn="l"/>
            <a:r>
              <a:rPr sz="1200" b="0" i="0">
                <a:solidFill>
                  <a:srgbClr val="FFFFFF"/>
                </a:solidFill>
                <a:latin typeface="Times New Roman"/>
              </a:rPr>
              <a:t>  •  MC-Dropout delivers calibrated uncertainty for safe farming decisions</a:t>
            </a:r>
          </a:p>
        </p:txBody>
      </p:sp>
      <p:sp>
        <p:nvSpPr>
          <p:cNvPr id="19" name="Rectangle 18"/>
          <p:cNvSpPr/>
          <p:nvPr/>
        </p:nvSpPr>
        <p:spPr>
          <a:xfrm>
            <a:off x="6217920" y="5093208"/>
            <a:ext cx="5394960" cy="594360"/>
          </a:xfrm>
          <a:prstGeom prst="rect">
            <a:avLst/>
          </a:prstGeom>
          <a:solidFill>
            <a:srgbClr val="0D2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5111496"/>
            <a:ext cx="5212080" cy="548640"/>
          </a:xfrm>
          <a:prstGeom prst="rect">
            <a:avLst/>
          </a:prstGeom>
          <a:noFill/>
        </p:spPr>
        <p:txBody>
          <a:bodyPr wrap="square">
            <a:spAutoFit/>
          </a:bodyPr>
          <a:lstStyle/>
          <a:p>
            <a:pPr algn="l"/>
            <a:r>
              <a:rPr sz="1200" b="0" i="0">
                <a:solidFill>
                  <a:srgbClr val="FFFFFF"/>
                </a:solidFill>
                <a:latin typeface="Times New Roman"/>
              </a:rPr>
              <a:t>  •  Modular, reproducible pipeline suitable for academic publication &amp; deployment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11612880" cy="804672"/>
          </a:xfrm>
          <a:prstGeom prst="rect">
            <a:avLst/>
          </a:prstGeom>
          <a:noFill/>
        </p:spPr>
        <p:txBody>
          <a:bodyPr wrap="square">
            <a:spAutoFit/>
          </a:bodyPr>
          <a:lstStyle/>
          <a:p>
            <a:pPr algn="l"/>
            <a:r>
              <a:rPr sz="2800" b="1" i="0">
                <a:solidFill>
                  <a:srgbClr val="FFFFFF"/>
                </a:solidFill>
                <a:latin typeface="Times New Roman"/>
              </a:rPr>
              <a:t>References</a:t>
            </a:r>
          </a:p>
        </p:txBody>
      </p:sp>
      <p:sp>
        <p:nvSpPr>
          <p:cNvPr id="5" name="TextBox 4"/>
          <p:cNvSpPr txBox="1"/>
          <p:nvPr/>
        </p:nvSpPr>
        <p:spPr>
          <a:xfrm>
            <a:off x="365760" y="1097280"/>
            <a:ext cx="11430000" cy="411480"/>
          </a:xfrm>
          <a:prstGeom prst="rect">
            <a:avLst/>
          </a:prstGeom>
          <a:noFill/>
        </p:spPr>
        <p:txBody>
          <a:bodyPr wrap="square">
            <a:spAutoFit/>
          </a:bodyPr>
          <a:lstStyle/>
          <a:p>
            <a:pPr algn="l"/>
            <a:r>
              <a:rPr sz="1100" b="0" i="0">
                <a:solidFill>
                  <a:srgbClr val="1A1A2E"/>
                </a:solidFill>
                <a:latin typeface="Times New Roman"/>
              </a:rPr>
              <a:t>[1] Pudumalar, S. et al. (2017). Crop Recommendation System for Precision Agriculture. IEEE 8th ICACCI.</a:t>
            </a:r>
          </a:p>
        </p:txBody>
      </p:sp>
      <p:sp>
        <p:nvSpPr>
          <p:cNvPr id="6" name="TextBox 5"/>
          <p:cNvSpPr txBox="1"/>
          <p:nvPr/>
        </p:nvSpPr>
        <p:spPr>
          <a:xfrm>
            <a:off x="365760" y="1545336"/>
            <a:ext cx="11430000" cy="411480"/>
          </a:xfrm>
          <a:prstGeom prst="rect">
            <a:avLst/>
          </a:prstGeom>
          <a:noFill/>
        </p:spPr>
        <p:txBody>
          <a:bodyPr wrap="square">
            <a:spAutoFit/>
          </a:bodyPr>
          <a:lstStyle/>
          <a:p>
            <a:pPr algn="l"/>
            <a:r>
              <a:rPr sz="1100" b="0" i="0">
                <a:solidFill>
                  <a:srgbClr val="1A1A2E"/>
                </a:solidFill>
                <a:latin typeface="Times New Roman"/>
              </a:rPr>
              <a:t>[2] Sharma, R. et al. (2021). A CNN-LSTM Hybrid Model for Agricultural Crop Prediction. Computers &amp; Electronics in Agriculture.</a:t>
            </a:r>
          </a:p>
        </p:txBody>
      </p:sp>
      <p:sp>
        <p:nvSpPr>
          <p:cNvPr id="7" name="TextBox 6"/>
          <p:cNvSpPr txBox="1"/>
          <p:nvPr/>
        </p:nvSpPr>
        <p:spPr>
          <a:xfrm>
            <a:off x="365760" y="1993391"/>
            <a:ext cx="11430000" cy="411480"/>
          </a:xfrm>
          <a:prstGeom prst="rect">
            <a:avLst/>
          </a:prstGeom>
          <a:noFill/>
        </p:spPr>
        <p:txBody>
          <a:bodyPr wrap="square">
            <a:spAutoFit/>
          </a:bodyPr>
          <a:lstStyle/>
          <a:p>
            <a:pPr algn="l"/>
            <a:r>
              <a:rPr sz="1100" b="0" i="0" dirty="0">
                <a:solidFill>
                  <a:srgbClr val="1A1A2E"/>
                </a:solidFill>
                <a:latin typeface="Times New Roman"/>
              </a:rPr>
              <a:t>[3] Lundberg, S. &amp; Lee, S.I. (2017). A Unified Approach to Interpreting Model Predictions. </a:t>
            </a:r>
            <a:r>
              <a:rPr sz="1100" b="0" i="0" dirty="0" err="1">
                <a:solidFill>
                  <a:srgbClr val="1A1A2E"/>
                </a:solidFill>
                <a:latin typeface="Times New Roman"/>
              </a:rPr>
              <a:t>NeurIPS</a:t>
            </a:r>
            <a:r>
              <a:rPr sz="1100" b="0" i="0" dirty="0">
                <a:solidFill>
                  <a:srgbClr val="1A1A2E"/>
                </a:solidFill>
                <a:latin typeface="Times New Roman"/>
              </a:rPr>
              <a:t>.</a:t>
            </a:r>
          </a:p>
        </p:txBody>
      </p:sp>
      <p:sp>
        <p:nvSpPr>
          <p:cNvPr id="8" name="TextBox 7"/>
          <p:cNvSpPr txBox="1"/>
          <p:nvPr/>
        </p:nvSpPr>
        <p:spPr>
          <a:xfrm>
            <a:off x="365760" y="2441448"/>
            <a:ext cx="11430000" cy="411480"/>
          </a:xfrm>
          <a:prstGeom prst="rect">
            <a:avLst/>
          </a:prstGeom>
          <a:noFill/>
        </p:spPr>
        <p:txBody>
          <a:bodyPr wrap="square">
            <a:spAutoFit/>
          </a:bodyPr>
          <a:lstStyle/>
          <a:p>
            <a:pPr algn="l"/>
            <a:r>
              <a:rPr sz="1100" b="0" i="0">
                <a:solidFill>
                  <a:srgbClr val="1A1A2E"/>
                </a:solidFill>
                <a:latin typeface="Times New Roman"/>
              </a:rPr>
              <a:t>[4] Ribeiro, M.T. et al. (2016). Why Should I Trust You? Explaining Any Classifier. KDD.</a:t>
            </a:r>
          </a:p>
        </p:txBody>
      </p:sp>
      <p:sp>
        <p:nvSpPr>
          <p:cNvPr id="9" name="TextBox 8"/>
          <p:cNvSpPr txBox="1"/>
          <p:nvPr/>
        </p:nvSpPr>
        <p:spPr>
          <a:xfrm>
            <a:off x="365760" y="2889504"/>
            <a:ext cx="11430000" cy="411480"/>
          </a:xfrm>
          <a:prstGeom prst="rect">
            <a:avLst/>
          </a:prstGeom>
          <a:noFill/>
        </p:spPr>
        <p:txBody>
          <a:bodyPr wrap="square">
            <a:spAutoFit/>
          </a:bodyPr>
          <a:lstStyle/>
          <a:p>
            <a:pPr algn="l"/>
            <a:r>
              <a:rPr sz="1100" b="0" i="0">
                <a:solidFill>
                  <a:srgbClr val="1A1A2E"/>
                </a:solidFill>
                <a:latin typeface="Times New Roman"/>
              </a:rPr>
              <a:t>[5] Mothilal, R.K. et al. (2020). Explaining ML Classifiers through Diverse Counterfactual Explanations. FAT*.</a:t>
            </a:r>
          </a:p>
        </p:txBody>
      </p:sp>
      <p:sp>
        <p:nvSpPr>
          <p:cNvPr id="10" name="TextBox 9"/>
          <p:cNvSpPr txBox="1"/>
          <p:nvPr/>
        </p:nvSpPr>
        <p:spPr>
          <a:xfrm>
            <a:off x="365760" y="3337560"/>
            <a:ext cx="11430000" cy="411480"/>
          </a:xfrm>
          <a:prstGeom prst="rect">
            <a:avLst/>
          </a:prstGeom>
          <a:noFill/>
        </p:spPr>
        <p:txBody>
          <a:bodyPr wrap="square">
            <a:spAutoFit/>
          </a:bodyPr>
          <a:lstStyle/>
          <a:p>
            <a:pPr algn="l"/>
            <a:r>
              <a:rPr sz="1100" b="0" i="0">
                <a:solidFill>
                  <a:srgbClr val="1A1A2E"/>
                </a:solidFill>
                <a:latin typeface="Times New Roman"/>
              </a:rPr>
              <a:t>[6] Chawla, N.V. et al. (2002). SMOTE: Synthetic Minority Over-sampling Technique. JAIR.</a:t>
            </a:r>
          </a:p>
        </p:txBody>
      </p:sp>
      <p:sp>
        <p:nvSpPr>
          <p:cNvPr id="11" name="TextBox 10"/>
          <p:cNvSpPr txBox="1"/>
          <p:nvPr/>
        </p:nvSpPr>
        <p:spPr>
          <a:xfrm>
            <a:off x="365760" y="3785615"/>
            <a:ext cx="11430000" cy="411480"/>
          </a:xfrm>
          <a:prstGeom prst="rect">
            <a:avLst/>
          </a:prstGeom>
          <a:noFill/>
        </p:spPr>
        <p:txBody>
          <a:bodyPr wrap="square">
            <a:spAutoFit/>
          </a:bodyPr>
          <a:lstStyle/>
          <a:p>
            <a:pPr algn="l"/>
            <a:r>
              <a:rPr sz="1100" b="0" i="0">
                <a:solidFill>
                  <a:srgbClr val="1A1A2E"/>
                </a:solidFill>
                <a:latin typeface="Times New Roman"/>
              </a:rPr>
              <a:t>[7] Rustam, F. et al. (2022). Crop Recommendation using XGBoost &amp; SHAP. Applied Sciences.</a:t>
            </a:r>
          </a:p>
        </p:txBody>
      </p:sp>
      <p:sp>
        <p:nvSpPr>
          <p:cNvPr id="12" name="TextBox 11"/>
          <p:cNvSpPr txBox="1"/>
          <p:nvPr/>
        </p:nvSpPr>
        <p:spPr>
          <a:xfrm>
            <a:off x="365760" y="4233672"/>
            <a:ext cx="11430000" cy="411480"/>
          </a:xfrm>
          <a:prstGeom prst="rect">
            <a:avLst/>
          </a:prstGeom>
          <a:noFill/>
        </p:spPr>
        <p:txBody>
          <a:bodyPr wrap="square">
            <a:spAutoFit/>
          </a:bodyPr>
          <a:lstStyle/>
          <a:p>
            <a:pPr algn="l"/>
            <a:r>
              <a:rPr sz="1100" b="0" i="0">
                <a:solidFill>
                  <a:srgbClr val="1A1A2E"/>
                </a:solidFill>
                <a:latin typeface="Times New Roman"/>
              </a:rPr>
              <a:t>[8] Ali, H. et al. (2023). Federated Learning for Privacy-Preserving Agriculture. IEEE IoT Journal.</a:t>
            </a:r>
          </a:p>
        </p:txBody>
      </p:sp>
      <p:sp>
        <p:nvSpPr>
          <p:cNvPr id="13" name="TextBox 12"/>
          <p:cNvSpPr txBox="1"/>
          <p:nvPr/>
        </p:nvSpPr>
        <p:spPr>
          <a:xfrm>
            <a:off x="365760" y="4681728"/>
            <a:ext cx="11430000" cy="411480"/>
          </a:xfrm>
          <a:prstGeom prst="rect">
            <a:avLst/>
          </a:prstGeom>
          <a:noFill/>
        </p:spPr>
        <p:txBody>
          <a:bodyPr wrap="square">
            <a:spAutoFit/>
          </a:bodyPr>
          <a:lstStyle/>
          <a:p>
            <a:pPr algn="l"/>
            <a:r>
              <a:rPr sz="1100" b="0" i="0">
                <a:solidFill>
                  <a:srgbClr val="1A1A2E"/>
                </a:solidFill>
                <a:latin typeface="Times New Roman"/>
              </a:rPr>
              <a:t>[9] Chen, X. et al. (2024). Transformer-based Crop Prediction with LIME Explainability. Precision Agriculture.</a:t>
            </a:r>
          </a:p>
        </p:txBody>
      </p:sp>
      <p:sp>
        <p:nvSpPr>
          <p:cNvPr id="14" name="TextBox 13"/>
          <p:cNvSpPr txBox="1"/>
          <p:nvPr/>
        </p:nvSpPr>
        <p:spPr>
          <a:xfrm>
            <a:off x="365760" y="5129784"/>
            <a:ext cx="11430000" cy="411480"/>
          </a:xfrm>
          <a:prstGeom prst="rect">
            <a:avLst/>
          </a:prstGeom>
          <a:noFill/>
        </p:spPr>
        <p:txBody>
          <a:bodyPr wrap="square">
            <a:spAutoFit/>
          </a:bodyPr>
          <a:lstStyle/>
          <a:p>
            <a:pPr algn="l"/>
            <a:r>
              <a:rPr sz="1100" b="0" i="0">
                <a:solidFill>
                  <a:srgbClr val="1A1A2E"/>
                </a:solidFill>
                <a:latin typeface="Times New Roman"/>
              </a:rPr>
              <a:t>[10] Kaggle. (2021). Crop Recommendation Dataset (CRD). Available at: kaggle.com/datasets.</a:t>
            </a:r>
          </a:p>
        </p:txBody>
      </p:sp>
      <p:sp>
        <p:nvSpPr>
          <p:cNvPr id="15" name="TextBox 14"/>
          <p:cNvSpPr txBox="1"/>
          <p:nvPr/>
        </p:nvSpPr>
        <p:spPr>
          <a:xfrm>
            <a:off x="365760" y="5577840"/>
            <a:ext cx="11430000" cy="411480"/>
          </a:xfrm>
          <a:prstGeom prst="rect">
            <a:avLst/>
          </a:prstGeom>
          <a:noFill/>
        </p:spPr>
        <p:txBody>
          <a:bodyPr wrap="square">
            <a:spAutoFit/>
          </a:bodyPr>
          <a:lstStyle/>
          <a:p>
            <a:pPr algn="l"/>
            <a:r>
              <a:rPr sz="1100" b="0" i="0">
                <a:solidFill>
                  <a:srgbClr val="1A1A2E"/>
                </a:solidFill>
                <a:latin typeface="Times New Roman"/>
              </a:rPr>
              <a:t>[11] Gal, Y. &amp; Ghahramani, Z. (2016). Dropout as a Bayesian Approximation. ICML. (MC-Dropout)</a:t>
            </a:r>
          </a:p>
        </p:txBody>
      </p:sp>
      <p:sp>
        <p:nvSpPr>
          <p:cNvPr id="16" name="TextBox 15"/>
          <p:cNvSpPr txBox="1"/>
          <p:nvPr/>
        </p:nvSpPr>
        <p:spPr>
          <a:xfrm>
            <a:off x="365760" y="6025896"/>
            <a:ext cx="11430000" cy="411480"/>
          </a:xfrm>
          <a:prstGeom prst="rect">
            <a:avLst/>
          </a:prstGeom>
          <a:noFill/>
        </p:spPr>
        <p:txBody>
          <a:bodyPr wrap="square">
            <a:spAutoFit/>
          </a:bodyPr>
          <a:lstStyle/>
          <a:p>
            <a:pPr algn="l"/>
            <a:r>
              <a:rPr sz="1100" b="0" i="0">
                <a:solidFill>
                  <a:srgbClr val="1A1A2E"/>
                </a:solidFill>
                <a:latin typeface="Times New Roman"/>
              </a:rPr>
              <a:t>[12] TIT Agartala, M.Tech Thesis Guidelines, Department of Computer Science,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B5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51760"/>
            <a:ext cx="12188952"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023360"/>
            <a:ext cx="12188952"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0"/>
            <a:ext cx="11247120" cy="1188720"/>
          </a:xfrm>
          <a:prstGeom prst="rect">
            <a:avLst/>
          </a:prstGeom>
          <a:noFill/>
        </p:spPr>
        <p:txBody>
          <a:bodyPr wrap="square">
            <a:spAutoFit/>
          </a:bodyPr>
          <a:lstStyle/>
          <a:p>
            <a:pPr algn="ctr"/>
            <a:r>
              <a:rPr sz="6400" b="1" i="0">
                <a:solidFill>
                  <a:srgbClr val="FFFFFF"/>
                </a:solidFill>
                <a:latin typeface="Times New Roman"/>
              </a:rPr>
              <a:t>THANK YOU</a:t>
            </a:r>
          </a:p>
        </p:txBody>
      </p:sp>
      <p:sp>
        <p:nvSpPr>
          <p:cNvPr id="6" name="TextBox 5"/>
          <p:cNvSpPr txBox="1"/>
          <p:nvPr/>
        </p:nvSpPr>
        <p:spPr>
          <a:xfrm>
            <a:off x="457200" y="2834640"/>
            <a:ext cx="11247120" cy="548640"/>
          </a:xfrm>
          <a:prstGeom prst="rect">
            <a:avLst/>
          </a:prstGeom>
          <a:noFill/>
        </p:spPr>
        <p:txBody>
          <a:bodyPr wrap="square">
            <a:spAutoFit/>
          </a:bodyPr>
          <a:lstStyle/>
          <a:p>
            <a:pPr algn="ctr"/>
            <a:r>
              <a:rPr sz="2000" b="0" i="1" dirty="0">
                <a:solidFill>
                  <a:srgbClr val="D4AF37"/>
                </a:solidFill>
                <a:latin typeface="Times New Roman"/>
              </a:rPr>
              <a:t>Questions &amp; Discussions Welcome</a:t>
            </a:r>
          </a:p>
        </p:txBody>
      </p:sp>
      <p:sp>
        <p:nvSpPr>
          <p:cNvPr id="7" name="TextBox 6"/>
          <p:cNvSpPr txBox="1"/>
          <p:nvPr/>
        </p:nvSpPr>
        <p:spPr>
          <a:xfrm>
            <a:off x="457200" y="4160520"/>
            <a:ext cx="11247120" cy="457200"/>
          </a:xfrm>
          <a:prstGeom prst="rect">
            <a:avLst/>
          </a:prstGeom>
          <a:noFill/>
        </p:spPr>
        <p:txBody>
          <a:bodyPr wrap="square">
            <a:spAutoFit/>
          </a:bodyPr>
          <a:lstStyle/>
          <a:p>
            <a:pPr algn="ctr"/>
            <a:r>
              <a:rPr sz="1600" b="1" i="0">
                <a:solidFill>
                  <a:srgbClr val="FFFFFF"/>
                </a:solidFill>
                <a:latin typeface="Times New Roman"/>
              </a:rPr>
              <a:t>Prathista Biswas  |  Roll No: 256702004</a:t>
            </a:r>
          </a:p>
        </p:txBody>
      </p:sp>
      <p:sp>
        <p:nvSpPr>
          <p:cNvPr id="8" name="TextBox 7"/>
          <p:cNvSpPr txBox="1"/>
          <p:nvPr/>
        </p:nvSpPr>
        <p:spPr>
          <a:xfrm>
            <a:off x="457200" y="4572000"/>
            <a:ext cx="11247120" cy="411480"/>
          </a:xfrm>
          <a:prstGeom prst="rect">
            <a:avLst/>
          </a:prstGeom>
          <a:noFill/>
        </p:spPr>
        <p:txBody>
          <a:bodyPr wrap="square">
            <a:spAutoFit/>
          </a:bodyPr>
          <a:lstStyle/>
          <a:p>
            <a:pPr algn="ctr"/>
            <a:r>
              <a:rPr sz="1400" b="0" i="0">
                <a:solidFill>
                  <a:srgbClr val="AACCAA"/>
                </a:solidFill>
                <a:latin typeface="Times New Roman"/>
              </a:rPr>
              <a:t>M.Tech in Data Science  |  TIT Agartala  |  June 2026</a:t>
            </a:r>
          </a:p>
        </p:txBody>
      </p:sp>
      <p:sp>
        <p:nvSpPr>
          <p:cNvPr id="9" name="TextBox 8"/>
          <p:cNvSpPr txBox="1"/>
          <p:nvPr/>
        </p:nvSpPr>
        <p:spPr>
          <a:xfrm>
            <a:off x="457200" y="5029200"/>
            <a:ext cx="11247120" cy="411480"/>
          </a:xfrm>
          <a:prstGeom prst="rect">
            <a:avLst/>
          </a:prstGeom>
          <a:noFill/>
        </p:spPr>
        <p:txBody>
          <a:bodyPr wrap="square">
            <a:spAutoFit/>
          </a:bodyPr>
          <a:lstStyle/>
          <a:p>
            <a:pPr algn="ctr"/>
            <a:r>
              <a:rPr sz="1300" b="0" i="0">
                <a:solidFill>
                  <a:srgbClr val="99BB99"/>
                </a:solidFill>
                <a:latin typeface="Times New Roman"/>
              </a:rPr>
              <a:t>Supervisor: Dr. Ankur Biswas (HOD, CSE)</a:t>
            </a:r>
          </a:p>
        </p:txBody>
      </p:sp>
      <p:sp>
        <p:nvSpPr>
          <p:cNvPr id="10" name="TextBox 9"/>
          <p:cNvSpPr txBox="1"/>
          <p:nvPr/>
        </p:nvSpPr>
        <p:spPr>
          <a:xfrm>
            <a:off x="457200" y="5623560"/>
            <a:ext cx="11247120" cy="365760"/>
          </a:xfrm>
          <a:prstGeom prst="rect">
            <a:avLst/>
          </a:prstGeom>
          <a:noFill/>
        </p:spPr>
        <p:txBody>
          <a:bodyPr wrap="square">
            <a:spAutoFit/>
          </a:bodyPr>
          <a:lstStyle/>
          <a:p>
            <a:pPr algn="ctr"/>
            <a:r>
              <a:rPr sz="1300" b="0" i="1">
                <a:solidFill>
                  <a:srgbClr val="D4AF37"/>
                </a:solidFill>
                <a:latin typeface="Times New Roman"/>
              </a:rPr>
              <a:t>Advanced Crop Recommendation System (ACRS)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3390</Words>
  <Application>Microsoft Office PowerPoint</Application>
  <PresentationFormat>Custom</PresentationFormat>
  <Paragraphs>567</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ARKNOX</cp:lastModifiedBy>
  <cp:revision>5</cp:revision>
  <dcterms:created xsi:type="dcterms:W3CDTF">2013-01-27T09:14:16Z</dcterms:created>
  <dcterms:modified xsi:type="dcterms:W3CDTF">2026-07-01T20:33:34Z</dcterms:modified>
  <cp:category/>
</cp:coreProperties>
</file>